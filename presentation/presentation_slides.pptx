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72" r:id="rId27"/>
    <p:sldId id="273" r:id="rId28"/>
    <p:sldId id="274" r:id="rId29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1675"/>
  <p:notesSz cx="6858000" cy="9144000"/>
  <p:embeddedFontLst>
    <p:embeddedFont>
      <p:font typeface="Lora SemiBold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8CA3A5-8DC7-4BBC-A8B7-6A6B219AE4DA}">
  <a:tblStyle styleId="{4B8CA3A5-8DC7-4BBC-A8B7-6A6B219AE4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font" Target="fonts/LoraSemiBold-regular.fntdata"/><Relationship Id="rId24" Type="http://schemas.openxmlformats.org/officeDocument/2006/relationships/font" Target="fonts/LoraSemiBold-bold.fntdata"/><Relationship Id="rId25" Type="http://schemas.openxmlformats.org/officeDocument/2006/relationships/font" Target="fonts/LoraSemiBold-italic.fntdata"/><Relationship Id="rId26" Type="http://schemas.openxmlformats.org/officeDocument/2006/relationships/font" Target="fonts/LoraSemiBold-boldItalic.fntdata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B4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9418320" y="4023360"/>
            <a:ext cx="2743200" cy="2834640"/>
          </a:xfrm>
          <a:prstGeom prst="rect">
            <a:avLst/>
          </a:prstGeom>
          <a:solidFill>
            <a:srgbClr val="2630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10607040" y="0"/>
            <a:ext cx="1581912" cy="2286000"/>
          </a:xfrm>
          <a:prstGeom prst="rect">
            <a:avLst/>
          </a:prstGeom>
          <a:solidFill>
            <a:srgbClr val="2630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005840" y="11887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MÉDIAKUTATÁS ·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05840" y="1645920"/>
            <a:ext cx="100584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Médiapolarizáció a</a:t>
            </a:r>
            <a:b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magyar hírportálokon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1005840" y="3657600"/>
            <a:ext cx="1097280" cy="28575"/>
          </a:xfrm>
          <a:prstGeom prst="rect">
            <a:avLst/>
          </a:prstGeom>
          <a:solidFill>
            <a:srgbClr val="D4AF3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005840" y="379476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Hipotézis és módszertan — három hipotézis empirikus tesztje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005840" y="512064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29 686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1005840" y="571500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elemzett címsor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4206240" y="512064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06240" y="571500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hírportál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7406640" y="512064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3 / 3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406640" y="571500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hipotézis tesztelve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Hipotézis és módszertan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Ugyanaz a szereplő — eltérő érzelmi és vizuális kezelés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57200" y="1417320"/>
            <a:ext cx="5577840" cy="21031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731520" y="1874519"/>
            <a:ext cx="51206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és a független hírportálok jelentősen eltérő érzelmi szentimenttel és vizuális súllyal jelenítik meg ugyanazokat a politikai szereplőket.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6309360" y="14173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MÓDSZERTAN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6341375" y="1860350"/>
            <a:ext cx="109800" cy="1101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6565400" y="1801230"/>
            <a:ext cx="5303400" cy="2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Adat:  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címsorok + LLM-alapú szentiment- és entitáselemzés + főoldali vizuális score</a:t>
            </a:r>
            <a:endParaRPr/>
          </a:p>
        </p:txBody>
      </p:sp>
      <p:sp>
        <p:nvSpPr>
          <p:cNvPr id="112" name="Google Shape;112;p14"/>
          <p:cNvSpPr/>
          <p:nvPr/>
        </p:nvSpPr>
        <p:spPr>
          <a:xfrm>
            <a:off x="6341375" y="2259092"/>
            <a:ext cx="109800" cy="1101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6565400" y="2196352"/>
            <a:ext cx="5303400" cy="2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Portálok:  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kormányközeli vs. független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6341375" y="2657834"/>
            <a:ext cx="109800" cy="1101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6565400" y="2591473"/>
            <a:ext cx="5303400" cy="2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Fókusz entitások:  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Magyar Péter és Orbán Viktor</a:t>
            </a:r>
            <a:endParaRPr/>
          </a:p>
        </p:txBody>
      </p:sp>
      <p:sp>
        <p:nvSpPr>
          <p:cNvPr id="116" name="Google Shape;116;p14"/>
          <p:cNvSpPr/>
          <p:nvPr/>
        </p:nvSpPr>
        <p:spPr>
          <a:xfrm>
            <a:off x="6341375" y="3056577"/>
            <a:ext cx="109800" cy="1101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6565400" y="2986594"/>
            <a:ext cx="5303400" cy="2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Normalizálás:  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portálonkénti min–max skálázás (0–1)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6341375" y="3455319"/>
            <a:ext cx="109800" cy="1101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6537975" y="3381716"/>
            <a:ext cx="5303400" cy="2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Statisztika:  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Mann–Whitney U + rank-biszeriális hatásméret</a:t>
            </a:r>
            <a:endParaRPr/>
          </a:p>
        </p:txBody>
      </p:sp>
      <p:sp>
        <p:nvSpPr>
          <p:cNvPr id="120" name="Google Shape;120;p14"/>
          <p:cNvSpPr/>
          <p:nvPr/>
        </p:nvSpPr>
        <p:spPr>
          <a:xfrm>
            <a:off x="457200" y="3794760"/>
            <a:ext cx="3657600" cy="114300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 txBox="1"/>
          <p:nvPr/>
        </p:nvSpPr>
        <p:spPr>
          <a:xfrm>
            <a:off x="640080" y="38862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EREDMÉNY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640080" y="41605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/ 4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640080" y="46177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szignifikáns · p &lt; 0.05</a:t>
            </a:r>
            <a:endParaRPr/>
          </a:p>
        </p:txBody>
      </p:sp>
      <p:sp>
        <p:nvSpPr>
          <p:cNvPr id="124" name="Google Shape;124;p14"/>
          <p:cNvSpPr/>
          <p:nvPr/>
        </p:nvSpPr>
        <p:spPr>
          <a:xfrm>
            <a:off x="4297680" y="3794760"/>
            <a:ext cx="7452300" cy="11430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4"/>
          <p:cNvSpPr txBox="1"/>
          <p:nvPr/>
        </p:nvSpPr>
        <p:spPr>
          <a:xfrm>
            <a:off x="4480560" y="3913632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CÉL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4480560" y="420624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Kimutatni, hogy ugyanazokat a politikai szereplőket eltérő hangnemben és eltérő vizuális súllyal jelenítik meg a két médiablokk portáljai.</a:t>
            </a:r>
            <a:endParaRPr/>
          </a:p>
        </p:txBody>
      </p:sp>
      <p:sp>
        <p:nvSpPr>
          <p:cNvPr id="127" name="Google Shape;127;p14"/>
          <p:cNvSpPr/>
          <p:nvPr/>
        </p:nvSpPr>
        <p:spPr>
          <a:xfrm>
            <a:off x="457200" y="5212080"/>
            <a:ext cx="2057400" cy="50292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91425" spcFirstLastPara="1" rIns="9142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1. Adatgyűjtés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2679192" y="5212080"/>
            <a:ext cx="2057400" cy="50292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91425" spcFirstLastPara="1" rIns="9142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2. LLM-elemzés</a:t>
            </a:r>
            <a:endParaRPr/>
          </a:p>
        </p:txBody>
      </p:sp>
      <p:sp>
        <p:nvSpPr>
          <p:cNvPr id="129" name="Google Shape;129;p14"/>
          <p:cNvSpPr/>
          <p:nvPr/>
        </p:nvSpPr>
        <p:spPr>
          <a:xfrm>
            <a:off x="4828032" y="5212080"/>
            <a:ext cx="2057400" cy="50292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91425" spcFirstLastPara="1" rIns="9142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3. Normalizálás</a:t>
            </a: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6976872" y="5212080"/>
            <a:ext cx="2057400" cy="50292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91425" spcFirstLastPara="1" rIns="9142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b="1" lang="en-US" sz="12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Analízis</a:t>
            </a: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9125712" y="5212080"/>
            <a:ext cx="2057400" cy="502920"/>
          </a:xfrm>
          <a:prstGeom prst="roundRect">
            <a:avLst>
              <a:gd fmla="val 30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91425" spcFirstLastPara="1" rIns="91425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5. Értelmezés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Hipotézis és módszertan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Eloszlások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Szentiment és vizuális prominencia portáltípusonként</a:t>
            </a:r>
            <a:endParaRPr/>
          </a:p>
        </p:txBody>
      </p:sp>
      <p:sp>
        <p:nvSpPr>
          <p:cNvPr id="141" name="Google Shape;141;p15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2.png" id="142" name="Google Shape;14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71600"/>
            <a:ext cx="7132320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5"/>
          <p:cNvSpPr/>
          <p:nvPr/>
        </p:nvSpPr>
        <p:spPr>
          <a:xfrm>
            <a:off x="7955279" y="1371600"/>
            <a:ext cx="3886200" cy="49377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8183879" y="1508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KULCSMEGFIGYELÉSEK</a:t>
            </a:r>
            <a:endParaRPr/>
          </a:p>
        </p:txBody>
      </p:sp>
      <p:sp>
        <p:nvSpPr>
          <p:cNvPr id="145" name="Google Shape;145;p15"/>
          <p:cNvSpPr/>
          <p:nvPr/>
        </p:nvSpPr>
        <p:spPr>
          <a:xfrm>
            <a:off x="8183879" y="1920239"/>
            <a:ext cx="109728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5"/>
          <p:cNvSpPr txBox="1"/>
          <p:nvPr/>
        </p:nvSpPr>
        <p:spPr>
          <a:xfrm>
            <a:off x="8412480" y="1874519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Tükörszerű mintázat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8412480" y="2176272"/>
            <a:ext cx="3337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oldalak Orbánt pozitívabban, Magyar Pétert negatívabban ábrázolják.</a:t>
            </a:r>
            <a:endParaRPr/>
          </a:p>
        </p:txBody>
      </p:sp>
      <p:sp>
        <p:nvSpPr>
          <p:cNvPr id="148" name="Google Shape;148;p15"/>
          <p:cNvSpPr/>
          <p:nvPr/>
        </p:nvSpPr>
        <p:spPr>
          <a:xfrm>
            <a:off x="8183879" y="2971799"/>
            <a:ext cx="109728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 txBox="1"/>
          <p:nvPr/>
        </p:nvSpPr>
        <p:spPr>
          <a:xfrm>
            <a:off x="8412480" y="2926079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Fordított irány</a:t>
            </a:r>
            <a:endParaRPr/>
          </a:p>
        </p:txBody>
      </p:sp>
      <p:sp>
        <p:nvSpPr>
          <p:cNvPr id="150" name="Google Shape;150;p15"/>
          <p:cNvSpPr txBox="1"/>
          <p:nvPr/>
        </p:nvSpPr>
        <p:spPr>
          <a:xfrm>
            <a:off x="8412480" y="3227832"/>
            <a:ext cx="3337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független oldalaknál ennek az ellentéte látszik.</a:t>
            </a:r>
            <a:endParaRPr/>
          </a:p>
        </p:txBody>
      </p:sp>
      <p:sp>
        <p:nvSpPr>
          <p:cNvPr id="151" name="Google Shape;151;p15"/>
          <p:cNvSpPr/>
          <p:nvPr/>
        </p:nvSpPr>
        <p:spPr>
          <a:xfrm>
            <a:off x="8183879" y="4023359"/>
            <a:ext cx="109728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8412480" y="3977639"/>
            <a:ext cx="3337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prominencia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8412480" y="4279392"/>
            <a:ext cx="3337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szereplőnél magasabb a kormányközeli portálokon.</a:t>
            </a:r>
            <a:endParaRPr/>
          </a:p>
        </p:txBody>
      </p:sp>
      <p:sp>
        <p:nvSpPr>
          <p:cNvPr id="154" name="Google Shape;154;p15"/>
          <p:cNvSpPr/>
          <p:nvPr/>
        </p:nvSpPr>
        <p:spPr>
          <a:xfrm>
            <a:off x="8183879" y="5852160"/>
            <a:ext cx="228600" cy="228600"/>
          </a:xfrm>
          <a:prstGeom prst="rect">
            <a:avLst/>
          </a:prstGeom>
          <a:solidFill>
            <a:srgbClr val="C754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 txBox="1"/>
          <p:nvPr/>
        </p:nvSpPr>
        <p:spPr>
          <a:xfrm>
            <a:off x="8458200" y="583387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/>
          </a:p>
        </p:txBody>
      </p:sp>
      <p:sp>
        <p:nvSpPr>
          <p:cNvPr id="156" name="Google Shape;156;p15"/>
          <p:cNvSpPr/>
          <p:nvPr/>
        </p:nvSpPr>
        <p:spPr>
          <a:xfrm>
            <a:off x="9966959" y="5852160"/>
            <a:ext cx="228600" cy="228600"/>
          </a:xfrm>
          <a:prstGeom prst="rect">
            <a:avLst/>
          </a:prstGeom>
          <a:solidFill>
            <a:srgbClr val="4A89C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10241280" y="5833872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Eloszlások (hegedűdiagram, n=4 107)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Átlagok és különbségek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= kormányközeli átlag − független átlag</a:t>
            </a:r>
            <a:endParaRPr/>
          </a:p>
        </p:txBody>
      </p:sp>
      <p:sp>
        <p:nvSpPr>
          <p:cNvPr id="167" name="Google Shape;167;p16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3.png" id="168" name="Google Shape;1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17320"/>
            <a:ext cx="7680960" cy="310896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6"/>
          <p:cNvSpPr/>
          <p:nvPr/>
        </p:nvSpPr>
        <p:spPr>
          <a:xfrm>
            <a:off x="8321040" y="1417320"/>
            <a:ext cx="3520440" cy="31089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8503920" y="1554480"/>
            <a:ext cx="3246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/>
          </a:p>
        </p:txBody>
      </p:sp>
      <p:sp>
        <p:nvSpPr>
          <p:cNvPr id="171" name="Google Shape;171;p16"/>
          <p:cNvSpPr/>
          <p:nvPr/>
        </p:nvSpPr>
        <p:spPr>
          <a:xfrm>
            <a:off x="8549640" y="196596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 txBox="1"/>
          <p:nvPr/>
        </p:nvSpPr>
        <p:spPr>
          <a:xfrm>
            <a:off x="8732520" y="18562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Szentiment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8732520" y="210312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ellentétes előjelű Δ-k a két szereplőnél.</a:t>
            </a:r>
            <a:endParaRPr/>
          </a:p>
        </p:txBody>
      </p:sp>
      <p:sp>
        <p:nvSpPr>
          <p:cNvPr id="174" name="Google Shape;174;p16"/>
          <p:cNvSpPr/>
          <p:nvPr/>
        </p:nvSpPr>
        <p:spPr>
          <a:xfrm>
            <a:off x="8549640" y="27432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6"/>
          <p:cNvSpPr txBox="1"/>
          <p:nvPr/>
        </p:nvSpPr>
        <p:spPr>
          <a:xfrm>
            <a:off x="8732520" y="263347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prominencia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8732520" y="28803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szereplőnél pozitív Δ.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8549640" y="352044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 txBox="1"/>
          <p:nvPr/>
        </p:nvSpPr>
        <p:spPr>
          <a:xfrm>
            <a:off x="8732520" y="341071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Mintázat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8732520" y="36576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támogatja a polarizáció hipotézisét.</a:t>
            </a:r>
            <a:endParaRPr/>
          </a:p>
        </p:txBody>
      </p:sp>
      <p:sp>
        <p:nvSpPr>
          <p:cNvPr id="180" name="Google Shape;180;p16"/>
          <p:cNvSpPr/>
          <p:nvPr/>
        </p:nvSpPr>
        <p:spPr>
          <a:xfrm>
            <a:off x="457200" y="4754880"/>
            <a:ext cx="11292840" cy="15544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6"/>
          <p:cNvSpPr txBox="1"/>
          <p:nvPr/>
        </p:nvSpPr>
        <p:spPr>
          <a:xfrm>
            <a:off x="548640" y="49377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−0.148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548640" y="56235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b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3280410" y="5029200"/>
            <a:ext cx="9525" cy="100584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3371850" y="49377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+0.191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3371850" y="56235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b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6103620" y="5029200"/>
            <a:ext cx="9525" cy="100584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 txBox="1"/>
          <p:nvPr/>
        </p:nvSpPr>
        <p:spPr>
          <a:xfrm>
            <a:off x="6195059" y="49377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+0.077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195059" y="56235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b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8926830" y="5029200"/>
            <a:ext cx="9525" cy="1005840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9018269" y="49377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+0.089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9018269" y="5623560"/>
            <a:ext cx="2640329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b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Átlagok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· Statisztikai tesztek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Mann–Whitney U teszt és rank-biszeriális hatásméret</a:t>
            </a:r>
            <a:endParaRPr/>
          </a:p>
        </p:txBody>
      </p:sp>
      <p:sp>
        <p:nvSpPr>
          <p:cNvPr id="201" name="Google Shape;201;p17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7"/>
          <p:cNvSpPr txBox="1"/>
          <p:nvPr/>
        </p:nvSpPr>
        <p:spPr>
          <a:xfrm>
            <a:off x="457200" y="137160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Nem-paraméteres teszt, ezért jól illeszkedik a 0–1-re normalizált, ferde eloszlású adatokhoz.  </a:t>
            </a: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 &lt; 0.05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a különbség nem a véletlen műve.  </a:t>
            </a: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a különbség gyakorlati nagysága.</a:t>
            </a:r>
            <a:endParaRPr/>
          </a:p>
        </p:txBody>
      </p:sp>
      <p:graphicFrame>
        <p:nvGraphicFramePr>
          <p:cNvPr id="203" name="Google Shape;203;p17"/>
          <p:cNvGraphicFramePr/>
          <p:nvPr/>
        </p:nvGraphicFramePr>
        <p:xfrm>
          <a:off x="457200" y="2240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{4B8CA3A5-8DC7-4BBC-A8B7-6A6B219AE4DA}</a:tableStyleId>
              </a:tblPr>
              <a:tblGrid>
                <a:gridCol w="1473200"/>
                <a:gridCol w="1767850"/>
                <a:gridCol w="883925"/>
                <a:gridCol w="883925"/>
                <a:gridCol w="883925"/>
                <a:gridCol w="1080350"/>
                <a:gridCol w="982125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Entitás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Mérőszám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Δ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Magyar Péter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Szentiment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0.288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0.436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4A89C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−0.148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+0.456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Magyar Péter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Vizuális prominencia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0.707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+0.077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−0.249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Orbán Viktor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Szentiment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0.557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0.366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+0.191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−0.543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Orbán Viktor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Vizuális prominencia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0.774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0.685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C754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+0.089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−0.276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</a:tbl>
          </a:graphicData>
        </a:graphic>
      </p:graphicFrame>
      <p:sp>
        <p:nvSpPr>
          <p:cNvPr id="204" name="Google Shape;204;p17"/>
          <p:cNvSpPr/>
          <p:nvPr/>
        </p:nvSpPr>
        <p:spPr>
          <a:xfrm>
            <a:off x="8595360" y="2240280"/>
            <a:ext cx="3200400" cy="237744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8778240" y="237744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ÖSSZEFOGLALÓ</a:t>
            </a:r>
            <a:endParaRPr/>
          </a:p>
        </p:txBody>
      </p:sp>
      <p:sp>
        <p:nvSpPr>
          <p:cNvPr id="206" name="Google Shape;206;p17"/>
          <p:cNvSpPr txBox="1"/>
          <p:nvPr/>
        </p:nvSpPr>
        <p:spPr>
          <a:xfrm>
            <a:off x="8778240" y="2697480"/>
            <a:ext cx="292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 / 4</a:t>
            </a:r>
            <a:endParaRPr/>
          </a:p>
        </p:txBody>
      </p:sp>
      <p:sp>
        <p:nvSpPr>
          <p:cNvPr id="207" name="Google Shape;207;p17"/>
          <p:cNvSpPr txBox="1"/>
          <p:nvPr/>
        </p:nvSpPr>
        <p:spPr>
          <a:xfrm>
            <a:off x="8778240" y="34747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szignifikáns</a:t>
            </a:r>
            <a:endParaRPr/>
          </a:p>
        </p:txBody>
      </p:sp>
      <p:sp>
        <p:nvSpPr>
          <p:cNvPr id="208" name="Google Shape;208;p17"/>
          <p:cNvSpPr txBox="1"/>
          <p:nvPr/>
        </p:nvSpPr>
        <p:spPr>
          <a:xfrm>
            <a:off x="8778240" y="388620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Minden vizsgált különbség statisztikailag stabil.</a:t>
            </a:r>
            <a:endParaRPr/>
          </a:p>
        </p:txBody>
      </p:sp>
      <p:sp>
        <p:nvSpPr>
          <p:cNvPr id="209" name="Google Shape;209;p17"/>
          <p:cNvSpPr/>
          <p:nvPr/>
        </p:nvSpPr>
        <p:spPr>
          <a:xfrm>
            <a:off x="457200" y="4800600"/>
            <a:ext cx="11292840" cy="12801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7"/>
          <p:cNvSpPr txBox="1"/>
          <p:nvPr/>
        </p:nvSpPr>
        <p:spPr>
          <a:xfrm>
            <a:off x="685800" y="4937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VERDIKT</a:t>
            </a:r>
            <a:endParaRPr/>
          </a:p>
        </p:txBody>
      </p:sp>
      <p:sp>
        <p:nvSpPr>
          <p:cNvPr id="211" name="Google Shape;211;p17"/>
          <p:cNvSpPr txBox="1"/>
          <p:nvPr/>
        </p:nvSpPr>
        <p:spPr>
          <a:xfrm>
            <a:off x="685800" y="5257800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 a 4 teszt szignifikáns: a különbség nem csak irányában, hanem statisztikailag is stabil.</a:t>
            </a:r>
            <a:endParaRPr/>
          </a:p>
        </p:txBody>
      </p:sp>
      <p:sp>
        <p:nvSpPr>
          <p:cNvPr id="212" name="Google Shape;212;p17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Mann–Whitney U, rank-biszeriális r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H1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H1 Verdikt · Megerősítve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magyar online médiarendszer szisztematikusan és mérhetően polarizált.</a:t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/>
          <p:nvPr/>
        </p:nvSpPr>
        <p:spPr>
          <a:xfrm>
            <a:off x="457200" y="1417320"/>
            <a:ext cx="5577840" cy="2743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 txBox="1"/>
          <p:nvPr/>
        </p:nvSpPr>
        <p:spPr>
          <a:xfrm>
            <a:off x="685800" y="155448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MAGYAR PÉTER</a:t>
            </a:r>
            <a:endParaRPr/>
          </a:p>
        </p:txBody>
      </p:sp>
      <p:sp>
        <p:nvSpPr>
          <p:cNvPr id="224" name="Google Shape;224;p18"/>
          <p:cNvSpPr txBox="1"/>
          <p:nvPr/>
        </p:nvSpPr>
        <p:spPr>
          <a:xfrm>
            <a:off x="685800" y="1874519"/>
            <a:ext cx="52120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Negatívabb szentiment a kormányközeli oldalakon, ugyanakkor nagyobb vizuális hangsúly.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685800" y="288036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−0.148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685800" y="33375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3291840" y="288036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+0.077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685800" y="370332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→ két ellentétes erő ugyanazon szereplőn</a:t>
            </a:r>
            <a:endParaRPr/>
          </a:p>
        </p:txBody>
      </p:sp>
      <p:sp>
        <p:nvSpPr>
          <p:cNvPr id="230" name="Google Shape;230;p18"/>
          <p:cNvSpPr/>
          <p:nvPr/>
        </p:nvSpPr>
        <p:spPr>
          <a:xfrm>
            <a:off x="6172200" y="1417320"/>
            <a:ext cx="5577840" cy="2743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8"/>
          <p:cNvSpPr txBox="1"/>
          <p:nvPr/>
        </p:nvSpPr>
        <p:spPr>
          <a:xfrm>
            <a:off x="6400800" y="155448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ORBÁN VIKTOR</a:t>
            </a:r>
            <a:endParaRPr/>
          </a:p>
        </p:txBody>
      </p:sp>
      <p:sp>
        <p:nvSpPr>
          <p:cNvPr id="232" name="Google Shape;232;p18"/>
          <p:cNvSpPr txBox="1"/>
          <p:nvPr/>
        </p:nvSpPr>
        <p:spPr>
          <a:xfrm>
            <a:off x="6400800" y="1874519"/>
            <a:ext cx="52120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Pozitívabb szentiment a kormányközeli oldalakon, szintén nagyobb vizuális hangsúllyal.</a:t>
            </a:r>
            <a:endParaRPr/>
          </a:p>
        </p:txBody>
      </p:sp>
      <p:sp>
        <p:nvSpPr>
          <p:cNvPr id="233" name="Google Shape;233;p18"/>
          <p:cNvSpPr txBox="1"/>
          <p:nvPr/>
        </p:nvSpPr>
        <p:spPr>
          <a:xfrm>
            <a:off x="6400800" y="288036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+0.191</a:t>
            </a:r>
            <a:endParaRPr/>
          </a:p>
        </p:txBody>
      </p:sp>
      <p:sp>
        <p:nvSpPr>
          <p:cNvPr id="234" name="Google Shape;234;p18"/>
          <p:cNvSpPr txBox="1"/>
          <p:nvPr/>
        </p:nvSpPr>
        <p:spPr>
          <a:xfrm>
            <a:off x="6400800" y="33375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szentiment</a:t>
            </a:r>
            <a:endParaRPr/>
          </a:p>
        </p:txBody>
      </p:sp>
      <p:sp>
        <p:nvSpPr>
          <p:cNvPr id="235" name="Google Shape;235;p18"/>
          <p:cNvSpPr txBox="1"/>
          <p:nvPr/>
        </p:nvSpPr>
        <p:spPr>
          <a:xfrm>
            <a:off x="9006840" y="288036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+0.089</a:t>
            </a:r>
            <a:endParaRPr/>
          </a:p>
        </p:txBody>
      </p:sp>
      <p:sp>
        <p:nvSpPr>
          <p:cNvPr id="236" name="Google Shape;236;p18"/>
          <p:cNvSpPr txBox="1"/>
          <p:nvPr/>
        </p:nvSpPr>
        <p:spPr>
          <a:xfrm>
            <a:off x="9006840" y="33375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 vizuális</a:t>
            </a:r>
            <a:endParaRPr/>
          </a:p>
        </p:txBody>
      </p:sp>
      <p:sp>
        <p:nvSpPr>
          <p:cNvPr id="237" name="Google Shape;237;p18"/>
          <p:cNvSpPr txBox="1"/>
          <p:nvPr/>
        </p:nvSpPr>
        <p:spPr>
          <a:xfrm>
            <a:off x="6400800" y="370332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→ a médiablokk egyszerre emeli és pozitív keretbe helyezi</a:t>
            </a:r>
            <a:endParaRPr/>
          </a:p>
        </p:txBody>
      </p:sp>
      <p:sp>
        <p:nvSpPr>
          <p:cNvPr id="238" name="Google Shape;238;p18"/>
          <p:cNvSpPr/>
          <p:nvPr/>
        </p:nvSpPr>
        <p:spPr>
          <a:xfrm>
            <a:off x="457200" y="4343400"/>
            <a:ext cx="11292840" cy="132588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8"/>
          <p:cNvSpPr txBox="1"/>
          <p:nvPr/>
        </p:nvSpPr>
        <p:spPr>
          <a:xfrm>
            <a:off x="731520" y="448056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SZIMMETRIKUS MINTÁZAT</a:t>
            </a:r>
            <a:endParaRPr/>
          </a:p>
        </p:txBody>
      </p:sp>
      <p:sp>
        <p:nvSpPr>
          <p:cNvPr id="240" name="Google Shape;240;p18"/>
          <p:cNvSpPr txBox="1"/>
          <p:nvPr/>
        </p:nvSpPr>
        <p:spPr>
          <a:xfrm>
            <a:off x="731520" y="4782312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Ugyanaz a médiablokk egyszerre erősíti az egyik és gyengíti a másik szereplő megítélését.</a:t>
            </a:r>
            <a:endParaRPr/>
          </a:p>
        </p:txBody>
      </p:sp>
      <p:sp>
        <p:nvSpPr>
          <p:cNvPr id="241" name="Google Shape;241;p18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Kulcsüzenet: a polarizáció nem csak hangnemben, hanem vizuális kiemelésben is mérhető.</a:t>
            </a:r>
            <a:endParaRPr/>
          </a:p>
        </p:txBody>
      </p:sp>
      <p:sp>
        <p:nvSpPr>
          <p:cNvPr id="242" name="Google Shape;242;p18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H1 · Verdikt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9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Vizuális hangsúly és érzelmi töltet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Hipotézis és módszertan</a:t>
            </a:r>
            <a:endParaRPr/>
          </a:p>
        </p:txBody>
      </p:sp>
      <p:sp>
        <p:nvSpPr>
          <p:cNvPr id="251" name="Google Shape;251;p19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457200" y="1417320"/>
            <a:ext cx="5577840" cy="1828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9"/>
          <p:cNvSpPr txBox="1"/>
          <p:nvPr/>
        </p:nvSpPr>
        <p:spPr>
          <a:xfrm>
            <a:off x="685800" y="155448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685800" y="1874519"/>
            <a:ext cx="5212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negatív érzelmi töltetű szalagcímek átlagosan magasabb fontossági pontszámot kapnak, mint a semleges hírek.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6309360" y="14173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HÁROM LÉPCSŐS VIZSGÁLAT</a:t>
            </a:r>
            <a:endParaRPr/>
          </a:p>
        </p:txBody>
      </p:sp>
      <p:sp>
        <p:nvSpPr>
          <p:cNvPr id="256" name="Google Shape;256;p19"/>
          <p:cNvSpPr/>
          <p:nvPr/>
        </p:nvSpPr>
        <p:spPr>
          <a:xfrm>
            <a:off x="6309360" y="178308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6903720" y="176479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Spearman-rangkorreláció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6903720" y="2029967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együttjár-e a szentiment és a norm_score?</a:t>
            </a:r>
            <a:endParaRPr/>
          </a:p>
        </p:txBody>
      </p:sp>
      <p:sp>
        <p:nvSpPr>
          <p:cNvPr id="259" name="Google Shape;259;p19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6903720" y="245059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Mann–Whitney U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6903720" y="2715768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Negatív / Semleges / Pozitív sávok összevetése.</a:t>
            </a:r>
            <a:endParaRPr/>
          </a:p>
        </p:txBody>
      </p:sp>
      <p:sp>
        <p:nvSpPr>
          <p:cNvPr id="262" name="Google Shape;262;p19"/>
          <p:cNvSpPr/>
          <p:nvPr/>
        </p:nvSpPr>
        <p:spPr>
          <a:xfrm>
            <a:off x="6309360" y="315468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63" name="Google Shape;263;p19"/>
          <p:cNvSpPr txBox="1"/>
          <p:nvPr/>
        </p:nvSpPr>
        <p:spPr>
          <a:xfrm>
            <a:off x="6903720" y="313639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OLS regresszió interakcióval</a:t>
            </a:r>
            <a:endParaRPr/>
          </a:p>
        </p:txBody>
      </p:sp>
      <p:sp>
        <p:nvSpPr>
          <p:cNvPr id="264" name="Google Shape;264;p19"/>
          <p:cNvSpPr txBox="1"/>
          <p:nvPr/>
        </p:nvSpPr>
        <p:spPr>
          <a:xfrm>
            <a:off x="6903720" y="3401568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norm_score ~ sentiment × gov.</a:t>
            </a:r>
            <a:endParaRPr/>
          </a:p>
        </p:txBody>
      </p:sp>
      <p:sp>
        <p:nvSpPr>
          <p:cNvPr id="265" name="Google Shape;265;p19"/>
          <p:cNvSpPr/>
          <p:nvPr/>
        </p:nvSpPr>
        <p:spPr>
          <a:xfrm>
            <a:off x="457200" y="3520440"/>
            <a:ext cx="5577840" cy="201168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9"/>
          <p:cNvSpPr txBox="1"/>
          <p:nvPr/>
        </p:nvSpPr>
        <p:spPr>
          <a:xfrm>
            <a:off x="685800" y="365760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ELŐZETES JELZÉS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685800" y="3977639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ρ = −0.100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685800" y="480060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p &lt; 0.001 · Spearman (teljes minta)</a:t>
            </a:r>
            <a:endParaRPr/>
          </a:p>
        </p:txBody>
      </p:sp>
      <p:sp>
        <p:nvSpPr>
          <p:cNvPr id="269" name="Google Shape;269;p19"/>
          <p:cNvSpPr txBox="1"/>
          <p:nvPr/>
        </p:nvSpPr>
        <p:spPr>
          <a:xfrm>
            <a:off x="685800" y="51206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Negatívabb címek → nagyobb vizuális hangsúly.</a:t>
            </a:r>
            <a:endParaRPr/>
          </a:p>
        </p:txBody>
      </p:sp>
      <p:sp>
        <p:nvSpPr>
          <p:cNvPr id="270" name="Google Shape;270;p19"/>
          <p:cNvSpPr/>
          <p:nvPr/>
        </p:nvSpPr>
        <p:spPr>
          <a:xfrm>
            <a:off x="6309360" y="3931920"/>
            <a:ext cx="5486400" cy="1600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9"/>
          <p:cNvSpPr txBox="1"/>
          <p:nvPr/>
        </p:nvSpPr>
        <p:spPr>
          <a:xfrm>
            <a:off x="6537960" y="40690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MIT VIZSGÁL</a:t>
            </a:r>
            <a:endParaRPr/>
          </a:p>
        </p:txBody>
      </p:sp>
      <p:sp>
        <p:nvSpPr>
          <p:cNvPr id="272" name="Google Shape;272;p19"/>
          <p:cNvSpPr txBox="1"/>
          <p:nvPr/>
        </p:nvSpPr>
        <p:spPr>
          <a:xfrm>
            <a:off x="6537960" y="438912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Összejár-e a szalagcím érzelmi töltete és a főoldali kiemelés mértéke — és ez a két médiablokkban másként működik-e.</a:t>
            </a:r>
            <a:endParaRPr/>
          </a:p>
        </p:txBody>
      </p:sp>
      <p:sp>
        <p:nvSpPr>
          <p:cNvPr id="273" name="Google Shape;273;p19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Hipotézis és módszertan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280" name="Google Shape;280;p20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Mintaeloszlás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281" name="Google Shape;281;p20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Szentiment-sávok megoszlása portáltípusonként</a:t>
            </a:r>
            <a:endParaRPr/>
          </a:p>
        </p:txBody>
      </p:sp>
      <p:sp>
        <p:nvSpPr>
          <p:cNvPr id="282" name="Google Shape;282;p20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7.png" id="283" name="Google Shape;28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17320"/>
            <a:ext cx="7315200" cy="384048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0"/>
          <p:cNvSpPr/>
          <p:nvPr/>
        </p:nvSpPr>
        <p:spPr>
          <a:xfrm>
            <a:off x="7955279" y="1417320"/>
            <a:ext cx="3886200" cy="38404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8183879" y="1554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/>
          </a:p>
        </p:txBody>
      </p:sp>
      <p:sp>
        <p:nvSpPr>
          <p:cNvPr id="286" name="Google Shape;286;p20"/>
          <p:cNvSpPr/>
          <p:nvPr/>
        </p:nvSpPr>
        <p:spPr>
          <a:xfrm>
            <a:off x="8183879" y="1920239"/>
            <a:ext cx="109728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0"/>
          <p:cNvSpPr txBox="1"/>
          <p:nvPr/>
        </p:nvSpPr>
        <p:spPr>
          <a:xfrm>
            <a:off x="8412480" y="1856231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Mindkét oldal negatív-dominált</a:t>
            </a:r>
            <a:endParaRPr/>
          </a:p>
        </p:txBody>
      </p:sp>
      <p:sp>
        <p:nvSpPr>
          <p:cNvPr id="288" name="Google Shape;288;p20"/>
          <p:cNvSpPr txBox="1"/>
          <p:nvPr/>
        </p:nvSpPr>
        <p:spPr>
          <a:xfrm>
            <a:off x="8412480" y="2167127"/>
            <a:ext cx="3337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minta nem kiegyensúlyozott.</a:t>
            </a:r>
            <a:endParaRPr/>
          </a:p>
        </p:txBody>
      </p:sp>
      <p:sp>
        <p:nvSpPr>
          <p:cNvPr id="289" name="Google Shape;289;p20"/>
          <p:cNvSpPr/>
          <p:nvPr/>
        </p:nvSpPr>
        <p:spPr>
          <a:xfrm>
            <a:off x="8183879" y="2971799"/>
            <a:ext cx="109728" cy="82296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0"/>
          <p:cNvSpPr txBox="1"/>
          <p:nvPr/>
        </p:nvSpPr>
        <p:spPr>
          <a:xfrm>
            <a:off x="8412480" y="2907791"/>
            <a:ext cx="3337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Ezért sávokon belül tesztelünk</a:t>
            </a:r>
            <a:endParaRPr/>
          </a:p>
        </p:txBody>
      </p:sp>
      <p:sp>
        <p:nvSpPr>
          <p:cNvPr id="291" name="Google Shape;291;p20"/>
          <p:cNvSpPr txBox="1"/>
          <p:nvPr/>
        </p:nvSpPr>
        <p:spPr>
          <a:xfrm>
            <a:off x="8412480" y="3218687"/>
            <a:ext cx="3337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hogy a kiegyensúlyozatlanság ne torzítson.</a:t>
            </a:r>
            <a:endParaRPr/>
          </a:p>
        </p:txBody>
      </p:sp>
      <p:sp>
        <p:nvSpPr>
          <p:cNvPr id="292" name="Google Shape;292;p20"/>
          <p:cNvSpPr/>
          <p:nvPr/>
        </p:nvSpPr>
        <p:spPr>
          <a:xfrm>
            <a:off x="457200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0"/>
          <p:cNvSpPr txBox="1"/>
          <p:nvPr/>
        </p:nvSpPr>
        <p:spPr>
          <a:xfrm>
            <a:off x="640080" y="5641848"/>
            <a:ext cx="33070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NEGATÍV</a:t>
            </a:r>
            <a:endParaRPr/>
          </a:p>
        </p:txBody>
      </p:sp>
      <p:sp>
        <p:nvSpPr>
          <p:cNvPr id="294" name="Google Shape;294;p20"/>
          <p:cNvSpPr txBox="1"/>
          <p:nvPr/>
        </p:nvSpPr>
        <p:spPr>
          <a:xfrm>
            <a:off x="640080" y="5897880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12 720</a:t>
            </a:r>
            <a:endParaRPr/>
          </a:p>
        </p:txBody>
      </p:sp>
      <p:sp>
        <p:nvSpPr>
          <p:cNvPr id="295" name="Google Shape;295;p20"/>
          <p:cNvSpPr/>
          <p:nvPr/>
        </p:nvSpPr>
        <p:spPr>
          <a:xfrm>
            <a:off x="4221480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0"/>
          <p:cNvSpPr txBox="1"/>
          <p:nvPr/>
        </p:nvSpPr>
        <p:spPr>
          <a:xfrm>
            <a:off x="4404360" y="5641848"/>
            <a:ext cx="33070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SEMLEGES</a:t>
            </a:r>
            <a:endParaRPr/>
          </a:p>
        </p:txBody>
      </p:sp>
      <p:sp>
        <p:nvSpPr>
          <p:cNvPr id="297" name="Google Shape;297;p20"/>
          <p:cNvSpPr txBox="1"/>
          <p:nvPr/>
        </p:nvSpPr>
        <p:spPr>
          <a:xfrm>
            <a:off x="4404360" y="5897880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10 252</a:t>
            </a:r>
            <a:endParaRPr/>
          </a:p>
        </p:txBody>
      </p:sp>
      <p:sp>
        <p:nvSpPr>
          <p:cNvPr id="298" name="Google Shape;298;p20"/>
          <p:cNvSpPr/>
          <p:nvPr/>
        </p:nvSpPr>
        <p:spPr>
          <a:xfrm>
            <a:off x="7985759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0"/>
          <p:cNvSpPr txBox="1"/>
          <p:nvPr/>
        </p:nvSpPr>
        <p:spPr>
          <a:xfrm>
            <a:off x="8168639" y="5641848"/>
            <a:ext cx="33070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E8B57"/>
                </a:solidFill>
                <a:latin typeface="Calibri"/>
                <a:ea typeface="Calibri"/>
                <a:cs typeface="Calibri"/>
                <a:sym typeface="Calibri"/>
              </a:rPr>
              <a:t>POZITÍV</a:t>
            </a:r>
            <a:endParaRPr/>
          </a:p>
        </p:txBody>
      </p:sp>
      <p:sp>
        <p:nvSpPr>
          <p:cNvPr id="300" name="Google Shape;300;p20"/>
          <p:cNvSpPr txBox="1"/>
          <p:nvPr/>
        </p:nvSpPr>
        <p:spPr>
          <a:xfrm>
            <a:off x="8168639" y="5897880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n = 6 714</a:t>
            </a:r>
            <a:endParaRPr/>
          </a:p>
        </p:txBody>
      </p:sp>
      <p:sp>
        <p:nvSpPr>
          <p:cNvPr id="301" name="Google Shape;301;p20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Mintaeloszlás (n = 29 686)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308" name="Google Shape;308;p21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Spearman-rangkorreláció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09" name="Google Shape;309;p21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Negatívabb cím → nagyobb vizuális hangsúly?</a:t>
            </a:r>
            <a:endParaRPr/>
          </a:p>
        </p:txBody>
      </p:sp>
      <p:sp>
        <p:nvSpPr>
          <p:cNvPr id="310" name="Google Shape;310;p21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8.png" id="311" name="Google Shape;31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17320"/>
            <a:ext cx="7132320" cy="39319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12" name="Google Shape;312;p21"/>
          <p:cNvGraphicFramePr/>
          <p:nvPr/>
        </p:nvGraphicFramePr>
        <p:xfrm>
          <a:off x="7818120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{4B8CA3A5-8DC7-4BBC-A8B7-6A6B219AE4DA}</a:tableStyleId>
              </a:tblPr>
              <a:tblGrid>
                <a:gridCol w="1126550"/>
                <a:gridCol w="724200"/>
                <a:gridCol w="563275"/>
                <a:gridCol w="643725"/>
                <a:gridCol w="96560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Csoport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ρ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Erősség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29 686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−0.100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elhanyagolható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17 648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−0.085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elhanyagolható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12 038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−0.114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gyenge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3" name="Google Shape;313;p21"/>
          <p:cNvSpPr/>
          <p:nvPr/>
        </p:nvSpPr>
        <p:spPr>
          <a:xfrm>
            <a:off x="7818120" y="3520440"/>
            <a:ext cx="4023360" cy="18288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 txBox="1"/>
          <p:nvPr/>
        </p:nvSpPr>
        <p:spPr>
          <a:xfrm>
            <a:off x="8046720" y="36576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/>
          </a:p>
        </p:txBody>
      </p:sp>
      <p:sp>
        <p:nvSpPr>
          <p:cNvPr id="315" name="Google Shape;315;p21"/>
          <p:cNvSpPr txBox="1"/>
          <p:nvPr/>
        </p:nvSpPr>
        <p:spPr>
          <a:xfrm>
            <a:off x="8046720" y="3977639"/>
            <a:ext cx="3657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Mindkét portáltípusnál lefelé lejt a trendvonal. A kapcsolat gyenge, de konzisztensen negatív és szignifikáns.</a:t>
            </a:r>
            <a:endParaRPr/>
          </a:p>
        </p:txBody>
      </p:sp>
      <p:sp>
        <p:nvSpPr>
          <p:cNvPr id="316" name="Google Shape;316;p21"/>
          <p:cNvSpPr/>
          <p:nvPr/>
        </p:nvSpPr>
        <p:spPr>
          <a:xfrm>
            <a:off x="457200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1"/>
          <p:cNvSpPr/>
          <p:nvPr/>
        </p:nvSpPr>
        <p:spPr>
          <a:xfrm>
            <a:off x="457200" y="5532120"/>
            <a:ext cx="3627119" cy="73152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1"/>
          <p:cNvSpPr txBox="1"/>
          <p:nvPr/>
        </p:nvSpPr>
        <p:spPr>
          <a:xfrm>
            <a:off x="640080" y="5696712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ρ = −0.100</a:t>
            </a:r>
            <a:endParaRPr/>
          </a:p>
        </p:txBody>
      </p:sp>
      <p:sp>
        <p:nvSpPr>
          <p:cNvPr id="319" name="Google Shape;319;p21"/>
          <p:cNvSpPr txBox="1"/>
          <p:nvPr/>
        </p:nvSpPr>
        <p:spPr>
          <a:xfrm>
            <a:off x="640080" y="6126480"/>
            <a:ext cx="3307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Összes (n=29 686)</a:t>
            </a:r>
            <a:endParaRPr/>
          </a:p>
        </p:txBody>
      </p:sp>
      <p:sp>
        <p:nvSpPr>
          <p:cNvPr id="320" name="Google Shape;320;p21"/>
          <p:cNvSpPr/>
          <p:nvPr/>
        </p:nvSpPr>
        <p:spPr>
          <a:xfrm>
            <a:off x="4221480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1"/>
          <p:cNvSpPr/>
          <p:nvPr/>
        </p:nvSpPr>
        <p:spPr>
          <a:xfrm>
            <a:off x="4221480" y="5532120"/>
            <a:ext cx="3627119" cy="73152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1"/>
          <p:cNvSpPr txBox="1"/>
          <p:nvPr/>
        </p:nvSpPr>
        <p:spPr>
          <a:xfrm>
            <a:off x="4404360" y="5696712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ρ = −0.085</a:t>
            </a:r>
            <a:endParaRPr/>
          </a:p>
        </p:txBody>
      </p:sp>
      <p:sp>
        <p:nvSpPr>
          <p:cNvPr id="323" name="Google Shape;323;p21"/>
          <p:cNvSpPr txBox="1"/>
          <p:nvPr/>
        </p:nvSpPr>
        <p:spPr>
          <a:xfrm>
            <a:off x="4404360" y="6126480"/>
            <a:ext cx="3307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/>
          </a:p>
        </p:txBody>
      </p:sp>
      <p:sp>
        <p:nvSpPr>
          <p:cNvPr id="324" name="Google Shape;324;p21"/>
          <p:cNvSpPr/>
          <p:nvPr/>
        </p:nvSpPr>
        <p:spPr>
          <a:xfrm>
            <a:off x="7985759" y="5532120"/>
            <a:ext cx="3627119" cy="9144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1"/>
          <p:cNvSpPr/>
          <p:nvPr/>
        </p:nvSpPr>
        <p:spPr>
          <a:xfrm>
            <a:off x="7985759" y="5532120"/>
            <a:ext cx="3627119" cy="73152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1"/>
          <p:cNvSpPr txBox="1"/>
          <p:nvPr/>
        </p:nvSpPr>
        <p:spPr>
          <a:xfrm>
            <a:off x="8168639" y="5696712"/>
            <a:ext cx="33070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ρ = −0.114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8168639" y="6126480"/>
            <a:ext cx="3307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Spearman-korreláció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2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335" name="Google Shape;335;p22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Mann–Whitney U sávpárokra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36" name="Google Shape;336;p22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negatív, semleges és pozitív sávok vizuális score-eloszlása</a:t>
            </a:r>
            <a:endParaRPr/>
          </a:p>
        </p:txBody>
      </p:sp>
      <p:sp>
        <p:nvSpPr>
          <p:cNvPr id="337" name="Google Shape;337;p22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9.png" id="338" name="Google Shape;33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5943600" cy="292608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9" name="Google Shape;339;p22"/>
          <p:cNvGraphicFramePr/>
          <p:nvPr/>
        </p:nvGraphicFramePr>
        <p:xfrm>
          <a:off x="649224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{4B8CA3A5-8DC7-4BBC-A8B7-6A6B219AE4DA}</a:tableStyleId>
              </a:tblPr>
              <a:tblGrid>
                <a:gridCol w="1143000"/>
                <a:gridCol w="1645925"/>
                <a:gridCol w="640075"/>
                <a:gridCol w="640075"/>
                <a:gridCol w="685800"/>
                <a:gridCol w="594350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Csoport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Összehasonlítás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n₁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n₂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12 720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10 252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−0.058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12 720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6 714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−0.137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Összes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10 252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6 714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−0.074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7 914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5 521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0.0018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−0.029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7 914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4 213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−0.120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Kormányközeli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5 521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4 213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−0.093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Semleges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4 806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4 731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−0.052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Negatív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4 806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2 501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−0.173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Független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Semleges vs. Pozitív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4 731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2 501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−0.111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0" name="Google Shape;340;p22"/>
          <p:cNvSpPr/>
          <p:nvPr/>
        </p:nvSpPr>
        <p:spPr>
          <a:xfrm>
            <a:off x="457200" y="4526280"/>
            <a:ext cx="5943600" cy="14630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2"/>
          <p:cNvSpPr txBox="1"/>
          <p:nvPr/>
        </p:nvSpPr>
        <p:spPr>
          <a:xfrm>
            <a:off x="685800" y="4663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685800" y="4983480"/>
            <a:ext cx="5486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Minden sávpár-teszt szignifikáns, de a hatásméretek kicsik.  A legnagyobb távolság a Negatív és Pozitív sávok között van — különösen a független portáloknál (r = −0.173).</a:t>
            </a:r>
            <a:endParaRPr/>
          </a:p>
        </p:txBody>
      </p:sp>
      <p:sp>
        <p:nvSpPr>
          <p:cNvPr id="343" name="Google Shape;343;p22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Mann–Whitney U (9 sávpár-teszt)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350" name="Google Shape;350;p23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· OLS regresszió interakcióval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51" name="Google Shape;351;p23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R² = 0.0706 · N = 29 686 · norm_score ~ sentiment × gov</a:t>
            </a:r>
            <a:endParaRPr/>
          </a:p>
        </p:txBody>
      </p:sp>
      <p:sp>
        <p:nvSpPr>
          <p:cNvPr id="352" name="Google Shape;352;p23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0.png" id="353" name="Google Shape;35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17320"/>
            <a:ext cx="6949440" cy="356616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54" name="Google Shape;354;p23"/>
          <p:cNvGraphicFramePr/>
          <p:nvPr/>
        </p:nvGraphicFramePr>
        <p:xfrm>
          <a:off x="7589520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{4B8CA3A5-8DC7-4BBC-A8B7-6A6B219AE4DA}</a:tableStyleId>
              </a:tblPr>
              <a:tblGrid>
                <a:gridCol w="1920250"/>
                <a:gridCol w="1234450"/>
                <a:gridCol w="1097275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Tag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Becslés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β₀ (Intercept)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+0.674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β₁ (sentiment)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−0.105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β₂ (gov)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+0.079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</a:tr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β₃ (sent × gov)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+0.049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</a:tr>
            </a:tbl>
          </a:graphicData>
        </a:graphic>
      </p:graphicFrame>
      <p:sp>
        <p:nvSpPr>
          <p:cNvPr id="355" name="Google Shape;355;p23"/>
          <p:cNvSpPr/>
          <p:nvPr/>
        </p:nvSpPr>
        <p:spPr>
          <a:xfrm>
            <a:off x="7589520" y="3886200"/>
            <a:ext cx="4251960" cy="10972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7772400" y="3977639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ÉRTELMEZÉS</a:t>
            </a:r>
            <a:endParaRPr/>
          </a:p>
        </p:txBody>
      </p:sp>
      <p:sp>
        <p:nvSpPr>
          <p:cNvPr id="357" name="Google Shape;357;p23"/>
          <p:cNvSpPr txBox="1"/>
          <p:nvPr/>
        </p:nvSpPr>
        <p:spPr>
          <a:xfrm>
            <a:off x="7772400" y="4279392"/>
            <a:ext cx="39319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β₁ = −0.105</a:t>
            </a:r>
            <a:r>
              <a:rPr b="0" i="0" lang="en-US" sz="10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 a független portálokon a negatívabb címek nagyobb hangsúlyt kapnak.  </a:t>
            </a: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β₃ = +0.049</a:t>
            </a:r>
            <a:r>
              <a:rPr b="0" i="0" lang="en-US" sz="10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:  a hatás mértéke médiablokkonként eltér.</a:t>
            </a:r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457200" y="5212080"/>
            <a:ext cx="11292840" cy="11887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3"/>
          <p:cNvSpPr txBox="1"/>
          <p:nvPr/>
        </p:nvSpPr>
        <p:spPr>
          <a:xfrm>
            <a:off x="685800" y="532180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EGYÜTTHATÓK · előjel és irány</a:t>
            </a:r>
            <a:endParaRPr/>
          </a:p>
        </p:txBody>
      </p:sp>
      <p:sp>
        <p:nvSpPr>
          <p:cNvPr id="360" name="Google Shape;360;p23"/>
          <p:cNvSpPr txBox="1"/>
          <p:nvPr/>
        </p:nvSpPr>
        <p:spPr>
          <a:xfrm>
            <a:off x="685800" y="566928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β₀</a:t>
            </a:r>
            <a:endParaRPr/>
          </a:p>
        </p:txBody>
      </p:sp>
      <p:sp>
        <p:nvSpPr>
          <p:cNvPr id="361" name="Google Shape;361;p23"/>
          <p:cNvSpPr/>
          <p:nvPr/>
        </p:nvSpPr>
        <p:spPr>
          <a:xfrm>
            <a:off x="6217920" y="5715000"/>
            <a:ext cx="2465222" cy="13716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3"/>
          <p:cNvSpPr txBox="1"/>
          <p:nvPr/>
        </p:nvSpPr>
        <p:spPr>
          <a:xfrm>
            <a:off x="8756294" y="566928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+0.674</a:t>
            </a:r>
            <a:endParaRPr/>
          </a:p>
        </p:txBody>
      </p:sp>
      <p:sp>
        <p:nvSpPr>
          <p:cNvPr id="363" name="Google Shape;363;p23"/>
          <p:cNvSpPr txBox="1"/>
          <p:nvPr/>
        </p:nvSpPr>
        <p:spPr>
          <a:xfrm>
            <a:off x="685800" y="582472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β₁</a:t>
            </a:r>
            <a:endParaRPr/>
          </a:p>
        </p:txBody>
      </p:sp>
      <p:sp>
        <p:nvSpPr>
          <p:cNvPr id="364" name="Google Shape;364;p23"/>
          <p:cNvSpPr/>
          <p:nvPr/>
        </p:nvSpPr>
        <p:spPr>
          <a:xfrm>
            <a:off x="5833872" y="5870448"/>
            <a:ext cx="384048" cy="13716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3"/>
          <p:cNvSpPr txBox="1"/>
          <p:nvPr/>
        </p:nvSpPr>
        <p:spPr>
          <a:xfrm>
            <a:off x="5193792" y="58247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-0.105</a:t>
            </a:r>
            <a:endParaRPr/>
          </a:p>
        </p:txBody>
      </p:sp>
      <p:sp>
        <p:nvSpPr>
          <p:cNvPr id="366" name="Google Shape;366;p23"/>
          <p:cNvSpPr txBox="1"/>
          <p:nvPr/>
        </p:nvSpPr>
        <p:spPr>
          <a:xfrm>
            <a:off x="685800" y="5980176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β₂</a:t>
            </a:r>
            <a:endParaRPr/>
          </a:p>
        </p:txBody>
      </p:sp>
      <p:sp>
        <p:nvSpPr>
          <p:cNvPr id="367" name="Google Shape;367;p23"/>
          <p:cNvSpPr/>
          <p:nvPr/>
        </p:nvSpPr>
        <p:spPr>
          <a:xfrm>
            <a:off x="6217920" y="6025896"/>
            <a:ext cx="288950" cy="13716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3"/>
          <p:cNvSpPr txBox="1"/>
          <p:nvPr/>
        </p:nvSpPr>
        <p:spPr>
          <a:xfrm>
            <a:off x="6580022" y="598017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+0.079</a:t>
            </a:r>
            <a:endParaRPr/>
          </a:p>
        </p:txBody>
      </p:sp>
      <p:sp>
        <p:nvSpPr>
          <p:cNvPr id="369" name="Google Shape;369;p23"/>
          <p:cNvSpPr txBox="1"/>
          <p:nvPr/>
        </p:nvSpPr>
        <p:spPr>
          <a:xfrm>
            <a:off x="685800" y="6135624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β₃</a:t>
            </a:r>
            <a:endParaRPr/>
          </a:p>
        </p:txBody>
      </p:sp>
      <p:sp>
        <p:nvSpPr>
          <p:cNvPr id="370" name="Google Shape;370;p23"/>
          <p:cNvSpPr/>
          <p:nvPr/>
        </p:nvSpPr>
        <p:spPr>
          <a:xfrm>
            <a:off x="6217920" y="6181344"/>
            <a:ext cx="179222" cy="13716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3"/>
          <p:cNvSpPr txBox="1"/>
          <p:nvPr/>
        </p:nvSpPr>
        <p:spPr>
          <a:xfrm>
            <a:off x="6470294" y="6135624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+0.049</a:t>
            </a:r>
            <a:endParaRPr/>
          </a:p>
        </p:txBody>
      </p:sp>
      <p:sp>
        <p:nvSpPr>
          <p:cNvPr id="372" name="Google Shape;372;p23"/>
          <p:cNvSpPr/>
          <p:nvPr/>
        </p:nvSpPr>
        <p:spPr>
          <a:xfrm>
            <a:off x="6217920" y="5650992"/>
            <a:ext cx="9525" cy="685800"/>
          </a:xfrm>
          <a:prstGeom prst="rect">
            <a:avLst/>
          </a:prstGeom>
          <a:solidFill>
            <a:srgbClr val="646B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OLS regresszió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4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H2</a:t>
            </a:r>
            <a:endParaRPr/>
          </a:p>
        </p:txBody>
      </p:sp>
      <p:sp>
        <p:nvSpPr>
          <p:cNvPr id="380" name="Google Shape;380;p24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H2 Verdikt · Túlnyomóan megerősítve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381" name="Google Shape;381;p24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Bizonyítékpontszám: 2 / 3</a:t>
            </a:r>
            <a:endParaRPr/>
          </a:p>
        </p:txBody>
      </p:sp>
      <p:sp>
        <p:nvSpPr>
          <p:cNvPr id="382" name="Google Shape;382;p24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4"/>
          <p:cNvSpPr/>
          <p:nvPr/>
        </p:nvSpPr>
        <p:spPr>
          <a:xfrm>
            <a:off x="457200" y="1417320"/>
            <a:ext cx="3749039" cy="347472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4"/>
          <p:cNvSpPr txBox="1"/>
          <p:nvPr/>
        </p:nvSpPr>
        <p:spPr>
          <a:xfrm>
            <a:off x="685800" y="160020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BIZONYÍTÉKPONTSZÁM</a:t>
            </a:r>
            <a:endParaRPr/>
          </a:p>
        </p:txBody>
      </p:sp>
      <p:sp>
        <p:nvSpPr>
          <p:cNvPr id="385" name="Google Shape;385;p24"/>
          <p:cNvSpPr txBox="1"/>
          <p:nvPr/>
        </p:nvSpPr>
        <p:spPr>
          <a:xfrm>
            <a:off x="685800" y="196596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/ 3</a:t>
            </a:r>
            <a:endParaRPr/>
          </a:p>
        </p:txBody>
      </p:sp>
      <p:sp>
        <p:nvSpPr>
          <p:cNvPr id="386" name="Google Shape;386;p24"/>
          <p:cNvSpPr txBox="1"/>
          <p:nvPr/>
        </p:nvSpPr>
        <p:spPr>
          <a:xfrm>
            <a:off x="685800" y="338328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AEEF9"/>
                </a:solidFill>
                <a:latin typeface="Calibri"/>
                <a:ea typeface="Calibri"/>
                <a:cs typeface="Calibri"/>
                <a:sym typeface="Calibri"/>
              </a:rPr>
              <a:t>teszt támogatja a hipotézist</a:t>
            </a:r>
            <a:endParaRPr/>
          </a:p>
        </p:txBody>
      </p:sp>
      <p:sp>
        <p:nvSpPr>
          <p:cNvPr id="387" name="Google Shape;387;p24"/>
          <p:cNvSpPr/>
          <p:nvPr/>
        </p:nvSpPr>
        <p:spPr>
          <a:xfrm>
            <a:off x="822960" y="4023360"/>
            <a:ext cx="320040" cy="320040"/>
          </a:xfrm>
          <a:prstGeom prst="ellipse">
            <a:avLst/>
          </a:prstGeom>
          <a:solidFill>
            <a:srgbClr val="2E8B5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88" name="Google Shape;388;p24"/>
          <p:cNvSpPr/>
          <p:nvPr/>
        </p:nvSpPr>
        <p:spPr>
          <a:xfrm>
            <a:off x="1828800" y="4023360"/>
            <a:ext cx="320040" cy="320040"/>
          </a:xfrm>
          <a:prstGeom prst="ellipse">
            <a:avLst/>
          </a:prstGeom>
          <a:solidFill>
            <a:srgbClr val="B03A2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</a:t>
            </a:r>
            <a:endParaRPr/>
          </a:p>
        </p:txBody>
      </p:sp>
      <p:sp>
        <p:nvSpPr>
          <p:cNvPr id="389" name="Google Shape;389;p24"/>
          <p:cNvSpPr/>
          <p:nvPr/>
        </p:nvSpPr>
        <p:spPr>
          <a:xfrm>
            <a:off x="2834640" y="4023360"/>
            <a:ext cx="320040" cy="320040"/>
          </a:xfrm>
          <a:prstGeom prst="ellipse">
            <a:avLst/>
          </a:prstGeom>
          <a:solidFill>
            <a:srgbClr val="2E8B5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graphicFrame>
        <p:nvGraphicFramePr>
          <p:cNvPr id="390" name="Google Shape;390;p24"/>
          <p:cNvGraphicFramePr/>
          <p:nvPr/>
        </p:nvGraphicFramePr>
        <p:xfrm>
          <a:off x="4434840" y="14173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{4B8CA3A5-8DC7-4BBC-A8B7-6A6B219AE4DA}</a:tableStyleId>
              </a:tblPr>
              <a:tblGrid>
                <a:gridCol w="648175"/>
                <a:gridCol w="2037150"/>
                <a:gridCol w="3703900"/>
                <a:gridCol w="9259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Lépés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Módszer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Eredmény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H2?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1E276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Spearman (össz)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ρ = −0.100, p 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E8B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CF7EE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Mann–Whitney U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 / 6 H2-irányú teszt szignifikáns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AEE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B03A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✗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AECE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OLS β₁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1A1D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β₁ = −0.105, p &lt; 0.001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E8B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✓</a:t>
                      </a:r>
                      <a:endParaRPr/>
                    </a:p>
                  </a:txBody>
                  <a:tcPr marT="36575" marB="36575" marR="73150" marL="73150" anchor="ctr">
                    <a:solidFill>
                      <a:srgbClr val="ECF7EE"/>
                    </a:solidFill>
                  </a:tcPr>
                </a:tc>
              </a:tr>
            </a:tbl>
          </a:graphicData>
        </a:graphic>
      </p:graphicFrame>
      <p:sp>
        <p:nvSpPr>
          <p:cNvPr id="391" name="Google Shape;391;p24"/>
          <p:cNvSpPr/>
          <p:nvPr/>
        </p:nvSpPr>
        <p:spPr>
          <a:xfrm>
            <a:off x="4434840" y="3840480"/>
            <a:ext cx="7315200" cy="105156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 txBox="1"/>
          <p:nvPr/>
        </p:nvSpPr>
        <p:spPr>
          <a:xfrm>
            <a:off x="4663440" y="393192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/>
          </a:p>
        </p:txBody>
      </p:sp>
      <p:sp>
        <p:nvSpPr>
          <p:cNvPr id="393" name="Google Shape;393;p24"/>
          <p:cNvSpPr txBox="1"/>
          <p:nvPr/>
        </p:nvSpPr>
        <p:spPr>
          <a:xfrm>
            <a:off x="4663440" y="4206240"/>
            <a:ext cx="6858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Két módszer egyértelműen támogatja a hipotézist. A negatív címek nagyobb hangsúlyt kapnak; a sávpáros tesztek vegyesebb képet mutatnak. Az interakció szignifikáns: a hatás erőssége médiablokkonként eltér.</a:t>
            </a:r>
            <a:endParaRPr/>
          </a:p>
        </p:txBody>
      </p:sp>
      <p:sp>
        <p:nvSpPr>
          <p:cNvPr id="394" name="Google Shape;394;p24"/>
          <p:cNvSpPr/>
          <p:nvPr/>
        </p:nvSpPr>
        <p:spPr>
          <a:xfrm>
            <a:off x="457200" y="5074920"/>
            <a:ext cx="11292840" cy="11887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685800" y="5184648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KORLÁTOK</a:t>
            </a:r>
            <a:endParaRPr/>
          </a:p>
        </p:txBody>
      </p:sp>
      <p:sp>
        <p:nvSpPr>
          <p:cNvPr id="396" name="Google Shape;396;p24"/>
          <p:cNvSpPr txBox="1"/>
          <p:nvPr/>
        </p:nvSpPr>
        <p:spPr>
          <a:xfrm>
            <a:off x="685800" y="5468112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LLM-alapú szentiment · portálonként normalizált score · korrelációs (nem oksági) értelmezés.</a:t>
            </a:r>
            <a:endParaRPr/>
          </a:p>
        </p:txBody>
      </p:sp>
      <p:sp>
        <p:nvSpPr>
          <p:cNvPr id="397" name="Google Shape;397;p24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H2 · Verdikt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5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/>
          </a:p>
        </p:txBody>
      </p:sp>
      <p:sp>
        <p:nvSpPr>
          <p:cNvPr id="404" name="Google Shape;404;p25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· Napirend-kijelölés (agenda-setting)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05" name="Google Shape;405;p25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Két részhipotézis: szinkronitás és portálspecifikus framing</a:t>
            </a:r>
            <a:endParaRPr/>
          </a:p>
        </p:txBody>
      </p:sp>
      <p:sp>
        <p:nvSpPr>
          <p:cNvPr id="406" name="Google Shape;406;p25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5"/>
          <p:cNvSpPr/>
          <p:nvPr/>
        </p:nvSpPr>
        <p:spPr>
          <a:xfrm>
            <a:off x="457200" y="1417320"/>
            <a:ext cx="5715000" cy="21031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5"/>
          <p:cNvSpPr txBox="1"/>
          <p:nvPr/>
        </p:nvSpPr>
        <p:spPr>
          <a:xfrm>
            <a:off x="685800" y="1554480"/>
            <a:ext cx="5349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HIPOTÉZIS</a:t>
            </a:r>
            <a:endParaRPr/>
          </a:p>
        </p:txBody>
      </p:sp>
      <p:sp>
        <p:nvSpPr>
          <p:cNvPr id="409" name="Google Shape;409;p25"/>
          <p:cNvSpPr txBox="1"/>
          <p:nvPr/>
        </p:nvSpPr>
        <p:spPr>
          <a:xfrm>
            <a:off x="685800" y="1874519"/>
            <a:ext cx="534924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portálok napi entitás-említései erősebben korrelálnak egymással, mint a függetleneké; ugyanazon entitások framingje is eltér a két blokknál.</a:t>
            </a:r>
            <a:endParaRPr/>
          </a:p>
        </p:txBody>
      </p:sp>
      <p:sp>
        <p:nvSpPr>
          <p:cNvPr id="410" name="Google Shape;410;p25"/>
          <p:cNvSpPr/>
          <p:nvPr/>
        </p:nvSpPr>
        <p:spPr>
          <a:xfrm>
            <a:off x="6400800" y="1417320"/>
            <a:ext cx="5349240" cy="987552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5"/>
          <p:cNvSpPr txBox="1"/>
          <p:nvPr/>
        </p:nvSpPr>
        <p:spPr>
          <a:xfrm>
            <a:off x="6629400" y="150876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(A)  </a:t>
            </a: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BELSŐ NAPIREND-SZINKRONITÁS</a:t>
            </a:r>
            <a:endParaRPr/>
          </a:p>
        </p:txBody>
      </p:sp>
      <p:sp>
        <p:nvSpPr>
          <p:cNvPr id="412" name="Google Shape;412;p25"/>
          <p:cNvSpPr txBox="1"/>
          <p:nvPr/>
        </p:nvSpPr>
        <p:spPr>
          <a:xfrm>
            <a:off x="6629400" y="1810512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Napi entitás-említések alapján páronkénti Pearson-korreláció.</a:t>
            </a:r>
            <a:endParaRPr/>
          </a:p>
        </p:txBody>
      </p:sp>
      <p:sp>
        <p:nvSpPr>
          <p:cNvPr id="413" name="Google Shape;413;p25"/>
          <p:cNvSpPr/>
          <p:nvPr/>
        </p:nvSpPr>
        <p:spPr>
          <a:xfrm>
            <a:off x="6400800" y="2514600"/>
            <a:ext cx="5349240" cy="10058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5"/>
          <p:cNvSpPr txBox="1"/>
          <p:nvPr/>
        </p:nvSpPr>
        <p:spPr>
          <a:xfrm>
            <a:off x="6629400" y="260604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PORTÁLSPECIFIKUS DINAMIKA</a:t>
            </a:r>
            <a:endParaRPr/>
          </a:p>
        </p:txBody>
      </p:sp>
      <p:sp>
        <p:nvSpPr>
          <p:cNvPr id="415" name="Google Shape;415;p25"/>
          <p:cNvSpPr txBox="1"/>
          <p:nvPr/>
        </p:nvSpPr>
        <p:spPr>
          <a:xfrm>
            <a:off x="6629400" y="2907792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Ugyanazon entitások szentiment- és vizuális különbségeinek tesztelése.</a:t>
            </a:r>
            <a:endParaRPr/>
          </a:p>
        </p:txBody>
      </p:sp>
      <p:sp>
        <p:nvSpPr>
          <p:cNvPr id="416" name="Google Shape;416;p25"/>
          <p:cNvSpPr/>
          <p:nvPr/>
        </p:nvSpPr>
        <p:spPr>
          <a:xfrm>
            <a:off x="457200" y="3749039"/>
            <a:ext cx="11292840" cy="109728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5"/>
          <p:cNvSpPr txBox="1"/>
          <p:nvPr/>
        </p:nvSpPr>
        <p:spPr>
          <a:xfrm>
            <a:off x="731520" y="3858768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MINTA</a:t>
            </a:r>
            <a:endParaRPr/>
          </a:p>
        </p:txBody>
      </p:sp>
      <p:sp>
        <p:nvSpPr>
          <p:cNvPr id="418" name="Google Shape;418;p25"/>
          <p:cNvSpPr txBox="1"/>
          <p:nvPr/>
        </p:nvSpPr>
        <p:spPr>
          <a:xfrm>
            <a:off x="731520" y="4160520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Top 15 olyan entitás, amely mindkét portáltípusban megjelenik.</a:t>
            </a:r>
            <a:endParaRPr/>
          </a:p>
        </p:txBody>
      </p:sp>
      <p:sp>
        <p:nvSpPr>
          <p:cNvPr id="419" name="Google Shape;419;p25"/>
          <p:cNvSpPr/>
          <p:nvPr/>
        </p:nvSpPr>
        <p:spPr>
          <a:xfrm>
            <a:off x="457200" y="4983480"/>
            <a:ext cx="11292840" cy="14173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5"/>
          <p:cNvSpPr txBox="1"/>
          <p:nvPr/>
        </p:nvSpPr>
        <p:spPr>
          <a:xfrm>
            <a:off x="685800" y="51206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MIT MÉR A H3</a:t>
            </a:r>
            <a:endParaRPr/>
          </a:p>
        </p:txBody>
      </p:sp>
      <p:sp>
        <p:nvSpPr>
          <p:cNvPr id="421" name="Google Shape;421;p25"/>
          <p:cNvSpPr txBox="1"/>
          <p:nvPr/>
        </p:nvSpPr>
        <p:spPr>
          <a:xfrm>
            <a:off x="685800" y="5422392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Mennyire koordinált a napi napirend, és mennyire portálspecifikus ugyanazon szereplők kezelése — azaz hol húzódik a határ a közös témaválasztás és a blokkok eltérő narratívái között.</a:t>
            </a:r>
            <a:endParaRPr/>
          </a:p>
        </p:txBody>
      </p:sp>
      <p:sp>
        <p:nvSpPr>
          <p:cNvPr id="422" name="Google Shape;422;p25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· Hipotézis és módszertan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6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/>
          </a:p>
        </p:txBody>
      </p:sp>
      <p:sp>
        <p:nvSpPr>
          <p:cNvPr id="429" name="Google Shape;429;p26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(A) · Belső napirend-szinkronitás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30" name="Google Shape;430;p26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Páronkénti Pearson-r hőtérképek portáltípusonként</a:t>
            </a:r>
            <a:endParaRPr/>
          </a:p>
        </p:txBody>
      </p:sp>
      <p:sp>
        <p:nvSpPr>
          <p:cNvPr id="431" name="Google Shape;431;p26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3.png" id="432" name="Google Shape;43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7680960" cy="3474720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6"/>
          <p:cNvSpPr/>
          <p:nvPr/>
        </p:nvSpPr>
        <p:spPr>
          <a:xfrm>
            <a:off x="8229600" y="1371600"/>
            <a:ext cx="3611880" cy="10972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6"/>
          <p:cNvSpPr/>
          <p:nvPr/>
        </p:nvSpPr>
        <p:spPr>
          <a:xfrm>
            <a:off x="8229600" y="1371600"/>
            <a:ext cx="91440" cy="109728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6"/>
          <p:cNvSpPr txBox="1"/>
          <p:nvPr/>
        </p:nvSpPr>
        <p:spPr>
          <a:xfrm>
            <a:off x="8458200" y="148132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KORMÁNYKÖZELI</a:t>
            </a:r>
            <a:endParaRPr/>
          </a:p>
        </p:txBody>
      </p:sp>
      <p:sp>
        <p:nvSpPr>
          <p:cNvPr id="436" name="Google Shape;436;p26"/>
          <p:cNvSpPr txBox="1"/>
          <p:nvPr/>
        </p:nvSpPr>
        <p:spPr>
          <a:xfrm>
            <a:off x="8458200" y="1755648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átlag r = 0.686</a:t>
            </a:r>
            <a:endParaRPr/>
          </a:p>
        </p:txBody>
      </p:sp>
      <p:sp>
        <p:nvSpPr>
          <p:cNvPr id="437" name="Google Shape;437;p26"/>
          <p:cNvSpPr txBox="1"/>
          <p:nvPr/>
        </p:nvSpPr>
        <p:spPr>
          <a:xfrm>
            <a:off x="8458200" y="221284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szórás ±0.188</a:t>
            </a:r>
            <a:endParaRPr/>
          </a:p>
        </p:txBody>
      </p:sp>
      <p:sp>
        <p:nvSpPr>
          <p:cNvPr id="438" name="Google Shape;438;p26"/>
          <p:cNvSpPr/>
          <p:nvPr/>
        </p:nvSpPr>
        <p:spPr>
          <a:xfrm>
            <a:off x="8229600" y="2606040"/>
            <a:ext cx="3611880" cy="109728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6"/>
          <p:cNvSpPr/>
          <p:nvPr/>
        </p:nvSpPr>
        <p:spPr>
          <a:xfrm>
            <a:off x="8229600" y="2606040"/>
            <a:ext cx="91440" cy="109728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6"/>
          <p:cNvSpPr txBox="1"/>
          <p:nvPr/>
        </p:nvSpPr>
        <p:spPr>
          <a:xfrm>
            <a:off x="8458200" y="271576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FÜGGETLEN</a:t>
            </a:r>
            <a:endParaRPr/>
          </a:p>
        </p:txBody>
      </p:sp>
      <p:sp>
        <p:nvSpPr>
          <p:cNvPr id="441" name="Google Shape;441;p26"/>
          <p:cNvSpPr txBox="1"/>
          <p:nvPr/>
        </p:nvSpPr>
        <p:spPr>
          <a:xfrm>
            <a:off x="8458200" y="2990088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átlag r = 0.548</a:t>
            </a:r>
            <a:endParaRPr/>
          </a:p>
        </p:txBody>
      </p:sp>
      <p:sp>
        <p:nvSpPr>
          <p:cNvPr id="442" name="Google Shape;442;p26"/>
          <p:cNvSpPr txBox="1"/>
          <p:nvPr/>
        </p:nvSpPr>
        <p:spPr>
          <a:xfrm>
            <a:off x="8458200" y="3447288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szórás ±0.218</a:t>
            </a:r>
            <a:endParaRPr/>
          </a:p>
        </p:txBody>
      </p:sp>
      <p:sp>
        <p:nvSpPr>
          <p:cNvPr id="443" name="Google Shape;443;p26"/>
          <p:cNvSpPr/>
          <p:nvPr/>
        </p:nvSpPr>
        <p:spPr>
          <a:xfrm>
            <a:off x="8229600" y="3840480"/>
            <a:ext cx="3611880" cy="100584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6"/>
          <p:cNvSpPr txBox="1"/>
          <p:nvPr/>
        </p:nvSpPr>
        <p:spPr>
          <a:xfrm>
            <a:off x="8458200" y="393192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KÜLÖNBSÉG</a:t>
            </a:r>
            <a:endParaRPr/>
          </a:p>
        </p:txBody>
      </p:sp>
      <p:sp>
        <p:nvSpPr>
          <p:cNvPr id="445" name="Google Shape;445;p26"/>
          <p:cNvSpPr txBox="1"/>
          <p:nvPr/>
        </p:nvSpPr>
        <p:spPr>
          <a:xfrm>
            <a:off x="8458200" y="4206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Δr = +0.137</a:t>
            </a:r>
            <a:endParaRPr/>
          </a:p>
        </p:txBody>
      </p:sp>
      <p:sp>
        <p:nvSpPr>
          <p:cNvPr id="446" name="Google Shape;446;p26"/>
          <p:cNvSpPr/>
          <p:nvPr/>
        </p:nvSpPr>
        <p:spPr>
          <a:xfrm>
            <a:off x="457200" y="5029200"/>
            <a:ext cx="11292840" cy="11887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6"/>
          <p:cNvSpPr txBox="1"/>
          <p:nvPr/>
        </p:nvSpPr>
        <p:spPr>
          <a:xfrm>
            <a:off x="685800" y="51206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/>
          </a:p>
        </p:txBody>
      </p:sp>
      <p:sp>
        <p:nvSpPr>
          <p:cNvPr id="448" name="Google Shape;448;p26"/>
          <p:cNvSpPr txBox="1"/>
          <p:nvPr/>
        </p:nvSpPr>
        <p:spPr>
          <a:xfrm>
            <a:off x="685800" y="5422392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blokk átlagos páronkénti korrelációja magasabb és egységesebb — ez koordináltabb napirend-követésre utal.</a:t>
            </a:r>
            <a:endParaRPr/>
          </a:p>
        </p:txBody>
      </p:sp>
      <p:sp>
        <p:nvSpPr>
          <p:cNvPr id="449" name="Google Shape;449;p26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(A) · Páronkénti Pearson-r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7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/>
          </a:p>
        </p:txBody>
      </p:sp>
      <p:sp>
        <p:nvSpPr>
          <p:cNvPr id="456" name="Google Shape;456;p27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(B) · Portálspecifikus dinamika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57" name="Google Shape;457;p27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Ugyanazon entitások eltérő kezelése a két médiablokkban</a:t>
            </a:r>
            <a:endParaRPr/>
          </a:p>
        </p:txBody>
      </p:sp>
      <p:sp>
        <p:nvSpPr>
          <p:cNvPr id="458" name="Google Shape;458;p27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s14.png" id="459" name="Google Shape;45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786384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27"/>
          <p:cNvSpPr/>
          <p:nvPr/>
        </p:nvSpPr>
        <p:spPr>
          <a:xfrm>
            <a:off x="8412480" y="1371600"/>
            <a:ext cx="3429000" cy="16459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7"/>
          <p:cNvSpPr/>
          <p:nvPr/>
        </p:nvSpPr>
        <p:spPr>
          <a:xfrm>
            <a:off x="8412480" y="1371600"/>
            <a:ext cx="109728" cy="164592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7"/>
          <p:cNvSpPr txBox="1"/>
          <p:nvPr/>
        </p:nvSpPr>
        <p:spPr>
          <a:xfrm>
            <a:off x="8641080" y="146304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SZENTIMENT-ELTÉRÉS</a:t>
            </a:r>
            <a:endParaRPr/>
          </a:p>
        </p:txBody>
      </p:sp>
      <p:sp>
        <p:nvSpPr>
          <p:cNvPr id="463" name="Google Shape;463;p27"/>
          <p:cNvSpPr txBox="1"/>
          <p:nvPr/>
        </p:nvSpPr>
        <p:spPr>
          <a:xfrm>
            <a:off x="8641080" y="178308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11/15</a:t>
            </a:r>
            <a:endParaRPr/>
          </a:p>
        </p:txBody>
      </p:sp>
      <p:sp>
        <p:nvSpPr>
          <p:cNvPr id="464" name="Google Shape;464;p27"/>
          <p:cNvSpPr txBox="1"/>
          <p:nvPr/>
        </p:nvSpPr>
        <p:spPr>
          <a:xfrm>
            <a:off x="8641080" y="26517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entitásnál szignifikáns</a:t>
            </a:r>
            <a:endParaRPr/>
          </a:p>
        </p:txBody>
      </p:sp>
      <p:sp>
        <p:nvSpPr>
          <p:cNvPr id="465" name="Google Shape;465;p27"/>
          <p:cNvSpPr/>
          <p:nvPr/>
        </p:nvSpPr>
        <p:spPr>
          <a:xfrm>
            <a:off x="8412480" y="3154680"/>
            <a:ext cx="3429000" cy="16459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7"/>
          <p:cNvSpPr/>
          <p:nvPr/>
        </p:nvSpPr>
        <p:spPr>
          <a:xfrm>
            <a:off x="8412480" y="3154680"/>
            <a:ext cx="109728" cy="164592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7"/>
          <p:cNvSpPr txBox="1"/>
          <p:nvPr/>
        </p:nvSpPr>
        <p:spPr>
          <a:xfrm>
            <a:off x="8641080" y="32461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VIZUÁLIS ELTÉRÉS</a:t>
            </a:r>
            <a:endParaRPr/>
          </a:p>
        </p:txBody>
      </p:sp>
      <p:sp>
        <p:nvSpPr>
          <p:cNvPr id="468" name="Google Shape;468;p27"/>
          <p:cNvSpPr txBox="1"/>
          <p:nvPr/>
        </p:nvSpPr>
        <p:spPr>
          <a:xfrm>
            <a:off x="8641080" y="356616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14/15</a:t>
            </a:r>
            <a:endParaRPr/>
          </a:p>
        </p:txBody>
      </p:sp>
      <p:sp>
        <p:nvSpPr>
          <p:cNvPr id="469" name="Google Shape;469;p27"/>
          <p:cNvSpPr txBox="1"/>
          <p:nvPr/>
        </p:nvSpPr>
        <p:spPr>
          <a:xfrm>
            <a:off x="8641080" y="44348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entitásnál szignifikáns</a:t>
            </a:r>
            <a:endParaRPr/>
          </a:p>
        </p:txBody>
      </p:sp>
      <p:sp>
        <p:nvSpPr>
          <p:cNvPr id="470" name="Google Shape;470;p27"/>
          <p:cNvSpPr/>
          <p:nvPr/>
        </p:nvSpPr>
        <p:spPr>
          <a:xfrm>
            <a:off x="457200" y="5074920"/>
            <a:ext cx="11292840" cy="118872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7"/>
          <p:cNvSpPr txBox="1"/>
          <p:nvPr/>
        </p:nvSpPr>
        <p:spPr>
          <a:xfrm>
            <a:off x="685800" y="51663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OLVASAT</a:t>
            </a:r>
            <a:endParaRPr/>
          </a:p>
        </p:txBody>
      </p:sp>
      <p:sp>
        <p:nvSpPr>
          <p:cNvPr id="472" name="Google Shape;472;p27"/>
          <p:cNvSpPr txBox="1"/>
          <p:nvPr/>
        </p:nvSpPr>
        <p:spPr>
          <a:xfrm>
            <a:off x="685800" y="5468112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★ jelöli a szignifikáns eltérést. A legtöbb top entitásnál a framing nem csak témában, hanem hangsúlyban is különbözik.</a:t>
            </a:r>
            <a:endParaRPr/>
          </a:p>
        </p:txBody>
      </p:sp>
      <p:sp>
        <p:nvSpPr>
          <p:cNvPr id="473" name="Google Shape;473;p27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(B) · Mann–Whitney U, p &lt; 0.05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2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8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fmla="val 50000" name="adj"/>
            </a:avLst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8275" lIns="45700" spcFirstLastPara="1" rIns="45700" wrap="square" tIns="18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H3</a:t>
            </a:r>
            <a:endParaRPr/>
          </a:p>
        </p:txBody>
      </p:sp>
      <p:sp>
        <p:nvSpPr>
          <p:cNvPr id="480" name="Google Shape;480;p28"/>
          <p:cNvSpPr txBox="1"/>
          <p:nvPr/>
        </p:nvSpPr>
        <p:spPr>
          <a:xfrm>
            <a:off x="457200" y="274320"/>
            <a:ext cx="10424100" cy="4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600" u="none" cap="none" strike="noStrike">
                <a:solidFill>
                  <a:srgbClr val="1E2761"/>
                </a:solidFill>
                <a:latin typeface="Lora SemiBold"/>
                <a:ea typeface="Lora SemiBold"/>
                <a:cs typeface="Lora SemiBold"/>
                <a:sym typeface="Lora SemiBold"/>
              </a:rPr>
              <a:t>H3 Verdikt · Összességében támogatott</a:t>
            </a:r>
            <a:endParaRPr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481" name="Google Shape;481;p28"/>
          <p:cNvSpPr txBox="1"/>
          <p:nvPr/>
        </p:nvSpPr>
        <p:spPr>
          <a:xfrm>
            <a:off x="475488" y="841248"/>
            <a:ext cx="10424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A napirend és a framing is blokklogikát követ.</a:t>
            </a:r>
            <a:endParaRPr/>
          </a:p>
        </p:txBody>
      </p:sp>
      <p:sp>
        <p:nvSpPr>
          <p:cNvPr id="482" name="Google Shape;482;p28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8"/>
          <p:cNvSpPr/>
          <p:nvPr/>
        </p:nvSpPr>
        <p:spPr>
          <a:xfrm>
            <a:off x="457200" y="1417320"/>
            <a:ext cx="3672840" cy="2743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8"/>
          <p:cNvSpPr/>
          <p:nvPr/>
        </p:nvSpPr>
        <p:spPr>
          <a:xfrm>
            <a:off x="457200" y="1417320"/>
            <a:ext cx="3672840" cy="91440"/>
          </a:xfrm>
          <a:prstGeom prst="rect">
            <a:avLst/>
          </a:prstGeom>
          <a:solidFill>
            <a:srgbClr val="C754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8"/>
          <p:cNvSpPr txBox="1"/>
          <p:nvPr/>
        </p:nvSpPr>
        <p:spPr>
          <a:xfrm>
            <a:off x="685800" y="1600200"/>
            <a:ext cx="3215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(A)  </a:t>
            </a:r>
            <a:r>
              <a:rPr b="1" i="0" lang="en-US" sz="1050" u="none" cap="none" strike="noStrike">
                <a:solidFill>
                  <a:srgbClr val="C75450"/>
                </a:solidFill>
                <a:latin typeface="Calibri"/>
                <a:ea typeface="Calibri"/>
                <a:cs typeface="Calibri"/>
                <a:sym typeface="Calibri"/>
              </a:rPr>
              <a:t>BELSŐ SZINKRONITÁS</a:t>
            </a:r>
            <a:endParaRPr/>
          </a:p>
        </p:txBody>
      </p:sp>
      <p:sp>
        <p:nvSpPr>
          <p:cNvPr id="486" name="Google Shape;486;p28"/>
          <p:cNvSpPr txBox="1"/>
          <p:nvPr/>
        </p:nvSpPr>
        <p:spPr>
          <a:xfrm>
            <a:off x="685800" y="2057400"/>
            <a:ext cx="3215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+0.137</a:t>
            </a:r>
            <a:endParaRPr/>
          </a:p>
        </p:txBody>
      </p:sp>
      <p:sp>
        <p:nvSpPr>
          <p:cNvPr id="487" name="Google Shape;487;p28"/>
          <p:cNvSpPr txBox="1"/>
          <p:nvPr/>
        </p:nvSpPr>
        <p:spPr>
          <a:xfrm>
            <a:off x="685800" y="2834640"/>
            <a:ext cx="3215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Δr</a:t>
            </a:r>
            <a:endParaRPr/>
          </a:p>
        </p:txBody>
      </p:sp>
      <p:sp>
        <p:nvSpPr>
          <p:cNvPr id="488" name="Google Shape;488;p28"/>
          <p:cNvSpPr txBox="1"/>
          <p:nvPr/>
        </p:nvSpPr>
        <p:spPr>
          <a:xfrm>
            <a:off x="685800" y="3154680"/>
            <a:ext cx="3215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kormányközeli blokk átlagos páronkénti korrelációja magasabb és egységesebb (0.686 vs. 0.548).</a:t>
            </a:r>
            <a:endParaRPr/>
          </a:p>
        </p:txBody>
      </p:sp>
      <p:sp>
        <p:nvSpPr>
          <p:cNvPr id="489" name="Google Shape;489;p28"/>
          <p:cNvSpPr/>
          <p:nvPr/>
        </p:nvSpPr>
        <p:spPr>
          <a:xfrm>
            <a:off x="4221480" y="1417320"/>
            <a:ext cx="3672840" cy="2743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8"/>
          <p:cNvSpPr/>
          <p:nvPr/>
        </p:nvSpPr>
        <p:spPr>
          <a:xfrm>
            <a:off x="4221480" y="1417320"/>
            <a:ext cx="3672840" cy="91440"/>
          </a:xfrm>
          <a:prstGeom prst="rect">
            <a:avLst/>
          </a:prstGeom>
          <a:solidFill>
            <a:srgbClr val="4A89C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8"/>
          <p:cNvSpPr txBox="1"/>
          <p:nvPr/>
        </p:nvSpPr>
        <p:spPr>
          <a:xfrm>
            <a:off x="4450080" y="1600200"/>
            <a:ext cx="3215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US" sz="1050" u="none" cap="none" strike="noStrike">
                <a:solidFill>
                  <a:srgbClr val="4A89C5"/>
                </a:solidFill>
                <a:latin typeface="Calibri"/>
                <a:ea typeface="Calibri"/>
                <a:cs typeface="Calibri"/>
                <a:sym typeface="Calibri"/>
              </a:rPr>
              <a:t>SZENTIMENT-ELTÉRÉS</a:t>
            </a:r>
            <a:endParaRPr/>
          </a:p>
        </p:txBody>
      </p:sp>
      <p:sp>
        <p:nvSpPr>
          <p:cNvPr id="492" name="Google Shape;492;p28"/>
          <p:cNvSpPr txBox="1"/>
          <p:nvPr/>
        </p:nvSpPr>
        <p:spPr>
          <a:xfrm>
            <a:off x="4450080" y="2057400"/>
            <a:ext cx="3215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11/15</a:t>
            </a:r>
            <a:endParaRPr/>
          </a:p>
        </p:txBody>
      </p:sp>
      <p:sp>
        <p:nvSpPr>
          <p:cNvPr id="493" name="Google Shape;493;p28"/>
          <p:cNvSpPr txBox="1"/>
          <p:nvPr/>
        </p:nvSpPr>
        <p:spPr>
          <a:xfrm>
            <a:off x="4450080" y="2834640"/>
            <a:ext cx="3215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</a:t>
            </a:r>
            <a:endParaRPr/>
          </a:p>
        </p:txBody>
      </p:sp>
      <p:sp>
        <p:nvSpPr>
          <p:cNvPr id="494" name="Google Shape;494;p28"/>
          <p:cNvSpPr txBox="1"/>
          <p:nvPr/>
        </p:nvSpPr>
        <p:spPr>
          <a:xfrm>
            <a:off x="4450080" y="3154680"/>
            <a:ext cx="3215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top entitások többségénél szignifikánsan eltér a hangnem a két blokk között.</a:t>
            </a:r>
            <a:endParaRPr/>
          </a:p>
        </p:txBody>
      </p:sp>
      <p:sp>
        <p:nvSpPr>
          <p:cNvPr id="495" name="Google Shape;495;p28"/>
          <p:cNvSpPr/>
          <p:nvPr/>
        </p:nvSpPr>
        <p:spPr>
          <a:xfrm>
            <a:off x="7985759" y="1417320"/>
            <a:ext cx="3672840" cy="274320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8"/>
          <p:cNvSpPr/>
          <p:nvPr/>
        </p:nvSpPr>
        <p:spPr>
          <a:xfrm>
            <a:off x="7985759" y="1417320"/>
            <a:ext cx="3672840" cy="9144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8"/>
          <p:cNvSpPr txBox="1"/>
          <p:nvPr/>
        </p:nvSpPr>
        <p:spPr>
          <a:xfrm>
            <a:off x="8214359" y="1600200"/>
            <a:ext cx="3215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(B)  </a:t>
            </a:r>
            <a:r>
              <a:rPr b="1" i="0" lang="en-US" sz="105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VIZUÁLIS ELTÉRÉS</a:t>
            </a:r>
            <a:endParaRPr/>
          </a:p>
        </p:txBody>
      </p:sp>
      <p:sp>
        <p:nvSpPr>
          <p:cNvPr id="498" name="Google Shape;498;p28"/>
          <p:cNvSpPr txBox="1"/>
          <p:nvPr/>
        </p:nvSpPr>
        <p:spPr>
          <a:xfrm>
            <a:off x="8214359" y="2057400"/>
            <a:ext cx="32156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14/15</a:t>
            </a:r>
            <a:endParaRPr/>
          </a:p>
        </p:txBody>
      </p:sp>
      <p:sp>
        <p:nvSpPr>
          <p:cNvPr id="499" name="Google Shape;499;p28"/>
          <p:cNvSpPr txBox="1"/>
          <p:nvPr/>
        </p:nvSpPr>
        <p:spPr>
          <a:xfrm>
            <a:off x="8214359" y="2834640"/>
            <a:ext cx="3215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entitás</a:t>
            </a:r>
            <a:endParaRPr/>
          </a:p>
        </p:txBody>
      </p:sp>
      <p:sp>
        <p:nvSpPr>
          <p:cNvPr id="500" name="Google Shape;500;p28"/>
          <p:cNvSpPr txBox="1"/>
          <p:nvPr/>
        </p:nvSpPr>
        <p:spPr>
          <a:xfrm>
            <a:off x="8214359" y="3154680"/>
            <a:ext cx="32156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top entitások szinte mindegyikénél eltér a főoldali hangsúly is.</a:t>
            </a:r>
            <a:endParaRPr/>
          </a:p>
        </p:txBody>
      </p:sp>
      <p:sp>
        <p:nvSpPr>
          <p:cNvPr id="501" name="Google Shape;501;p28"/>
          <p:cNvSpPr/>
          <p:nvPr/>
        </p:nvSpPr>
        <p:spPr>
          <a:xfrm>
            <a:off x="457200" y="4343400"/>
            <a:ext cx="11292840" cy="1234440"/>
          </a:xfrm>
          <a:prstGeom prst="roundRect">
            <a:avLst>
              <a:gd fmla="val 5000" name="adj"/>
            </a:avLst>
          </a:prstGeom>
          <a:solidFill>
            <a:srgbClr val="1E2761"/>
          </a:solidFill>
          <a:ln cap="flat" cmpd="sng" w="9525">
            <a:solidFill>
              <a:srgbClr val="1E276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731520" y="446227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4AF37"/>
                </a:solidFill>
                <a:latin typeface="Calibri"/>
                <a:ea typeface="Calibri"/>
                <a:cs typeface="Calibri"/>
                <a:sym typeface="Calibri"/>
              </a:rPr>
              <a:t>ÖSSZESÍTETT KÖVETKEZTETÉS</a:t>
            </a:r>
            <a:endParaRPr/>
          </a:p>
        </p:txBody>
      </p:sp>
      <p:sp>
        <p:nvSpPr>
          <p:cNvPr id="503" name="Google Shape;503;p28"/>
          <p:cNvSpPr txBox="1"/>
          <p:nvPr/>
        </p:nvSpPr>
        <p:spPr>
          <a:xfrm>
            <a:off x="731520" y="4754880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napirend és a framing is blokklogikát követ — a kormányközeli portálok koordináltabbak, a közös entitások kezelése portálspecifikus.</a:t>
            </a:r>
            <a:endParaRPr/>
          </a:p>
        </p:txBody>
      </p:sp>
      <p:sp>
        <p:nvSpPr>
          <p:cNvPr id="504" name="Google Shape;504;p28"/>
          <p:cNvSpPr/>
          <p:nvPr/>
        </p:nvSpPr>
        <p:spPr>
          <a:xfrm>
            <a:off x="457200" y="5715000"/>
            <a:ext cx="11292840" cy="777240"/>
          </a:xfrm>
          <a:prstGeom prst="roundRect">
            <a:avLst>
              <a:gd fmla="val 5000" name="adj"/>
            </a:avLst>
          </a:prstGeom>
          <a:solidFill>
            <a:srgbClr val="EAEEF9"/>
          </a:solidFill>
          <a:ln cap="flat" cmpd="sng" w="9525">
            <a:solidFill>
              <a:srgbClr val="D6DB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8"/>
          <p:cNvSpPr txBox="1"/>
          <p:nvPr/>
        </p:nvSpPr>
        <p:spPr>
          <a:xfrm>
            <a:off x="685800" y="5806440"/>
            <a:ext cx="1371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KORLÁTOK</a:t>
            </a:r>
            <a:endParaRPr/>
          </a:p>
        </p:txBody>
      </p:sp>
      <p:sp>
        <p:nvSpPr>
          <p:cNvPr id="506" name="Google Shape;506;p28"/>
          <p:cNvSpPr txBox="1"/>
          <p:nvPr/>
        </p:nvSpPr>
        <p:spPr>
          <a:xfrm>
            <a:off x="2011680" y="580644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1A1D2B"/>
                </a:solidFill>
                <a:latin typeface="Calibri"/>
                <a:ea typeface="Calibri"/>
                <a:cs typeface="Calibri"/>
                <a:sym typeface="Calibri"/>
              </a:rPr>
              <a:t>A Δr-különbség heurisztikus; a sok teszt miatt többszörös összehasonlítási korrekció is indokolt lehet.</a:t>
            </a:r>
            <a:endParaRPr/>
          </a:p>
        </p:txBody>
      </p:sp>
      <p:sp>
        <p:nvSpPr>
          <p:cNvPr id="507" name="Google Shape;507;p28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 u="none" cap="none" strike="noStrike">
                <a:solidFill>
                  <a:srgbClr val="646B7E"/>
                </a:solidFill>
                <a:latin typeface="Calibri"/>
                <a:ea typeface="Calibri"/>
                <a:cs typeface="Calibri"/>
                <a:sym typeface="Calibri"/>
              </a:rPr>
              <a:t>Médiapolarizáció · H3 · Verdikt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00" rIns="45700" tIns="18275" bIns="18275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4241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E2761"/>
                </a:solidFill>
                <a:latin typeface="Lora SemiBold"/>
              </a:rPr>
              <a:t>Kontraszt — Médiaviselkedés a figyelemgazdaságban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841248"/>
            <a:ext cx="1042416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46B7E"/>
                </a:solidFill>
                <a:latin typeface="Calibri"/>
              </a:rPr>
              <a:t>A magyar online hírportálok címlapjainak empirikus vizsgálata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90000"/>
            <a:ext cx="5509260" cy="240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4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MIRŐL SZÓL EZ A KUTATÁS?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0000"/>
            <a:ext cx="5052060" cy="18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1A1D2B"/>
                </a:solidFill>
                <a:latin typeface="Calibri"/>
              </a:rPr>
              <a:t>A figyelem a digitális médiatér legszűkösebb erőforrása (Simon, Goldhaber). A hírportálok nem pusztán információt közölnek: vizuális hierarchiával, kiemeléssel és érzelmi tónussal versenyeznek az olvasó figyelméért.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1A1D2B"/>
                </a:solidFill>
                <a:latin typeface="Calibri"/>
              </a:rPr>
              <a:t>Ez a projekt a figyelemgazdaság kínálati oldalát méri – azt, hogy a szerkesztőség mely híreket próbálja figyelemre méltóvá tenni, nem azt, hogy az olvasó ténylegesen mire kattint.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90000"/>
            <a:ext cx="5509260" cy="240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154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KUTATÁSI KÉRDÉS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1840000"/>
            <a:ext cx="5052060" cy="18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FFFFF"/>
                </a:solidFill>
                <a:latin typeface="Lora SemiBold"/>
              </a:rPr>
              <a:t>Hogyan tükrözi a magyar online hírportálok szerkesztési gyakorlata — vizuális hangsúllyal és érzelmi töltettel — a választási kampány dinamikáját, és mennyire mutatnak homogén képet az egyes politikai szereplők megjelenítésében?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50000"/>
            <a:ext cx="3596640" cy="14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4250000"/>
            <a:ext cx="430000" cy="43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50000"/>
            <a:ext cx="430000" cy="4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7200" y="4270000"/>
            <a:ext cx="26466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POLARIZÁCIÓ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70000"/>
            <a:ext cx="3139440" cy="6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A kormányközeli és független portálok eltérő szentimenttel és vizuális súllyal jelenítik meg ugyanazokat a politikai szereplőket.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2440" y="4050000"/>
            <a:ext cx="3596640" cy="14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11040" y="4250000"/>
            <a:ext cx="430000" cy="43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1040" y="4250000"/>
            <a:ext cx="430000" cy="4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2440" y="4270000"/>
            <a:ext cx="26466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VIZUÁLIS HANGSÚLY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1040" y="4770000"/>
            <a:ext cx="3139440" cy="6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A negatív címsorok átlagosan magasabb fontossági pontszámot kapnak, mint a semlegesek.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7680" y="4050000"/>
            <a:ext cx="3596640" cy="14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36280" y="4250000"/>
            <a:ext cx="430000" cy="43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6280" y="4250000"/>
            <a:ext cx="430000" cy="4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7680" y="4270000"/>
            <a:ext cx="26466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NAPIREND-KIJELÖLÉS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4770000"/>
            <a:ext cx="3139440" cy="6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A kulcsszereplők megjelenése időben korrelál a portálok között, de a dinamika portálspecifikus.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38000"/>
            <a:ext cx="1124712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6B7E"/>
                </a:solidFill>
                <a:latin typeface="Calibri"/>
              </a:rPr>
              <a:t>Médiakutatás · Bevezető · projekt célja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00" rIns="45700" tIns="18275" bIns="18275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4241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E2761"/>
                </a:solidFill>
                <a:latin typeface="Lora SemiBold"/>
              </a:rPr>
              <a:t>Adatgyűjtés I. — Főoldali scraper (kontraszt)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841248"/>
            <a:ext cx="1042416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46B7E"/>
                </a:solidFill>
                <a:latin typeface="Calibri"/>
              </a:rPr>
              <a:t>21 magyar hírportál óránkénti címlap-mérése — Playwright + Crawlee + Convex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90000"/>
            <a:ext cx="3596640" cy="22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40000"/>
            <a:ext cx="31394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CÉL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0000"/>
            <a:ext cx="313944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D2B"/>
                </a:solidFill>
                <a:latin typeface="Calibri"/>
              </a:rPr>
              <a:t>A 21 legolvasottabb magyar hírportál főoldali szalagcímeinek és vizuális paramétereinek óránkénti rögzítése — ez adja a figyelem kínálati oldalának nyers mérőszámait.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2440" y="1390000"/>
            <a:ext cx="3596640" cy="22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1540000"/>
            <a:ext cx="31394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TECHNOLÓGIA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1840000"/>
            <a:ext cx="313944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Playwright + Crawlee (TS)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i="0">
                <a:solidFill>
                  <a:srgbClr val="1A1D2B"/>
                </a:solidFill>
                <a:latin typeface="Calibri"/>
              </a:rPr>
              <a:t>valódi böngésző — JS-sel betöltődő címek, pontos DOM-geometria.</a:t>
            </a:r>
          </a:p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Convex backend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0" i="0">
                <a:solidFill>
                  <a:srgbClr val="1A1D2B"/>
                </a:solidFill>
                <a:latin typeface="Calibri"/>
              </a:rPr>
              <a:t>típusos séma, real-time szinkronizáció.</a:t>
            </a:r>
          </a:p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E2761"/>
                </a:solidFill>
                <a:latin typeface="Calibri"/>
              </a:rPr>
              <a:t>Docker Compose + cron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óránkénti futás, webhook indítja az LLM-szolgáltatást.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7680" y="1390000"/>
            <a:ext cx="3596640" cy="22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6280" y="1540000"/>
            <a:ext cx="313944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PORTÁLOK (21 DB)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280" y="1840000"/>
            <a:ext cx="3139440" cy="1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1A1D2B"/>
                </a:solidFill>
                <a:latin typeface="Calibri"/>
              </a:rPr>
              <a:t>Telex · Origo · Blikk · 24.hu · Index · BorsOnline · 444.hu · Magyar Nemzet · Ripost · HVG · ATV · Hirado.hu · Metropol · Nepszava · Mandiner · PestiSracok · Napi · Valasz Online · Vilaggazdasag · Portfolio · Magyar Hang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00000"/>
            <a:ext cx="5509260" cy="220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5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KÉT TÁBLA · CONVEX/SCHEMA.TS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0000"/>
            <a:ext cx="5052060" cy="16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headlineDefinitions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hashedId (SHA1 a URL-ből) · siteName · headlineText · href</a:t>
            </a:r>
          </a:p>
          <a:p>
            <a:pPr>
              <a:spcAft>
                <a:spcPts val="400"/>
              </a:spcAft>
            </a:pPr>
          </a:p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headlines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hashedId · score · fontSize · width · height · x · y · scrapedAt</a:t>
            </a:r>
          </a:p>
          <a:p>
            <a:pPr>
              <a:spcAft>
                <a:spcPts val="600"/>
              </a:spcAft>
            </a:pPr>
          </a:p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646B7E"/>
                </a:solidFill>
                <a:latin typeface="Calibri"/>
              </a:rPr>
              <a:t>Cím = definíció (1×), megjelenés = snapshot (N× óránként).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5060" y="3900000"/>
            <a:ext cx="5509260" cy="220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3660" y="405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VIZUÁLIS „FONTOSSÁGI PONTSZÁM” ·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4360000"/>
            <a:ext cx="5052060" cy="16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FFFFF"/>
                </a:solidFill>
                <a:latin typeface="Lora SemiBold"/>
              </a:rPr>
              <a:t>score = 100 · fontSize + 0.1 · area − 6y − 3.5x − 4 · x · max(0, 1 − y/600)</a:t>
            </a:r>
          </a:p>
          <a:p>
            <a:pPr>
              <a:spcAft>
                <a:spcPts val="600"/>
              </a:spcAft>
            </a:p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+ nagy betű és nagy terület → több figyelem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− lejjebb / jobbra → kisebb hangsúly (a szem balra fent kezd)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− jobb felső büntetés csak a top zónára (y &lt; 600 px) — a reklámhelyek kiszűrésére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8000"/>
            <a:ext cx="1124712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6B7E"/>
                </a:solidFill>
                <a:latin typeface="Calibri"/>
              </a:rPr>
              <a:t>Médiakutatás · Adatgyűjtés I. · Scraper (kontraszt)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018520" y="365760"/>
            <a:ext cx="868680" cy="41148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00" rIns="45700" tIns="18275" bIns="18275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424100" cy="5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E2761"/>
                </a:solidFill>
                <a:latin typeface="Lora SemiBold"/>
              </a:rPr>
              <a:t>Adatgyűjtés II. — LLM-elemzés (kontraszt-llm_service)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841248"/>
            <a:ext cx="10424160" cy="4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46B7E"/>
                </a:solidFill>
                <a:latin typeface="Calibri"/>
              </a:rPr>
              <a:t>Strukturált szemantikai annotáció headline-onként — JSON schema kényszerítéssel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07008"/>
            <a:ext cx="11247120" cy="9525"/>
          </a:xfrm>
          <a:prstGeom prst="rect">
            <a:avLst/>
          </a:prstGeom>
          <a:solidFill>
            <a:srgbClr val="D6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90000"/>
            <a:ext cx="5509260" cy="180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4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CÉL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0000"/>
            <a:ext cx="5052060" cy="1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D2B"/>
                </a:solidFill>
                <a:latin typeface="Calibri"/>
              </a:rPr>
              <a:t>Minden új headline-hoz strukturált szemantikai annotáció készítése: szentiment, entitások, címke — ezek a H1–H3 hipotézisek magyarázó változói.</a:t>
            </a:r>
          </a:p>
          <a:p>
            <a:pPr>
              <a:spcAft>
                <a:spcPts val="600"/>
              </a:spcAft>
            </a:pPr>
          </a:p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Kulcs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hashedId — közvetlenül csatlakoztatható a headlineDefinitions-hoz.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90000"/>
            <a:ext cx="5509260" cy="180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1540000"/>
            <a:ext cx="505206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1840000"/>
            <a:ext cx="5052060" cy="1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Scraper Convex  →  webhook  →  LLM-service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LLM-service  →  batch  →  Kilo API (OpenAI-kompatibilis)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Kilo  →  JSON-Schema válasz  →  Target Convex · llmAnalysis</a:t>
            </a:r>
          </a:p>
          <a:p>
            <a:pPr>
              <a:spcAft>
                <a:spcPts val="400"/>
              </a:spcAft>
            </a:pP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EAEEF9"/>
                </a:solidFill>
                <a:latin typeface="Calibri"/>
              </a:rPr>
              <a:t>Node.js · POST /webhook/scrape-complete · SOURCE_PAGE_SIZE=200 · CONVEX_SAVE_BATCH_SIZE=200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50000"/>
            <a:ext cx="6748272" cy="24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00000"/>
            <a:ext cx="629107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MEZŐK · HEADLINE-ONKÉNT — JSON 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00000"/>
            <a:ext cx="6291072" cy="1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label</a:t>
            </a:r>
            <a:r>
              <a:rPr sz="1050" b="0" i="1">
                <a:solidFill>
                  <a:srgbClr val="646B7E"/>
                </a:solidFill>
                <a:latin typeface="Calibri"/>
              </a:rPr>
              <a:t>   · string · </a:t>
            </a:r>
            <a:r>
              <a:rPr sz="1050" b="0" i="0">
                <a:solidFill>
                  <a:srgbClr val="1A1D2B"/>
                </a:solidFill>
                <a:latin typeface="Calibri"/>
              </a:rPr>
              <a:t>tematikus címke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sentiment</a:t>
            </a:r>
            <a:r>
              <a:rPr sz="1050" b="0" i="1">
                <a:solidFill>
                  <a:srgbClr val="646B7E"/>
                </a:solidFill>
                <a:latin typeface="Calibri"/>
              </a:rPr>
              <a:t>   · string · </a:t>
            </a:r>
            <a:r>
              <a:rPr sz="1050" b="0" i="0">
                <a:solidFill>
                  <a:srgbClr val="1A1D2B"/>
                </a:solidFill>
                <a:latin typeface="Calibri"/>
              </a:rPr>
              <a:t>negatív / semleges / pozitív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sentiment_score</a:t>
            </a:r>
            <a:r>
              <a:rPr sz="1050" b="0" i="1">
                <a:solidFill>
                  <a:srgbClr val="646B7E"/>
                </a:solidFill>
                <a:latin typeface="Calibri"/>
              </a:rPr>
              <a:t>   · float 0–1 · </a:t>
            </a:r>
            <a:r>
              <a:rPr sz="1050" b="0" i="0">
                <a:solidFill>
                  <a:srgbClr val="1A1D2B"/>
                </a:solidFill>
                <a:latin typeface="Calibri"/>
              </a:rPr>
              <a:t>0 = negatív, 1 = pozitív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entities</a:t>
            </a:r>
            <a:r>
              <a:rPr sz="1050" b="0" i="1">
                <a:solidFill>
                  <a:srgbClr val="646B7E"/>
                </a:solidFill>
                <a:latin typeface="Calibri"/>
              </a:rPr>
              <a:t>   · string[] · </a:t>
            </a:r>
            <a:r>
              <a:rPr sz="1050" b="0" i="0">
                <a:solidFill>
                  <a:srgbClr val="1A1D2B"/>
                </a:solidFill>
                <a:latin typeface="Calibri"/>
              </a:rPr>
              <a:t>szereplők, szervezetek (pl. „Orbán Viktor”)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confidence</a:t>
            </a:r>
            <a:r>
              <a:rPr sz="1050" b="0" i="1">
                <a:solidFill>
                  <a:srgbClr val="646B7E"/>
                </a:solidFill>
                <a:latin typeface="Calibri"/>
              </a:rPr>
              <a:t>   · float 0–1 · </a:t>
            </a:r>
            <a:r>
              <a:rPr sz="1050" b="0" i="0">
                <a:solidFill>
                  <a:srgbClr val="1A1D2B"/>
                </a:solidFill>
                <a:latin typeface="Calibri"/>
              </a:rPr>
              <a:t>modell önbizalma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34072" y="3450000"/>
            <a:ext cx="4270248" cy="2450000"/>
          </a:xfrm>
          <a:prstGeom prst="roundRect">
            <a:avLst>
              <a:gd name="adj" fmla="val 8000"/>
            </a:avLst>
          </a:prstGeom>
          <a:solidFill>
            <a:srgbClr val="EA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62672" y="3600000"/>
            <a:ext cx="3813048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75450"/>
                </a:solidFill>
                <a:latin typeface="Calibri"/>
              </a:rPr>
              <a:t>MEGBÍZHATÓSÁG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2" y="3900000"/>
            <a:ext cx="3813048" cy="1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JSON Schema response format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0" i="0">
                <a:solidFill>
                  <a:srgbClr val="1A1D2B"/>
                </a:solidFill>
                <a:latin typeface="Calibri"/>
              </a:rPr>
              <a:t>nincs parsing-hiba — a modell kötött séma szerint ad választ.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Retry logika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0" i="0">
                <a:solidFill>
                  <a:srgbClr val="1A1D2B"/>
                </a:solidFill>
                <a:latin typeface="Calibri"/>
              </a:rPr>
              <a:t>max 3 kísérlet batchenként.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2761"/>
                </a:solidFill>
                <a:latin typeface="Calibri"/>
              </a:rPr>
              <a:t>Pointer-alapú szinkronizáció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D2B"/>
                </a:solidFill>
                <a:latin typeface="Calibri"/>
              </a:rPr>
              <a:t>SYNC_STATE_KEY — sosem dolgoz fel kétszer ugyanazt a headline-t.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8000"/>
            <a:ext cx="1124712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6B7E"/>
                </a:solidFill>
                <a:latin typeface="Calibri"/>
              </a:rPr>
              <a:t>Médiakutatás · Adatgyűjtés II. · LLM-elemzés (kontraszt-llm_service)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