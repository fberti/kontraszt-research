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5"/>
    <p:sldMasterId id="214748367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y="5143500" cx="9144000"/>
  <p:notesSz cx="6858000" cy="9144000"/>
  <p:embeddedFontLst>
    <p:embeddedFont>
      <p:font typeface="Lora SemiBold"/>
      <p:regular r:id="rId27"/>
      <p:bold r:id="rId28"/>
      <p:italic r:id="rId29"/>
      <p:boldItalic r:id="rId3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2B4F9B2-E791-447A-981E-08FD4EC66F5B}">
  <a:tblStyle styleId="{02B4F9B2-E791-447A-981E-08FD4EC66F5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font" Target="fonts/LoraSemiBold-bold.fntdata"/><Relationship Id="rId27" Type="http://schemas.openxmlformats.org/officeDocument/2006/relationships/font" Target="fonts/LoraSemiBold-regular.fntdata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29" Type="http://schemas.openxmlformats.org/officeDocument/2006/relationships/font" Target="fonts/LoraSemiBold-italic.fntdata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0" Type="http://schemas.openxmlformats.org/officeDocument/2006/relationships/font" Target="fonts/LoraSemiBold-boldItalic.fntdata"/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d8dc921bc3_2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7" name="Google Shape;127;g3d8dc921bc3_2_75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d8dc921bc3_2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g3d8dc921bc3_2_92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d8dc921bc3_2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g3d8dc921bc3_2_122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d8dc921bc3_2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g3d8dc921bc3_2_146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d8dc921bc3_2_1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3" name="Google Shape;223;g3d8dc921bc3_2_167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d8dc921bc3_2_2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59" name="Google Shape;259;g3d8dc921bc3_2_202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3d8dc921bc3_2_2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85" name="Google Shape;285;g3d8dc921bc3_2_227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g3d8dc921bc3_2_2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19" name="Google Shape;319;g3d8dc921bc3_2_260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3d8dc921bc3_2_2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39" name="Google Shape;339;g3d8dc921bc3_2_279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g3d8dc921bc3_2_3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69" name="Google Shape;369;g3d8dc921bc3_2_308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3d8dc921bc3_2_3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00" name="Google Shape;400;g3d8dc921bc3_2_338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g3d8dc921bc3_2_3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28" name="Google Shape;428;g3d8dc921bc3_2_365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g3d8dc921bc3_2_3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55" name="Google Shape;455;g3d8dc921bc3_2_391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g3d8dc921bc3_2_4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70" name="Google Shape;470;g3d8dc921bc3_2_405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8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g3d8dc921bc3_2_4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00" name="Google Shape;500;g3d8dc921bc3_2_434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2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g3d8dc921bc3_2_4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24" name="Google Shape;524;g3d8dc921bc3_2_457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7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g3d8dc921bc3_2_4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49" name="Google Shape;549;g3d8dc921bc3_2_481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4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g3d8dc921bc3_2_5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76" name="Google Shape;576;g3d8dc921bc3_2_507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8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g3d8dc921bc3_2_5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00" name="Google Shape;600;g3d8dc921bc3_2_530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/>
          <p:nvPr>
            <p:ph type="ctrTitle"/>
          </p:nvPr>
        </p:nvSpPr>
        <p:spPr>
          <a:xfrm>
            <a:off x="514364" y="1597819"/>
            <a:ext cx="5829455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2" name="Google Shape;62;p15"/>
          <p:cNvSpPr txBox="1"/>
          <p:nvPr>
            <p:ph idx="1" type="subTitle"/>
          </p:nvPr>
        </p:nvSpPr>
        <p:spPr>
          <a:xfrm>
            <a:off x="1028727" y="2914650"/>
            <a:ext cx="4800728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63" name="Google Shape;63;p15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/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342909" y="1200150"/>
            <a:ext cx="6172365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9" name="Google Shape;69;p16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/>
          <p:nvPr>
            <p:ph type="title"/>
          </p:nvPr>
        </p:nvSpPr>
        <p:spPr>
          <a:xfrm>
            <a:off x="541749" y="3305175"/>
            <a:ext cx="5829455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b="1" sz="3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1" type="body"/>
          </p:nvPr>
        </p:nvSpPr>
        <p:spPr>
          <a:xfrm>
            <a:off x="541749" y="2180035"/>
            <a:ext cx="5829455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5" name="Google Shape;75;p17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" type="body"/>
          </p:nvPr>
        </p:nvSpPr>
        <p:spPr>
          <a:xfrm>
            <a:off x="342909" y="1200150"/>
            <a:ext cx="3029031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81" name="Google Shape;81;p18"/>
          <p:cNvSpPr txBox="1"/>
          <p:nvPr>
            <p:ph idx="2" type="body"/>
          </p:nvPr>
        </p:nvSpPr>
        <p:spPr>
          <a:xfrm>
            <a:off x="3486243" y="1200150"/>
            <a:ext cx="3029031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82" name="Google Shape;82;p18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" name="Google Shape;84;p18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9"/>
          <p:cNvSpPr txBox="1"/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7" name="Google Shape;87;p19"/>
          <p:cNvSpPr txBox="1"/>
          <p:nvPr>
            <p:ph idx="1" type="body"/>
          </p:nvPr>
        </p:nvSpPr>
        <p:spPr>
          <a:xfrm>
            <a:off x="342909" y="1151335"/>
            <a:ext cx="3030222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8" name="Google Shape;88;p19"/>
          <p:cNvSpPr txBox="1"/>
          <p:nvPr>
            <p:ph idx="2" type="body"/>
          </p:nvPr>
        </p:nvSpPr>
        <p:spPr>
          <a:xfrm>
            <a:off x="342909" y="1631156"/>
            <a:ext cx="3030222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89" name="Google Shape;89;p19"/>
          <p:cNvSpPr txBox="1"/>
          <p:nvPr>
            <p:ph idx="3" type="body"/>
          </p:nvPr>
        </p:nvSpPr>
        <p:spPr>
          <a:xfrm>
            <a:off x="3483862" y="1151335"/>
            <a:ext cx="3031412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90" name="Google Shape;90;p19"/>
          <p:cNvSpPr txBox="1"/>
          <p:nvPr>
            <p:ph idx="4" type="body"/>
          </p:nvPr>
        </p:nvSpPr>
        <p:spPr>
          <a:xfrm>
            <a:off x="3483862" y="1631156"/>
            <a:ext cx="3031412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91" name="Google Shape;91;p19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/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6" name="Google Shape;96;p20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42909" y="204788"/>
            <a:ext cx="2256295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2681359" y="204788"/>
            <a:ext cx="3833915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indent="-3238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indent="-32385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342909" y="1076325"/>
            <a:ext cx="2256295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1344252" y="3600450"/>
            <a:ext cx="411491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1344252" y="459581"/>
            <a:ext cx="411491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1344252" y="4025503"/>
            <a:ext cx="411491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1731856" y="-188796"/>
            <a:ext cx="3394472" cy="617236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3549407" y="1628755"/>
            <a:ext cx="4388644" cy="154309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406073" y="142815"/>
            <a:ext cx="4388644" cy="451497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42909" y="1200150"/>
            <a:ext cx="6172365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8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41B44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/>
          <p:nvPr/>
        </p:nvSpPr>
        <p:spPr>
          <a:xfrm>
            <a:off x="0" y="0"/>
            <a:ext cx="342909" cy="5143500"/>
          </a:xfrm>
          <a:prstGeom prst="rect">
            <a:avLst/>
          </a:prstGeom>
          <a:solidFill>
            <a:srgbClr val="C7545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25"/>
          <p:cNvSpPr/>
          <p:nvPr/>
        </p:nvSpPr>
        <p:spPr>
          <a:xfrm>
            <a:off x="7635302" y="3530400"/>
            <a:ext cx="1508700" cy="1613100"/>
          </a:xfrm>
          <a:prstGeom prst="rect">
            <a:avLst/>
          </a:prstGeom>
          <a:solidFill>
            <a:srgbClr val="26306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25"/>
          <p:cNvSpPr/>
          <p:nvPr/>
        </p:nvSpPr>
        <p:spPr>
          <a:xfrm>
            <a:off x="7955492" y="0"/>
            <a:ext cx="1186466" cy="1714500"/>
          </a:xfrm>
          <a:prstGeom prst="rect">
            <a:avLst/>
          </a:prstGeom>
          <a:solidFill>
            <a:srgbClr val="26306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25"/>
          <p:cNvSpPr txBox="1"/>
          <p:nvPr/>
        </p:nvSpPr>
        <p:spPr>
          <a:xfrm>
            <a:off x="754400" y="662940"/>
            <a:ext cx="6858300" cy="1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GB" sz="900" u="none" cap="none" strike="noStrike">
                <a:solidFill>
                  <a:srgbClr val="D4AF37"/>
                </a:solidFill>
                <a:latin typeface="Calibri"/>
                <a:ea typeface="Calibri"/>
                <a:cs typeface="Calibri"/>
                <a:sym typeface="Calibri"/>
              </a:rPr>
              <a:t>MÉDIAKUTATÁS · 2026 </a:t>
            </a:r>
            <a:r>
              <a:rPr b="1" lang="en-GB" sz="900">
                <a:solidFill>
                  <a:srgbClr val="D4AF37"/>
                </a:solidFill>
                <a:latin typeface="Calibri"/>
                <a:ea typeface="Calibri"/>
                <a:cs typeface="Calibri"/>
                <a:sym typeface="Calibri"/>
              </a:rPr>
              <a:t>· Miskolci Egyetem - Gazdaságtudományi Kar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25"/>
          <p:cNvSpPr txBox="1"/>
          <p:nvPr/>
        </p:nvSpPr>
        <p:spPr>
          <a:xfrm>
            <a:off x="754400" y="1005840"/>
            <a:ext cx="7544100" cy="12582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00"/>
              <a:buFont typeface="Arial"/>
              <a:buNone/>
            </a:pPr>
            <a:r>
              <a:rPr b="1" i="0" lang="en-GB" sz="3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Médiapolarizáció a</a:t>
            </a:r>
            <a:br>
              <a:rPr b="1" i="0" lang="en-GB" sz="3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GB" sz="3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magyar hírportálokon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25"/>
          <p:cNvSpPr/>
          <p:nvPr/>
        </p:nvSpPr>
        <p:spPr>
          <a:xfrm>
            <a:off x="754400" y="2514600"/>
            <a:ext cx="822900" cy="21300"/>
          </a:xfrm>
          <a:prstGeom prst="rect">
            <a:avLst/>
          </a:prstGeom>
          <a:solidFill>
            <a:srgbClr val="D4AF3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25"/>
          <p:cNvSpPr txBox="1"/>
          <p:nvPr/>
        </p:nvSpPr>
        <p:spPr>
          <a:xfrm>
            <a:off x="754400" y="2617470"/>
            <a:ext cx="7544100" cy="2586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GB" sz="1500" u="none" cap="none" strike="noStrike">
                <a:solidFill>
                  <a:srgbClr val="EAEEF9"/>
                </a:solidFill>
                <a:latin typeface="Calibri"/>
                <a:ea typeface="Calibri"/>
                <a:cs typeface="Calibri"/>
                <a:sym typeface="Calibri"/>
              </a:rPr>
              <a:t>Hipotézis és módszertan — három hipotézis empirikus tesztje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25"/>
          <p:cNvSpPr txBox="1"/>
          <p:nvPr/>
        </p:nvSpPr>
        <p:spPr>
          <a:xfrm>
            <a:off x="754400" y="3840480"/>
            <a:ext cx="2194619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GB" sz="2600" u="none" cap="none" strike="noStrike">
                <a:solidFill>
                  <a:srgbClr val="D4AF37"/>
                </a:solidFill>
                <a:latin typeface="Calibri"/>
                <a:ea typeface="Calibri"/>
                <a:cs typeface="Calibri"/>
                <a:sym typeface="Calibri"/>
              </a:rPr>
              <a:t>29 686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25"/>
          <p:cNvSpPr txBox="1"/>
          <p:nvPr/>
        </p:nvSpPr>
        <p:spPr>
          <a:xfrm>
            <a:off x="754400" y="4286250"/>
            <a:ext cx="21946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GB" sz="900" u="none" cap="none" strike="noStrike">
                <a:solidFill>
                  <a:srgbClr val="EAEEF9"/>
                </a:solidFill>
                <a:latin typeface="Calibri"/>
                <a:ea typeface="Calibri"/>
                <a:cs typeface="Calibri"/>
                <a:sym typeface="Calibri"/>
              </a:rPr>
              <a:t>elemzett címsor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25"/>
          <p:cNvSpPr txBox="1"/>
          <p:nvPr/>
        </p:nvSpPr>
        <p:spPr>
          <a:xfrm>
            <a:off x="2126118" y="3840475"/>
            <a:ext cx="822900" cy="4278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GB" sz="2600" u="none" cap="none" strike="noStrike">
                <a:solidFill>
                  <a:srgbClr val="D4AF37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25"/>
          <p:cNvSpPr txBox="1"/>
          <p:nvPr/>
        </p:nvSpPr>
        <p:spPr>
          <a:xfrm>
            <a:off x="2126118" y="4286251"/>
            <a:ext cx="822900" cy="1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GB" sz="900" u="none" cap="none" strike="noStrike">
                <a:solidFill>
                  <a:srgbClr val="EAEEF9"/>
                </a:solidFill>
                <a:latin typeface="Calibri"/>
                <a:ea typeface="Calibri"/>
                <a:cs typeface="Calibri"/>
                <a:sym typeface="Calibri"/>
              </a:rPr>
              <a:t>hírportál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25"/>
          <p:cNvSpPr txBox="1"/>
          <p:nvPr/>
        </p:nvSpPr>
        <p:spPr>
          <a:xfrm>
            <a:off x="3066202" y="3840475"/>
            <a:ext cx="1115400" cy="4278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GB" sz="2600" u="none" cap="none" strike="noStrike">
                <a:solidFill>
                  <a:srgbClr val="D4AF37"/>
                </a:solidFill>
                <a:latin typeface="Calibri"/>
                <a:ea typeface="Calibri"/>
                <a:cs typeface="Calibri"/>
                <a:sym typeface="Calibri"/>
              </a:rPr>
              <a:t>3 / 3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25"/>
          <p:cNvSpPr txBox="1"/>
          <p:nvPr/>
        </p:nvSpPr>
        <p:spPr>
          <a:xfrm>
            <a:off x="3066202" y="4286251"/>
            <a:ext cx="1115400" cy="1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GB" sz="900" u="none" cap="none" strike="noStrike">
                <a:solidFill>
                  <a:srgbClr val="EAEEF9"/>
                </a:solidFill>
                <a:latin typeface="Calibri"/>
                <a:ea typeface="Calibri"/>
                <a:cs typeface="Calibri"/>
                <a:sym typeface="Calibri"/>
              </a:rPr>
              <a:t>hipotézis tesztelve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25"/>
          <p:cNvSpPr txBox="1"/>
          <p:nvPr/>
        </p:nvSpPr>
        <p:spPr>
          <a:xfrm>
            <a:off x="5343700" y="3418675"/>
            <a:ext cx="1855200" cy="8496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lang="en-GB" sz="1200">
                <a:solidFill>
                  <a:srgbClr val="EAEEF9"/>
                </a:solidFill>
                <a:latin typeface="Calibri"/>
                <a:ea typeface="Calibri"/>
                <a:cs typeface="Calibri"/>
                <a:sym typeface="Calibri"/>
              </a:rPr>
              <a:t>Babinszki Szabolcs</a:t>
            </a:r>
            <a:endParaRPr b="1" sz="1200">
              <a:solidFill>
                <a:srgbClr val="EAEEF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lang="en-GB" sz="1200">
                <a:solidFill>
                  <a:srgbClr val="EAEEF9"/>
                </a:solidFill>
                <a:latin typeface="Calibri"/>
                <a:ea typeface="Calibri"/>
                <a:cs typeface="Calibri"/>
                <a:sym typeface="Calibri"/>
              </a:rPr>
              <a:t>Fehérvári Norbert</a:t>
            </a:r>
            <a:endParaRPr b="1" sz="1200">
              <a:solidFill>
                <a:srgbClr val="EAEEF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lang="en-GB" sz="1200">
                <a:solidFill>
                  <a:srgbClr val="EAEEF9"/>
                </a:solidFill>
                <a:latin typeface="Calibri"/>
                <a:ea typeface="Calibri"/>
                <a:cs typeface="Calibri"/>
                <a:sym typeface="Calibri"/>
              </a:rPr>
              <a:t>Papp Zsombor</a:t>
            </a:r>
            <a:endParaRPr b="1" sz="1200">
              <a:solidFill>
                <a:srgbClr val="EAEEF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lang="en-GB" sz="1200">
                <a:solidFill>
                  <a:srgbClr val="EAEEF9"/>
                </a:solidFill>
                <a:latin typeface="Calibri"/>
                <a:ea typeface="Calibri"/>
                <a:cs typeface="Calibri"/>
                <a:sym typeface="Calibri"/>
              </a:rPr>
              <a:t>Tóth Szilárd</a:t>
            </a:r>
            <a:endParaRPr i="1" sz="1200">
              <a:solidFill>
                <a:srgbClr val="EAEEF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6"/>
          <p:cNvSpPr/>
          <p:nvPr/>
        </p:nvSpPr>
        <p:spPr>
          <a:xfrm>
            <a:off x="0" y="0"/>
            <a:ext cx="123447" cy="51435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26"/>
          <p:cNvSpPr/>
          <p:nvPr/>
        </p:nvSpPr>
        <p:spPr>
          <a:xfrm>
            <a:off x="8264110" y="274320"/>
            <a:ext cx="651527" cy="308610"/>
          </a:xfrm>
          <a:prstGeom prst="roundRect">
            <a:avLst>
              <a:gd fmla="val 50000" name="adj"/>
            </a:avLst>
          </a:prstGeom>
          <a:solidFill>
            <a:srgbClr val="1E2761"/>
          </a:solidFill>
          <a:ln>
            <a:noFill/>
          </a:ln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INTRO</a:t>
            </a:r>
            <a:endParaRPr sz="1100"/>
          </a:p>
        </p:txBody>
      </p:sp>
      <p:sp>
        <p:nvSpPr>
          <p:cNvPr id="149" name="Google Shape;149;p26"/>
          <p:cNvSpPr txBox="1"/>
          <p:nvPr/>
        </p:nvSpPr>
        <p:spPr>
          <a:xfrm>
            <a:off x="342909" y="205740"/>
            <a:ext cx="7818283" cy="37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1E2761"/>
                </a:solidFill>
                <a:latin typeface="Lora SemiBold"/>
                <a:ea typeface="Lora SemiBold"/>
                <a:cs typeface="Lora SemiBold"/>
                <a:sym typeface="Lora SemiBold"/>
              </a:rPr>
              <a:t>Kontraszt — Médiaviselkedés a figyelemgazdaságban</a:t>
            </a:r>
            <a:endParaRPr sz="1100"/>
          </a:p>
        </p:txBody>
      </p:sp>
      <p:sp>
        <p:nvSpPr>
          <p:cNvPr id="150" name="Google Shape;150;p26"/>
          <p:cNvSpPr txBox="1"/>
          <p:nvPr/>
        </p:nvSpPr>
        <p:spPr>
          <a:xfrm>
            <a:off x="356626" y="630936"/>
            <a:ext cx="7818328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GB" sz="10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A magyar online hírportálok címlapjainak empirikus vizsgálata</a:t>
            </a:r>
            <a:endParaRPr sz="1100"/>
          </a:p>
        </p:txBody>
      </p:sp>
      <p:sp>
        <p:nvSpPr>
          <p:cNvPr id="151" name="Google Shape;151;p26"/>
          <p:cNvSpPr/>
          <p:nvPr/>
        </p:nvSpPr>
        <p:spPr>
          <a:xfrm>
            <a:off x="342909" y="905256"/>
            <a:ext cx="8435565" cy="7144"/>
          </a:xfrm>
          <a:prstGeom prst="rect">
            <a:avLst/>
          </a:prstGeom>
          <a:solidFill>
            <a:srgbClr val="D6DB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26"/>
          <p:cNvSpPr/>
          <p:nvPr/>
        </p:nvSpPr>
        <p:spPr>
          <a:xfrm>
            <a:off x="342909" y="1042500"/>
            <a:ext cx="4132055" cy="1800000"/>
          </a:xfrm>
          <a:prstGeom prst="roundRect">
            <a:avLst>
              <a:gd fmla="val 8000" name="adj"/>
            </a:avLst>
          </a:prstGeom>
          <a:solidFill>
            <a:srgbClr val="EAEEF9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/>
        </p:nvSpPr>
        <p:spPr>
          <a:xfrm>
            <a:off x="514364" y="1155000"/>
            <a:ext cx="3789146" cy="2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MIRŐL SZÓL EZ A KUTATÁS?</a:t>
            </a:r>
            <a:endParaRPr sz="1100"/>
          </a:p>
        </p:txBody>
      </p:sp>
      <p:sp>
        <p:nvSpPr>
          <p:cNvPr id="154" name="Google Shape;154;p26"/>
          <p:cNvSpPr txBox="1"/>
          <p:nvPr/>
        </p:nvSpPr>
        <p:spPr>
          <a:xfrm>
            <a:off x="514364" y="1380000"/>
            <a:ext cx="3789146" cy="138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A figyelem a digitális médiatér legszűkösebb erőforrása (Simon, Goldhaber). A hírportálok nem pusztán információt közölnek: vizuális hierarchiával, kiemeléssel és érzelmi tónussal versenyeznek az olvasó figyelméért.</a:t>
            </a:r>
            <a:endParaRPr sz="1100"/>
          </a:p>
          <a:p>
            <a:pPr indent="0" lvl="0" marL="0" marR="0" rtl="0" algn="l">
              <a:lnSpc>
                <a:spcPct val="12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Ez a projekt a figyelemgazdaság kínálati oldalát méri – azt, hogy a szerkesztőség mely híreket próbálja figyelemre méltóvá tenni, nem azt, hogy az olvasó ténylegesen mire kattint.</a:t>
            </a:r>
            <a:endParaRPr sz="1100"/>
          </a:p>
        </p:txBody>
      </p:sp>
      <p:sp>
        <p:nvSpPr>
          <p:cNvPr id="155" name="Google Shape;155;p26"/>
          <p:cNvSpPr/>
          <p:nvPr/>
        </p:nvSpPr>
        <p:spPr>
          <a:xfrm>
            <a:off x="4646419" y="1042500"/>
            <a:ext cx="4132055" cy="1800000"/>
          </a:xfrm>
          <a:prstGeom prst="roundRect">
            <a:avLst>
              <a:gd fmla="val 8000" name="adj"/>
            </a:avLst>
          </a:prstGeom>
          <a:solidFill>
            <a:srgbClr val="1E276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26"/>
          <p:cNvSpPr txBox="1"/>
          <p:nvPr/>
        </p:nvSpPr>
        <p:spPr>
          <a:xfrm>
            <a:off x="4817873" y="1155000"/>
            <a:ext cx="3789146" cy="2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00" u="none" cap="none" strike="noStrike">
                <a:solidFill>
                  <a:srgbClr val="D4AF37"/>
                </a:solidFill>
                <a:latin typeface="Calibri"/>
                <a:ea typeface="Calibri"/>
                <a:cs typeface="Calibri"/>
                <a:sym typeface="Calibri"/>
              </a:rPr>
              <a:t>KUTATÁSI KÉRDÉS</a:t>
            </a:r>
            <a:endParaRPr sz="1100"/>
          </a:p>
        </p:txBody>
      </p:sp>
      <p:sp>
        <p:nvSpPr>
          <p:cNvPr id="157" name="Google Shape;157;p26"/>
          <p:cNvSpPr txBox="1"/>
          <p:nvPr/>
        </p:nvSpPr>
        <p:spPr>
          <a:xfrm>
            <a:off x="4817873" y="1380000"/>
            <a:ext cx="3789146" cy="138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GB" sz="1100" u="none" cap="none" strike="noStrike">
                <a:solidFill>
                  <a:srgbClr val="FFFFFF"/>
                </a:solidFill>
                <a:latin typeface="Lora SemiBold"/>
                <a:ea typeface="Lora SemiBold"/>
                <a:cs typeface="Lora SemiBold"/>
                <a:sym typeface="Lora SemiBold"/>
              </a:rPr>
              <a:t>Hogyan tükrözi a magyar online hírportálok szerkesztési gyakorlata — vizuális hangsúllyal és érzelmi töltettel — a választási kampány dinamikáját, és mennyire mutatnak homogén képet az egyes politikai szereplők megjelenítésében?</a:t>
            </a:r>
            <a:endParaRPr sz="1100"/>
          </a:p>
        </p:txBody>
      </p:sp>
      <p:sp>
        <p:nvSpPr>
          <p:cNvPr id="158" name="Google Shape;158;p26"/>
          <p:cNvSpPr/>
          <p:nvPr/>
        </p:nvSpPr>
        <p:spPr>
          <a:xfrm>
            <a:off x="342909" y="3037500"/>
            <a:ext cx="2697552" cy="1087500"/>
          </a:xfrm>
          <a:prstGeom prst="roundRect">
            <a:avLst>
              <a:gd fmla="val 8000" name="adj"/>
            </a:avLst>
          </a:prstGeom>
          <a:solidFill>
            <a:srgbClr val="EAEEF9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26"/>
          <p:cNvSpPr/>
          <p:nvPr/>
        </p:nvSpPr>
        <p:spPr>
          <a:xfrm>
            <a:off x="514364" y="3187500"/>
            <a:ext cx="322509" cy="32250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26"/>
          <p:cNvSpPr txBox="1"/>
          <p:nvPr/>
        </p:nvSpPr>
        <p:spPr>
          <a:xfrm>
            <a:off x="514364" y="3187500"/>
            <a:ext cx="322509" cy="32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H1</a:t>
            </a:r>
            <a:endParaRPr sz="1100"/>
          </a:p>
        </p:txBody>
      </p:sp>
      <p:sp>
        <p:nvSpPr>
          <p:cNvPr id="161" name="Google Shape;161;p26"/>
          <p:cNvSpPr txBox="1"/>
          <p:nvPr/>
        </p:nvSpPr>
        <p:spPr>
          <a:xfrm>
            <a:off x="882924" y="3202500"/>
            <a:ext cx="1985033" cy="2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POLARIZÁCIÓ</a:t>
            </a:r>
            <a:endParaRPr sz="1100"/>
          </a:p>
        </p:txBody>
      </p:sp>
      <p:sp>
        <p:nvSpPr>
          <p:cNvPr id="162" name="Google Shape;162;p26"/>
          <p:cNvSpPr txBox="1"/>
          <p:nvPr/>
        </p:nvSpPr>
        <p:spPr>
          <a:xfrm>
            <a:off x="514364" y="3577500"/>
            <a:ext cx="2354643" cy="48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A kormányközeli és független portálok eltérő szentimenttel és vizuális súllyal jelenítik meg ugyanazokat a politikai szereplőket.</a:t>
            </a:r>
            <a:endParaRPr sz="1100"/>
          </a:p>
        </p:txBody>
      </p:sp>
      <p:sp>
        <p:nvSpPr>
          <p:cNvPr id="163" name="Google Shape;163;p26"/>
          <p:cNvSpPr/>
          <p:nvPr/>
        </p:nvSpPr>
        <p:spPr>
          <a:xfrm>
            <a:off x="3211916" y="3037500"/>
            <a:ext cx="2697552" cy="1087500"/>
          </a:xfrm>
          <a:prstGeom prst="roundRect">
            <a:avLst>
              <a:gd fmla="val 8000" name="adj"/>
            </a:avLst>
          </a:prstGeom>
          <a:solidFill>
            <a:srgbClr val="EAEEF9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26"/>
          <p:cNvSpPr/>
          <p:nvPr/>
        </p:nvSpPr>
        <p:spPr>
          <a:xfrm>
            <a:off x="3383370" y="3187500"/>
            <a:ext cx="322509" cy="32250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26"/>
          <p:cNvSpPr txBox="1"/>
          <p:nvPr/>
        </p:nvSpPr>
        <p:spPr>
          <a:xfrm>
            <a:off x="3383370" y="3187500"/>
            <a:ext cx="322509" cy="32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H2</a:t>
            </a:r>
            <a:endParaRPr sz="1100"/>
          </a:p>
        </p:txBody>
      </p:sp>
      <p:sp>
        <p:nvSpPr>
          <p:cNvPr id="166" name="Google Shape;166;p26"/>
          <p:cNvSpPr txBox="1"/>
          <p:nvPr/>
        </p:nvSpPr>
        <p:spPr>
          <a:xfrm>
            <a:off x="3751930" y="3202500"/>
            <a:ext cx="1985033" cy="2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VIZUÁLIS HANGSÚLY</a:t>
            </a:r>
            <a:endParaRPr sz="1100"/>
          </a:p>
        </p:txBody>
      </p:sp>
      <p:sp>
        <p:nvSpPr>
          <p:cNvPr id="167" name="Google Shape;167;p26"/>
          <p:cNvSpPr txBox="1"/>
          <p:nvPr/>
        </p:nvSpPr>
        <p:spPr>
          <a:xfrm>
            <a:off x="3383370" y="3577500"/>
            <a:ext cx="2354643" cy="48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A negatív címsorok átlagosan magasabb fontossági pontszámot kapnak, mint a semlegesek.</a:t>
            </a:r>
            <a:endParaRPr sz="1100"/>
          </a:p>
        </p:txBody>
      </p:sp>
      <p:sp>
        <p:nvSpPr>
          <p:cNvPr id="168" name="Google Shape;168;p26"/>
          <p:cNvSpPr/>
          <p:nvPr/>
        </p:nvSpPr>
        <p:spPr>
          <a:xfrm>
            <a:off x="6080922" y="3037500"/>
            <a:ext cx="2697552" cy="1087500"/>
          </a:xfrm>
          <a:prstGeom prst="roundRect">
            <a:avLst>
              <a:gd fmla="val 8000" name="adj"/>
            </a:avLst>
          </a:prstGeom>
          <a:solidFill>
            <a:srgbClr val="EAEEF9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26"/>
          <p:cNvSpPr/>
          <p:nvPr/>
        </p:nvSpPr>
        <p:spPr>
          <a:xfrm>
            <a:off x="6252377" y="3187500"/>
            <a:ext cx="322509" cy="32250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26"/>
          <p:cNvSpPr txBox="1"/>
          <p:nvPr/>
        </p:nvSpPr>
        <p:spPr>
          <a:xfrm>
            <a:off x="6252377" y="3187500"/>
            <a:ext cx="322509" cy="32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H3</a:t>
            </a:r>
            <a:endParaRPr sz="1100"/>
          </a:p>
        </p:txBody>
      </p:sp>
      <p:sp>
        <p:nvSpPr>
          <p:cNvPr id="171" name="Google Shape;171;p26"/>
          <p:cNvSpPr txBox="1"/>
          <p:nvPr/>
        </p:nvSpPr>
        <p:spPr>
          <a:xfrm>
            <a:off x="6620936" y="3202500"/>
            <a:ext cx="1985033" cy="2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NAPIREND-KIJELÖLÉS</a:t>
            </a:r>
            <a:endParaRPr sz="1100"/>
          </a:p>
        </p:txBody>
      </p:sp>
      <p:sp>
        <p:nvSpPr>
          <p:cNvPr id="172" name="Google Shape;172;p26"/>
          <p:cNvSpPr txBox="1"/>
          <p:nvPr/>
        </p:nvSpPr>
        <p:spPr>
          <a:xfrm>
            <a:off x="6252377" y="3577500"/>
            <a:ext cx="2354643" cy="48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A kulcsszereplők megjelenése időben korrelál a portálok között, de a dinamika portálspecifikus.</a:t>
            </a:r>
            <a:endParaRPr sz="1100"/>
          </a:p>
        </p:txBody>
      </p:sp>
      <p:sp>
        <p:nvSpPr>
          <p:cNvPr id="173" name="Google Shape;173;p26"/>
          <p:cNvSpPr txBox="1"/>
          <p:nvPr/>
        </p:nvSpPr>
        <p:spPr>
          <a:xfrm>
            <a:off x="342909" y="4828500"/>
            <a:ext cx="8435565" cy="2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GB" sz="8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Médiakutatás · Bevezető · projekt célja</a:t>
            </a:r>
            <a:endParaRPr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7"/>
          <p:cNvSpPr/>
          <p:nvPr/>
        </p:nvSpPr>
        <p:spPr>
          <a:xfrm>
            <a:off x="0" y="0"/>
            <a:ext cx="123447" cy="51435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7"/>
          <p:cNvSpPr/>
          <p:nvPr/>
        </p:nvSpPr>
        <p:spPr>
          <a:xfrm>
            <a:off x="8264110" y="274320"/>
            <a:ext cx="651527" cy="308610"/>
          </a:xfrm>
          <a:prstGeom prst="roundRect">
            <a:avLst>
              <a:gd fmla="val 50000" name="adj"/>
            </a:avLst>
          </a:prstGeom>
          <a:solidFill>
            <a:srgbClr val="1E2761"/>
          </a:solidFill>
          <a:ln>
            <a:noFill/>
          </a:ln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100"/>
          </a:p>
        </p:txBody>
      </p:sp>
      <p:sp>
        <p:nvSpPr>
          <p:cNvPr id="180" name="Google Shape;180;p27"/>
          <p:cNvSpPr txBox="1"/>
          <p:nvPr/>
        </p:nvSpPr>
        <p:spPr>
          <a:xfrm>
            <a:off x="342909" y="205740"/>
            <a:ext cx="7818283" cy="37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1E2761"/>
                </a:solidFill>
                <a:latin typeface="Lora SemiBold"/>
                <a:ea typeface="Lora SemiBold"/>
                <a:cs typeface="Lora SemiBold"/>
                <a:sym typeface="Lora SemiBold"/>
              </a:rPr>
              <a:t>Adatgyűjtés I. — Főoldali scraper (kontraszt)</a:t>
            </a:r>
            <a:endParaRPr sz="1100"/>
          </a:p>
        </p:txBody>
      </p:sp>
      <p:sp>
        <p:nvSpPr>
          <p:cNvPr id="181" name="Google Shape;181;p27"/>
          <p:cNvSpPr txBox="1"/>
          <p:nvPr/>
        </p:nvSpPr>
        <p:spPr>
          <a:xfrm>
            <a:off x="356626" y="630936"/>
            <a:ext cx="7818328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GB" sz="10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21 magyar hírportál óránkénti címlap-mérése — Playwright + Crawlee + Convex</a:t>
            </a:r>
            <a:endParaRPr sz="1100"/>
          </a:p>
        </p:txBody>
      </p:sp>
      <p:sp>
        <p:nvSpPr>
          <p:cNvPr id="182" name="Google Shape;182;p27"/>
          <p:cNvSpPr/>
          <p:nvPr/>
        </p:nvSpPr>
        <p:spPr>
          <a:xfrm>
            <a:off x="342909" y="905256"/>
            <a:ext cx="8435565" cy="7144"/>
          </a:xfrm>
          <a:prstGeom prst="rect">
            <a:avLst/>
          </a:prstGeom>
          <a:solidFill>
            <a:srgbClr val="D6DB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27"/>
          <p:cNvSpPr/>
          <p:nvPr/>
        </p:nvSpPr>
        <p:spPr>
          <a:xfrm>
            <a:off x="342909" y="1042500"/>
            <a:ext cx="2697552" cy="1687500"/>
          </a:xfrm>
          <a:prstGeom prst="roundRect">
            <a:avLst>
              <a:gd fmla="val 8000" name="adj"/>
            </a:avLst>
          </a:prstGeom>
          <a:solidFill>
            <a:srgbClr val="EAEEF9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27"/>
          <p:cNvSpPr txBox="1"/>
          <p:nvPr/>
        </p:nvSpPr>
        <p:spPr>
          <a:xfrm>
            <a:off x="514364" y="1155000"/>
            <a:ext cx="2354643" cy="2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CÉL</a:t>
            </a:r>
            <a:endParaRPr sz="1100"/>
          </a:p>
        </p:txBody>
      </p:sp>
      <p:sp>
        <p:nvSpPr>
          <p:cNvPr id="185" name="Google Shape;185;p27"/>
          <p:cNvSpPr txBox="1"/>
          <p:nvPr/>
        </p:nvSpPr>
        <p:spPr>
          <a:xfrm>
            <a:off x="514364" y="1380000"/>
            <a:ext cx="2354643" cy="127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A 21 legolvasottabb magyar hírportál főoldali szalagcímeinek és vizuális paramétereinek óránkénti rögzítése — ez adja a figyelem kínálati oldalának nyers mérőszámait.</a:t>
            </a:r>
            <a:endParaRPr sz="1100"/>
          </a:p>
        </p:txBody>
      </p:sp>
      <p:sp>
        <p:nvSpPr>
          <p:cNvPr id="186" name="Google Shape;186;p27"/>
          <p:cNvSpPr/>
          <p:nvPr/>
        </p:nvSpPr>
        <p:spPr>
          <a:xfrm>
            <a:off x="3211916" y="1042500"/>
            <a:ext cx="2697552" cy="1687500"/>
          </a:xfrm>
          <a:prstGeom prst="roundRect">
            <a:avLst>
              <a:gd fmla="val 8000" name="adj"/>
            </a:avLst>
          </a:prstGeom>
          <a:solidFill>
            <a:srgbClr val="EAEEF9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27"/>
          <p:cNvSpPr txBox="1"/>
          <p:nvPr/>
        </p:nvSpPr>
        <p:spPr>
          <a:xfrm>
            <a:off x="3383370" y="1155000"/>
            <a:ext cx="2354643" cy="2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TECHNOLÓGIA</a:t>
            </a:r>
            <a:endParaRPr sz="1100"/>
          </a:p>
        </p:txBody>
      </p:sp>
      <p:sp>
        <p:nvSpPr>
          <p:cNvPr id="188" name="Google Shape;188;p27"/>
          <p:cNvSpPr txBox="1"/>
          <p:nvPr/>
        </p:nvSpPr>
        <p:spPr>
          <a:xfrm>
            <a:off x="3383370" y="1380000"/>
            <a:ext cx="2354643" cy="127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Playwright + Crawlee (TS)</a:t>
            </a:r>
            <a:endParaRPr sz="1100"/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valódi böngésző — JS-sel betöltődő címek, pontos DOM-geometria.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GB" sz="8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Convex backend</a:t>
            </a:r>
            <a:endParaRPr sz="1100"/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típusos séma, real-time szinkronizáció.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GB" sz="8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Docker Compose + cron</a:t>
            </a:r>
            <a:endParaRPr sz="1100"/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óránkénti futás, webhook indítja az LLM-szolgáltatást.</a:t>
            </a:r>
            <a:endParaRPr sz="1100"/>
          </a:p>
        </p:txBody>
      </p:sp>
      <p:sp>
        <p:nvSpPr>
          <p:cNvPr id="189" name="Google Shape;189;p27"/>
          <p:cNvSpPr/>
          <p:nvPr/>
        </p:nvSpPr>
        <p:spPr>
          <a:xfrm>
            <a:off x="6080922" y="1042500"/>
            <a:ext cx="2697552" cy="1687500"/>
          </a:xfrm>
          <a:prstGeom prst="roundRect">
            <a:avLst>
              <a:gd fmla="val 8000" name="adj"/>
            </a:avLst>
          </a:prstGeom>
          <a:solidFill>
            <a:srgbClr val="EAEEF9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27"/>
          <p:cNvSpPr txBox="1"/>
          <p:nvPr/>
        </p:nvSpPr>
        <p:spPr>
          <a:xfrm>
            <a:off x="6252377" y="1155000"/>
            <a:ext cx="2354643" cy="2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PORTÁLOK (21 DB)</a:t>
            </a:r>
            <a:endParaRPr sz="1100"/>
          </a:p>
        </p:txBody>
      </p:sp>
      <p:sp>
        <p:nvSpPr>
          <p:cNvPr id="191" name="Google Shape;191;p27"/>
          <p:cNvSpPr txBox="1"/>
          <p:nvPr/>
        </p:nvSpPr>
        <p:spPr>
          <a:xfrm>
            <a:off x="6252377" y="1380000"/>
            <a:ext cx="2354643" cy="127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Telex · Origo · Blikk · 24.hu · Index · BorsOnline · 444.hu · Magyar Nemzet · Ripost · HVG · ATV · Hirado.hu · Metropol · Nepszava · Mandiner · PestiSracok · Napi · Valasz Online · Vilaggazdasag · Portfolio · Magyar Hang</a:t>
            </a:r>
            <a:endParaRPr sz="1100"/>
          </a:p>
        </p:txBody>
      </p:sp>
      <p:sp>
        <p:nvSpPr>
          <p:cNvPr id="192" name="Google Shape;192;p27"/>
          <p:cNvSpPr/>
          <p:nvPr/>
        </p:nvSpPr>
        <p:spPr>
          <a:xfrm>
            <a:off x="342909" y="2925000"/>
            <a:ext cx="4132055" cy="1650000"/>
          </a:xfrm>
          <a:prstGeom prst="roundRect">
            <a:avLst>
              <a:gd fmla="val 8000" name="adj"/>
            </a:avLst>
          </a:prstGeom>
          <a:solidFill>
            <a:srgbClr val="EAEEF9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27"/>
          <p:cNvSpPr txBox="1"/>
          <p:nvPr/>
        </p:nvSpPr>
        <p:spPr>
          <a:xfrm>
            <a:off x="514364" y="3037500"/>
            <a:ext cx="3789146" cy="2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KÉT TÁBLA · CONVEX/SCHEMA.TS</a:t>
            </a:r>
            <a:endParaRPr sz="1100"/>
          </a:p>
        </p:txBody>
      </p:sp>
      <p:sp>
        <p:nvSpPr>
          <p:cNvPr id="194" name="Google Shape;194;p27"/>
          <p:cNvSpPr txBox="1"/>
          <p:nvPr/>
        </p:nvSpPr>
        <p:spPr>
          <a:xfrm>
            <a:off x="514364" y="3262500"/>
            <a:ext cx="3789146" cy="123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headlineDefinitions</a:t>
            </a:r>
            <a:endParaRPr sz="1100"/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hashedId (SHA1 a URL-ből) · siteName · headlineText · href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800" u="none" cap="none" strike="noStrike">
              <a:solidFill>
                <a:srgbClr val="1A1D2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GB" sz="8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headlines</a:t>
            </a:r>
            <a:endParaRPr sz="1100"/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hashedId · score · fontSize · width · height · x · y · scrapedAt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800" u="none" cap="none" strike="noStrike">
              <a:solidFill>
                <a:srgbClr val="1A1D2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1" lang="en-GB" sz="8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Cím = definíció (1×), megjelenés = snapshot (N× óránként).</a:t>
            </a:r>
            <a:endParaRPr sz="1100"/>
          </a:p>
        </p:txBody>
      </p:sp>
      <p:sp>
        <p:nvSpPr>
          <p:cNvPr id="195" name="Google Shape;195;p27"/>
          <p:cNvSpPr/>
          <p:nvPr/>
        </p:nvSpPr>
        <p:spPr>
          <a:xfrm>
            <a:off x="4646419" y="2925000"/>
            <a:ext cx="4132055" cy="1650000"/>
          </a:xfrm>
          <a:prstGeom prst="roundRect">
            <a:avLst>
              <a:gd fmla="val 8000" name="adj"/>
            </a:avLst>
          </a:prstGeom>
          <a:solidFill>
            <a:srgbClr val="1E276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7"/>
          <p:cNvSpPr txBox="1"/>
          <p:nvPr/>
        </p:nvSpPr>
        <p:spPr>
          <a:xfrm>
            <a:off x="4817873" y="3037500"/>
            <a:ext cx="3789146" cy="2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00" u="none" cap="none" strike="noStrike">
                <a:solidFill>
                  <a:srgbClr val="D4AF37"/>
                </a:solidFill>
                <a:latin typeface="Calibri"/>
                <a:ea typeface="Calibri"/>
                <a:cs typeface="Calibri"/>
                <a:sym typeface="Calibri"/>
              </a:rPr>
              <a:t>VIZUÁLIS „FONTOSSÁGI PONTSZÁM” · SCORE</a:t>
            </a:r>
            <a:endParaRPr sz="1100"/>
          </a:p>
        </p:txBody>
      </p:sp>
      <p:sp>
        <p:nvSpPr>
          <p:cNvPr id="197" name="Google Shape;197;p27"/>
          <p:cNvSpPr txBox="1"/>
          <p:nvPr/>
        </p:nvSpPr>
        <p:spPr>
          <a:xfrm>
            <a:off x="4817873" y="3270000"/>
            <a:ext cx="3789146" cy="123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GB" sz="1000" u="none" cap="none" strike="noStrike">
                <a:solidFill>
                  <a:srgbClr val="FFFFFF"/>
                </a:solidFill>
                <a:latin typeface="Lora SemiBold"/>
                <a:ea typeface="Lora SemiBold"/>
                <a:cs typeface="Lora SemiBold"/>
                <a:sym typeface="Lora SemiBold"/>
              </a:rPr>
              <a:t>score = 100 · fontSize + 0.1 · area − 6y − 3.5x − 4 · x · max(0, 1 − y/600)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1" sz="1000" u="none" cap="none" strike="noStrike">
              <a:solidFill>
                <a:srgbClr val="FFFFFF"/>
              </a:solidFill>
              <a:latin typeface="Lora SemiBold"/>
              <a:ea typeface="Lora SemiBold"/>
              <a:cs typeface="Lora SemiBold"/>
              <a:sym typeface="Lora SemiBold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GB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+ nagy betű és nagy terület → több figyelem</a:t>
            </a:r>
            <a:endParaRPr sz="110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− lejjebb / jobbra → kisebb hangsúly (a szem balra fent kezd)</a:t>
            </a:r>
            <a:endParaRPr sz="110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− jobb felső büntetés csak a top zónára (y &lt; 600 px) — a reklámhelyek kiszűrésére</a:t>
            </a:r>
            <a:endParaRPr sz="1100"/>
          </a:p>
        </p:txBody>
      </p:sp>
      <p:sp>
        <p:nvSpPr>
          <p:cNvPr id="198" name="Google Shape;198;p27"/>
          <p:cNvSpPr txBox="1"/>
          <p:nvPr/>
        </p:nvSpPr>
        <p:spPr>
          <a:xfrm>
            <a:off x="342909" y="4828500"/>
            <a:ext cx="8435565" cy="2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GB" sz="8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Médiakutatás · Adatgyűjtés I. · Scraper (kontraszt)</a:t>
            </a:r>
            <a:endParaRPr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8"/>
          <p:cNvSpPr/>
          <p:nvPr/>
        </p:nvSpPr>
        <p:spPr>
          <a:xfrm>
            <a:off x="0" y="0"/>
            <a:ext cx="123447" cy="51435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28"/>
          <p:cNvSpPr/>
          <p:nvPr/>
        </p:nvSpPr>
        <p:spPr>
          <a:xfrm>
            <a:off x="8264110" y="274320"/>
            <a:ext cx="651527" cy="308610"/>
          </a:xfrm>
          <a:prstGeom prst="roundRect">
            <a:avLst>
              <a:gd fmla="val 50000" name="adj"/>
            </a:avLst>
          </a:prstGeom>
          <a:solidFill>
            <a:srgbClr val="1E2761"/>
          </a:solidFill>
          <a:ln>
            <a:noFill/>
          </a:ln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100"/>
          </a:p>
        </p:txBody>
      </p:sp>
      <p:sp>
        <p:nvSpPr>
          <p:cNvPr id="205" name="Google Shape;205;p28"/>
          <p:cNvSpPr txBox="1"/>
          <p:nvPr/>
        </p:nvSpPr>
        <p:spPr>
          <a:xfrm>
            <a:off x="342909" y="205740"/>
            <a:ext cx="7818283" cy="37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1E2761"/>
                </a:solidFill>
                <a:latin typeface="Lora SemiBold"/>
                <a:ea typeface="Lora SemiBold"/>
                <a:cs typeface="Lora SemiBold"/>
                <a:sym typeface="Lora SemiBold"/>
              </a:rPr>
              <a:t>Adatgyűjtés II. — LLM-elemzés (kontraszt-llm_service)</a:t>
            </a:r>
            <a:endParaRPr sz="1100"/>
          </a:p>
        </p:txBody>
      </p:sp>
      <p:sp>
        <p:nvSpPr>
          <p:cNvPr id="206" name="Google Shape;206;p28"/>
          <p:cNvSpPr txBox="1"/>
          <p:nvPr/>
        </p:nvSpPr>
        <p:spPr>
          <a:xfrm>
            <a:off x="356626" y="630936"/>
            <a:ext cx="7818328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GB" sz="10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Strukturált szemantikai annotáció headline-onként — JSON schema kényszerítéssel</a:t>
            </a:r>
            <a:endParaRPr sz="1100"/>
          </a:p>
        </p:txBody>
      </p:sp>
      <p:sp>
        <p:nvSpPr>
          <p:cNvPr id="207" name="Google Shape;207;p28"/>
          <p:cNvSpPr/>
          <p:nvPr/>
        </p:nvSpPr>
        <p:spPr>
          <a:xfrm>
            <a:off x="342909" y="905256"/>
            <a:ext cx="8435565" cy="7144"/>
          </a:xfrm>
          <a:prstGeom prst="rect">
            <a:avLst/>
          </a:prstGeom>
          <a:solidFill>
            <a:srgbClr val="D6DB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28"/>
          <p:cNvSpPr/>
          <p:nvPr/>
        </p:nvSpPr>
        <p:spPr>
          <a:xfrm>
            <a:off x="342909" y="1042500"/>
            <a:ext cx="4132055" cy="1350000"/>
          </a:xfrm>
          <a:prstGeom prst="roundRect">
            <a:avLst>
              <a:gd fmla="val 8000" name="adj"/>
            </a:avLst>
          </a:prstGeom>
          <a:solidFill>
            <a:srgbClr val="EAEEF9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28"/>
          <p:cNvSpPr txBox="1"/>
          <p:nvPr/>
        </p:nvSpPr>
        <p:spPr>
          <a:xfrm>
            <a:off x="514364" y="1155000"/>
            <a:ext cx="3789146" cy="2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CÉL</a:t>
            </a:r>
            <a:endParaRPr sz="1100"/>
          </a:p>
        </p:txBody>
      </p:sp>
      <p:sp>
        <p:nvSpPr>
          <p:cNvPr id="210" name="Google Shape;210;p28"/>
          <p:cNvSpPr txBox="1"/>
          <p:nvPr/>
        </p:nvSpPr>
        <p:spPr>
          <a:xfrm>
            <a:off x="514364" y="1380000"/>
            <a:ext cx="3789146" cy="93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Minden új headline-hoz strukturált szemantikai annotáció készítése: szentiment, entitások, címke — ezek a H1–H3 hipotézisek magyarázó változói.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800" u="none" cap="none" strike="noStrike">
              <a:solidFill>
                <a:srgbClr val="1A1D2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GB" sz="8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Kulcs</a:t>
            </a:r>
            <a:endParaRPr sz="1100"/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hashedId — közvetlenül csatlakoztatható a headlineDefinitions-hoz.</a:t>
            </a:r>
            <a:endParaRPr sz="1100"/>
          </a:p>
        </p:txBody>
      </p:sp>
      <p:sp>
        <p:nvSpPr>
          <p:cNvPr id="211" name="Google Shape;211;p28"/>
          <p:cNvSpPr/>
          <p:nvPr/>
        </p:nvSpPr>
        <p:spPr>
          <a:xfrm>
            <a:off x="4646419" y="1042500"/>
            <a:ext cx="4132055" cy="1350000"/>
          </a:xfrm>
          <a:prstGeom prst="roundRect">
            <a:avLst>
              <a:gd fmla="val 8000" name="adj"/>
            </a:avLst>
          </a:prstGeom>
          <a:solidFill>
            <a:srgbClr val="1E276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28"/>
          <p:cNvSpPr txBox="1"/>
          <p:nvPr/>
        </p:nvSpPr>
        <p:spPr>
          <a:xfrm>
            <a:off x="4817873" y="1155000"/>
            <a:ext cx="3789146" cy="2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00" u="none" cap="none" strike="noStrike">
                <a:solidFill>
                  <a:srgbClr val="D4AF37"/>
                </a:solidFill>
                <a:latin typeface="Calibri"/>
                <a:ea typeface="Calibri"/>
                <a:cs typeface="Calibri"/>
                <a:sym typeface="Calibri"/>
              </a:rPr>
              <a:t>PIPELINE</a:t>
            </a:r>
            <a:endParaRPr sz="1100"/>
          </a:p>
        </p:txBody>
      </p:sp>
      <p:sp>
        <p:nvSpPr>
          <p:cNvPr id="213" name="Google Shape;213;p28"/>
          <p:cNvSpPr txBox="1"/>
          <p:nvPr/>
        </p:nvSpPr>
        <p:spPr>
          <a:xfrm>
            <a:off x="4817873" y="1380000"/>
            <a:ext cx="3789146" cy="93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Scraper Convex  →  webhook  →  LLM-service</a:t>
            </a:r>
            <a:endParaRPr sz="110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LLM-service  →  batch  →  Kilo API (OpenAI-kompatibilis)</a:t>
            </a:r>
            <a:endParaRPr sz="110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Kilo  →  JSON-Schema válasz  →  Target Convex · llmAnalysis</a:t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9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i="1" lang="en-GB" sz="800" u="none" cap="none" strike="noStrike">
                <a:solidFill>
                  <a:srgbClr val="EAEEF9"/>
                </a:solidFill>
                <a:latin typeface="Calibri"/>
                <a:ea typeface="Calibri"/>
                <a:cs typeface="Calibri"/>
                <a:sym typeface="Calibri"/>
              </a:rPr>
              <a:t>Node.js · POST /webhook/scrape-complete · SOURCE_PAGE_SIZE=200 · CONVEX_SAVE_BATCH_SIZE=200</a:t>
            </a:r>
            <a:endParaRPr sz="1100"/>
          </a:p>
        </p:txBody>
      </p:sp>
      <p:sp>
        <p:nvSpPr>
          <p:cNvPr id="214" name="Google Shape;214;p28"/>
          <p:cNvSpPr/>
          <p:nvPr/>
        </p:nvSpPr>
        <p:spPr>
          <a:xfrm>
            <a:off x="342909" y="2587500"/>
            <a:ext cx="5061339" cy="1837500"/>
          </a:xfrm>
          <a:prstGeom prst="roundRect">
            <a:avLst>
              <a:gd fmla="val 8000" name="adj"/>
            </a:avLst>
          </a:prstGeom>
          <a:solidFill>
            <a:srgbClr val="EAEEF9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28"/>
          <p:cNvSpPr txBox="1"/>
          <p:nvPr/>
        </p:nvSpPr>
        <p:spPr>
          <a:xfrm>
            <a:off x="514364" y="2700000"/>
            <a:ext cx="4718430" cy="2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MEZŐK · HEADLINE-ONKÉNT — JSON SCHEMA</a:t>
            </a:r>
            <a:endParaRPr sz="1100"/>
          </a:p>
        </p:txBody>
      </p:sp>
      <p:sp>
        <p:nvSpPr>
          <p:cNvPr id="216" name="Google Shape;216;p28"/>
          <p:cNvSpPr txBox="1"/>
          <p:nvPr/>
        </p:nvSpPr>
        <p:spPr>
          <a:xfrm>
            <a:off x="514364" y="2925000"/>
            <a:ext cx="4718430" cy="14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label</a:t>
            </a:r>
            <a:r>
              <a:rPr b="0" i="1" lang="en-GB" sz="8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   · string · </a:t>
            </a:r>
            <a:r>
              <a:rPr b="0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tematikus címke</a:t>
            </a:r>
            <a:endParaRPr sz="1100"/>
          </a:p>
          <a:p>
            <a:pPr indent="0" lvl="0" marL="0" marR="0" rtl="0"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GB" sz="8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sentiment</a:t>
            </a:r>
            <a:r>
              <a:rPr b="0" i="1" lang="en-GB" sz="8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   · string · </a:t>
            </a:r>
            <a:r>
              <a:rPr b="0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negatív / semleges / pozitív</a:t>
            </a:r>
            <a:endParaRPr sz="1100"/>
          </a:p>
          <a:p>
            <a:pPr indent="0" lvl="0" marL="0" marR="0" rtl="0"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GB" sz="8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sentiment_score</a:t>
            </a:r>
            <a:r>
              <a:rPr b="0" i="1" lang="en-GB" sz="8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   · float 0–1 · </a:t>
            </a:r>
            <a:r>
              <a:rPr b="0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0 = negatív, 1 = pozitív</a:t>
            </a:r>
            <a:endParaRPr sz="1100"/>
          </a:p>
          <a:p>
            <a:pPr indent="0" lvl="0" marL="0" marR="0" rtl="0"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GB" sz="8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entities</a:t>
            </a:r>
            <a:r>
              <a:rPr b="0" i="1" lang="en-GB" sz="8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   · string[] · </a:t>
            </a:r>
            <a:r>
              <a:rPr b="0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szereplők, szervezetek (pl. „Orbán Viktor”)</a:t>
            </a:r>
            <a:endParaRPr sz="1100"/>
          </a:p>
          <a:p>
            <a:pPr indent="0" lvl="0" marL="0" marR="0" rtl="0"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GB" sz="8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confidence</a:t>
            </a:r>
            <a:r>
              <a:rPr b="0" i="1" lang="en-GB" sz="8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   · float 0–1 · </a:t>
            </a:r>
            <a:r>
              <a:rPr b="0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modell önbizalma</a:t>
            </a:r>
            <a:endParaRPr sz="1100"/>
          </a:p>
        </p:txBody>
      </p:sp>
      <p:sp>
        <p:nvSpPr>
          <p:cNvPr id="217" name="Google Shape;217;p28"/>
          <p:cNvSpPr/>
          <p:nvPr/>
        </p:nvSpPr>
        <p:spPr>
          <a:xfrm>
            <a:off x="5575703" y="2587500"/>
            <a:ext cx="3202771" cy="1837500"/>
          </a:xfrm>
          <a:prstGeom prst="roundRect">
            <a:avLst>
              <a:gd fmla="val 8000" name="adj"/>
            </a:avLst>
          </a:prstGeom>
          <a:solidFill>
            <a:srgbClr val="EAEEF9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28"/>
          <p:cNvSpPr txBox="1"/>
          <p:nvPr/>
        </p:nvSpPr>
        <p:spPr>
          <a:xfrm>
            <a:off x="5747157" y="2700000"/>
            <a:ext cx="2859862" cy="2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MEGBÍZHATÓSÁG</a:t>
            </a:r>
            <a:endParaRPr sz="1100"/>
          </a:p>
        </p:txBody>
      </p:sp>
      <p:sp>
        <p:nvSpPr>
          <p:cNvPr id="219" name="Google Shape;219;p28"/>
          <p:cNvSpPr txBox="1"/>
          <p:nvPr/>
        </p:nvSpPr>
        <p:spPr>
          <a:xfrm>
            <a:off x="5747157" y="2925000"/>
            <a:ext cx="2859862" cy="14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JSON Schema response format</a:t>
            </a:r>
            <a:endParaRPr sz="110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nincs parsing-hiba — a modell kötött séma szerint ad választ.</a:t>
            </a:r>
            <a:endParaRPr sz="1100"/>
          </a:p>
          <a:p>
            <a:pPr indent="0" lvl="0" marL="0" marR="0" rtl="0" algn="l"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GB" sz="8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Retry logika</a:t>
            </a:r>
            <a:endParaRPr sz="110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max 3 kísérlet batchenként.</a:t>
            </a:r>
            <a:endParaRPr sz="1100"/>
          </a:p>
          <a:p>
            <a:pPr indent="0" lvl="0" marL="0" marR="0" rtl="0" algn="l"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GB" sz="8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Pointer-alapú szinkronizáció</a:t>
            </a:r>
            <a:endParaRPr sz="110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SYNC_STATE_KEY — sosem dolgoz fel kétszer ugyanazt a headline-t.</a:t>
            </a:r>
            <a:endParaRPr sz="1100"/>
          </a:p>
        </p:txBody>
      </p:sp>
      <p:sp>
        <p:nvSpPr>
          <p:cNvPr id="220" name="Google Shape;220;p28"/>
          <p:cNvSpPr txBox="1"/>
          <p:nvPr/>
        </p:nvSpPr>
        <p:spPr>
          <a:xfrm>
            <a:off x="342909" y="4828500"/>
            <a:ext cx="8435565" cy="2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GB" sz="8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Médiakutatás · Adatgyűjtés II. · LLM-elemzés (kontraszt-llm_service)</a:t>
            </a:r>
            <a:endParaRPr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9"/>
          <p:cNvSpPr/>
          <p:nvPr/>
        </p:nvSpPr>
        <p:spPr>
          <a:xfrm>
            <a:off x="0" y="0"/>
            <a:ext cx="123447" cy="51435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29"/>
          <p:cNvSpPr/>
          <p:nvPr/>
        </p:nvSpPr>
        <p:spPr>
          <a:xfrm>
            <a:off x="8264110" y="274320"/>
            <a:ext cx="651527" cy="308610"/>
          </a:xfrm>
          <a:prstGeom prst="roundRect">
            <a:avLst>
              <a:gd fmla="val 50000" name="adj"/>
            </a:avLst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GB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H1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9"/>
          <p:cNvSpPr txBox="1"/>
          <p:nvPr/>
        </p:nvSpPr>
        <p:spPr>
          <a:xfrm>
            <a:off x="342909" y="205740"/>
            <a:ext cx="7818283" cy="327825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GB" sz="2000" u="none" cap="none" strike="noStrike">
                <a:solidFill>
                  <a:srgbClr val="1E2761"/>
                </a:solidFill>
                <a:latin typeface="Lora SemiBold"/>
                <a:ea typeface="Lora SemiBold"/>
                <a:cs typeface="Lora SemiBold"/>
                <a:sym typeface="Lora SemiBold"/>
              </a:rPr>
              <a:t>H1 · Hipotézis és módszertan</a:t>
            </a:r>
            <a:endParaRPr b="0" i="0" sz="1100" u="none" cap="none" strike="noStrike">
              <a:solidFill>
                <a:srgbClr val="000000"/>
              </a:solidFill>
              <a:latin typeface="Lora SemiBold"/>
              <a:ea typeface="Lora SemiBold"/>
              <a:cs typeface="Lora SemiBold"/>
              <a:sym typeface="Lora SemiBold"/>
            </a:endParaRPr>
          </a:p>
        </p:txBody>
      </p:sp>
      <p:sp>
        <p:nvSpPr>
          <p:cNvPr id="228" name="Google Shape;228;p29"/>
          <p:cNvSpPr txBox="1"/>
          <p:nvPr/>
        </p:nvSpPr>
        <p:spPr>
          <a:xfrm>
            <a:off x="356626" y="630936"/>
            <a:ext cx="7818328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GB" sz="10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Ugyanaz a szereplő — eltérő érzelmi és vizuális kezelés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29"/>
          <p:cNvSpPr/>
          <p:nvPr/>
        </p:nvSpPr>
        <p:spPr>
          <a:xfrm>
            <a:off x="342909" y="905256"/>
            <a:ext cx="8435565" cy="7144"/>
          </a:xfrm>
          <a:prstGeom prst="rect">
            <a:avLst/>
          </a:prstGeom>
          <a:solidFill>
            <a:srgbClr val="D6DB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9"/>
          <p:cNvSpPr/>
          <p:nvPr/>
        </p:nvSpPr>
        <p:spPr>
          <a:xfrm>
            <a:off x="342909" y="1062990"/>
            <a:ext cx="4183492" cy="157734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29"/>
          <p:cNvSpPr txBox="1"/>
          <p:nvPr/>
        </p:nvSpPr>
        <p:spPr>
          <a:xfrm>
            <a:off x="548655" y="1165860"/>
            <a:ext cx="3840582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HIPOTÉZIS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29"/>
          <p:cNvSpPr txBox="1"/>
          <p:nvPr/>
        </p:nvSpPr>
        <p:spPr>
          <a:xfrm>
            <a:off x="548655" y="1405889"/>
            <a:ext cx="3840582" cy="116586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GB" sz="11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A kormányközeli és a független hírportálok jelentősen eltérő érzelmi szentimenttel és vizuális súllyal jelenítik meg ugyanazokat a politikai szereplőket.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29"/>
          <p:cNvSpPr txBox="1"/>
          <p:nvPr/>
        </p:nvSpPr>
        <p:spPr>
          <a:xfrm>
            <a:off x="4732146" y="1062990"/>
            <a:ext cx="411491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MÓDSZERTAN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29"/>
          <p:cNvSpPr/>
          <p:nvPr/>
        </p:nvSpPr>
        <p:spPr>
          <a:xfrm>
            <a:off x="4756158" y="1395263"/>
            <a:ext cx="82352" cy="82575"/>
          </a:xfrm>
          <a:prstGeom prst="ellipse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9"/>
          <p:cNvSpPr txBox="1"/>
          <p:nvPr/>
        </p:nvSpPr>
        <p:spPr>
          <a:xfrm>
            <a:off x="4924181" y="1350922"/>
            <a:ext cx="3977656" cy="166275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GB" sz="9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Adat:  </a:t>
            </a:r>
            <a:r>
              <a:rPr b="0" i="0" lang="en-GB" sz="9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címsorok + LLM-alapú szentiment- és entitáselemzés + főoldali vizuális score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29"/>
          <p:cNvSpPr/>
          <p:nvPr/>
        </p:nvSpPr>
        <p:spPr>
          <a:xfrm>
            <a:off x="4756158" y="1694319"/>
            <a:ext cx="82352" cy="82575"/>
          </a:xfrm>
          <a:prstGeom prst="ellipse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9"/>
          <p:cNvSpPr txBox="1"/>
          <p:nvPr/>
        </p:nvSpPr>
        <p:spPr>
          <a:xfrm>
            <a:off x="4924181" y="1647264"/>
            <a:ext cx="3977656" cy="166275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GB" sz="9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Portálok:  </a:t>
            </a:r>
            <a:r>
              <a:rPr b="0" i="0" lang="en-GB" sz="9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kormányközeli vs. független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29"/>
          <p:cNvSpPr/>
          <p:nvPr/>
        </p:nvSpPr>
        <p:spPr>
          <a:xfrm>
            <a:off x="4756158" y="1993376"/>
            <a:ext cx="82352" cy="82575"/>
          </a:xfrm>
          <a:prstGeom prst="ellipse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9"/>
          <p:cNvSpPr txBox="1"/>
          <p:nvPr/>
        </p:nvSpPr>
        <p:spPr>
          <a:xfrm>
            <a:off x="4924181" y="1943605"/>
            <a:ext cx="3977656" cy="166275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GB" sz="9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Fókusz entitások:  </a:t>
            </a:r>
            <a:r>
              <a:rPr b="0" i="0" lang="en-GB" sz="9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Magyar Péter és Orbán Viktor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29"/>
          <p:cNvSpPr/>
          <p:nvPr/>
        </p:nvSpPr>
        <p:spPr>
          <a:xfrm>
            <a:off x="4756158" y="2292433"/>
            <a:ext cx="82352" cy="82575"/>
          </a:xfrm>
          <a:prstGeom prst="ellipse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9"/>
          <p:cNvSpPr txBox="1"/>
          <p:nvPr/>
        </p:nvSpPr>
        <p:spPr>
          <a:xfrm>
            <a:off x="4924181" y="2239946"/>
            <a:ext cx="3977656" cy="166275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GB" sz="9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Normalizálás:  </a:t>
            </a:r>
            <a:r>
              <a:rPr b="0" i="0" lang="en-GB" sz="9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portálonkénti min–max skálázás (0–1)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29"/>
          <p:cNvSpPr/>
          <p:nvPr/>
        </p:nvSpPr>
        <p:spPr>
          <a:xfrm>
            <a:off x="4756158" y="2591489"/>
            <a:ext cx="82352" cy="82575"/>
          </a:xfrm>
          <a:prstGeom prst="ellipse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9"/>
          <p:cNvSpPr txBox="1"/>
          <p:nvPr/>
        </p:nvSpPr>
        <p:spPr>
          <a:xfrm>
            <a:off x="4903612" y="2536287"/>
            <a:ext cx="3977656" cy="166275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GB" sz="9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Statisztika:  </a:t>
            </a:r>
            <a:r>
              <a:rPr b="0" i="0" lang="en-GB" sz="9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Mann–Whitney U + rank-biszeriális hatásméret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29"/>
          <p:cNvSpPr/>
          <p:nvPr/>
        </p:nvSpPr>
        <p:spPr>
          <a:xfrm>
            <a:off x="342909" y="2846070"/>
            <a:ext cx="2743273" cy="857250"/>
          </a:xfrm>
          <a:prstGeom prst="roundRect">
            <a:avLst>
              <a:gd fmla="val 5000" name="adj"/>
            </a:avLst>
          </a:prstGeom>
          <a:solidFill>
            <a:srgbClr val="1E2761"/>
          </a:solidFill>
          <a:ln cap="flat" cmpd="sng" w="9525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29"/>
          <p:cNvSpPr txBox="1"/>
          <p:nvPr/>
        </p:nvSpPr>
        <p:spPr>
          <a:xfrm>
            <a:off x="480073" y="2914650"/>
            <a:ext cx="2468946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D4AF37"/>
                </a:solidFill>
                <a:latin typeface="Calibri"/>
                <a:ea typeface="Calibri"/>
                <a:cs typeface="Calibri"/>
                <a:sym typeface="Calibri"/>
              </a:rPr>
              <a:t>EREDMÉNY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29"/>
          <p:cNvSpPr txBox="1"/>
          <p:nvPr/>
        </p:nvSpPr>
        <p:spPr>
          <a:xfrm>
            <a:off x="480073" y="3120390"/>
            <a:ext cx="2468946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GB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 / 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29"/>
          <p:cNvSpPr txBox="1"/>
          <p:nvPr/>
        </p:nvSpPr>
        <p:spPr>
          <a:xfrm>
            <a:off x="480073" y="3463290"/>
            <a:ext cx="246894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-GB" sz="800" u="none" cap="none" strike="noStrike">
                <a:solidFill>
                  <a:srgbClr val="EAEEF9"/>
                </a:solidFill>
                <a:latin typeface="Calibri"/>
                <a:ea typeface="Calibri"/>
                <a:cs typeface="Calibri"/>
                <a:sym typeface="Calibri"/>
              </a:rPr>
              <a:t>teszt szignifikáns · p &lt; 0.05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29"/>
          <p:cNvSpPr/>
          <p:nvPr/>
        </p:nvSpPr>
        <p:spPr>
          <a:xfrm>
            <a:off x="3223346" y="2846070"/>
            <a:ext cx="5589374" cy="85725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9"/>
          <p:cNvSpPr txBox="1"/>
          <p:nvPr/>
        </p:nvSpPr>
        <p:spPr>
          <a:xfrm>
            <a:off x="3360510" y="2935224"/>
            <a:ext cx="5417964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CÉL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29"/>
          <p:cNvSpPr txBox="1"/>
          <p:nvPr/>
        </p:nvSpPr>
        <p:spPr>
          <a:xfrm>
            <a:off x="3360510" y="315468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GB" sz="10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Kimutatni, hogy ugyanazokat a politikai szereplőket eltérő hangnemben és eltérő vizuális súllyal jelenítik meg a két médiablokk portáljai.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29"/>
          <p:cNvSpPr/>
          <p:nvPr/>
        </p:nvSpPr>
        <p:spPr>
          <a:xfrm>
            <a:off x="342909" y="3909060"/>
            <a:ext cx="1543091" cy="377190"/>
          </a:xfrm>
          <a:prstGeom prst="roundRect">
            <a:avLst>
              <a:gd fmla="val 30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00" lIns="68575" spcFirstLastPara="1" rIns="68575" wrap="square" tIns="13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GB" sz="9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1. Adatgyűjtés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29"/>
          <p:cNvSpPr/>
          <p:nvPr/>
        </p:nvSpPr>
        <p:spPr>
          <a:xfrm>
            <a:off x="2009448" y="3909060"/>
            <a:ext cx="1543091" cy="377190"/>
          </a:xfrm>
          <a:prstGeom prst="roundRect">
            <a:avLst>
              <a:gd fmla="val 30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00" lIns="68575" spcFirstLastPara="1" rIns="68575" wrap="square" tIns="13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GB" sz="9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2. LLM-elemzés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29"/>
          <p:cNvSpPr/>
          <p:nvPr/>
        </p:nvSpPr>
        <p:spPr>
          <a:xfrm>
            <a:off x="3621121" y="3909060"/>
            <a:ext cx="1543091" cy="377190"/>
          </a:xfrm>
          <a:prstGeom prst="roundRect">
            <a:avLst>
              <a:gd fmla="val 30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00" lIns="68575" spcFirstLastPara="1" rIns="68575" wrap="square" tIns="13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GB" sz="9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3. Normalizálás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29"/>
          <p:cNvSpPr/>
          <p:nvPr/>
        </p:nvSpPr>
        <p:spPr>
          <a:xfrm>
            <a:off x="5232793" y="3909060"/>
            <a:ext cx="1543091" cy="377190"/>
          </a:xfrm>
          <a:prstGeom prst="roundRect">
            <a:avLst>
              <a:gd fmla="val 30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00" lIns="68575" spcFirstLastPara="1" rIns="68575" wrap="square" tIns="13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GB" sz="9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4. Analízis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29"/>
          <p:cNvSpPr/>
          <p:nvPr/>
        </p:nvSpPr>
        <p:spPr>
          <a:xfrm>
            <a:off x="6844466" y="3909060"/>
            <a:ext cx="1543091" cy="377190"/>
          </a:xfrm>
          <a:prstGeom prst="roundRect">
            <a:avLst>
              <a:gd fmla="val 30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00" lIns="68575" spcFirstLastPara="1" rIns="68575" wrap="square" tIns="13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GB" sz="9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5. Értelmezés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29"/>
          <p:cNvSpPr txBox="1"/>
          <p:nvPr/>
        </p:nvSpPr>
        <p:spPr>
          <a:xfrm>
            <a:off x="342909" y="4903470"/>
            <a:ext cx="8435565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1" lang="en-GB" sz="7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Médiapolarizáció · H1 · Hipotézis és módszertan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0"/>
          <p:cNvSpPr/>
          <p:nvPr/>
        </p:nvSpPr>
        <p:spPr>
          <a:xfrm>
            <a:off x="0" y="0"/>
            <a:ext cx="123447" cy="51435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30"/>
          <p:cNvSpPr/>
          <p:nvPr/>
        </p:nvSpPr>
        <p:spPr>
          <a:xfrm>
            <a:off x="8264110" y="274320"/>
            <a:ext cx="651527" cy="308610"/>
          </a:xfrm>
          <a:prstGeom prst="roundRect">
            <a:avLst>
              <a:gd fmla="val 50000" name="adj"/>
            </a:avLst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GB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H1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30"/>
          <p:cNvSpPr txBox="1"/>
          <p:nvPr/>
        </p:nvSpPr>
        <p:spPr>
          <a:xfrm>
            <a:off x="342909" y="205740"/>
            <a:ext cx="7818283" cy="327825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GB" sz="2000" u="none" cap="none" strike="noStrike">
                <a:solidFill>
                  <a:srgbClr val="1E2761"/>
                </a:solidFill>
                <a:latin typeface="Lora SemiBold"/>
                <a:ea typeface="Lora SemiBold"/>
                <a:cs typeface="Lora SemiBold"/>
                <a:sym typeface="Lora SemiBold"/>
              </a:rPr>
              <a:t>H1 · Eloszlások</a:t>
            </a:r>
            <a:endParaRPr b="0" i="0" sz="1100" u="none" cap="none" strike="noStrike">
              <a:solidFill>
                <a:srgbClr val="000000"/>
              </a:solidFill>
              <a:latin typeface="Lora SemiBold"/>
              <a:ea typeface="Lora SemiBold"/>
              <a:cs typeface="Lora SemiBold"/>
              <a:sym typeface="Lora SemiBold"/>
            </a:endParaRPr>
          </a:p>
        </p:txBody>
      </p:sp>
      <p:sp>
        <p:nvSpPr>
          <p:cNvPr id="264" name="Google Shape;264;p30"/>
          <p:cNvSpPr txBox="1"/>
          <p:nvPr/>
        </p:nvSpPr>
        <p:spPr>
          <a:xfrm>
            <a:off x="356626" y="630936"/>
            <a:ext cx="7818328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GB" sz="10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Szentiment és vizuális prominencia portáltípusonként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30"/>
          <p:cNvSpPr/>
          <p:nvPr/>
        </p:nvSpPr>
        <p:spPr>
          <a:xfrm>
            <a:off x="342909" y="905256"/>
            <a:ext cx="8435565" cy="7144"/>
          </a:xfrm>
          <a:prstGeom prst="rect">
            <a:avLst/>
          </a:prstGeom>
          <a:solidFill>
            <a:srgbClr val="D6DB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hart_s2.png" id="266" name="Google Shape;266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1491" y="1028700"/>
            <a:ext cx="5349383" cy="3703320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30"/>
          <p:cNvSpPr/>
          <p:nvPr/>
        </p:nvSpPr>
        <p:spPr>
          <a:xfrm>
            <a:off x="5966618" y="1028700"/>
            <a:ext cx="2914728" cy="370332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30"/>
          <p:cNvSpPr txBox="1"/>
          <p:nvPr/>
        </p:nvSpPr>
        <p:spPr>
          <a:xfrm>
            <a:off x="6138073" y="1131570"/>
            <a:ext cx="2674691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KULCSMEGFIGYELÉSEK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30"/>
          <p:cNvSpPr/>
          <p:nvPr/>
        </p:nvSpPr>
        <p:spPr>
          <a:xfrm>
            <a:off x="6138073" y="1440179"/>
            <a:ext cx="82298" cy="65151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30"/>
          <p:cNvSpPr txBox="1"/>
          <p:nvPr/>
        </p:nvSpPr>
        <p:spPr>
          <a:xfrm>
            <a:off x="6309528" y="1405889"/>
            <a:ext cx="2503237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GB" sz="9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Tükörszerű mintázat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30"/>
          <p:cNvSpPr txBox="1"/>
          <p:nvPr/>
        </p:nvSpPr>
        <p:spPr>
          <a:xfrm>
            <a:off x="6309528" y="1632204"/>
            <a:ext cx="2503237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a kormányközeli oldalak Orbánt pozitívabban, Magyar Pétert negatívabban ábrázolják.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30"/>
          <p:cNvSpPr/>
          <p:nvPr/>
        </p:nvSpPr>
        <p:spPr>
          <a:xfrm>
            <a:off x="6138073" y="2228849"/>
            <a:ext cx="82298" cy="65151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30"/>
          <p:cNvSpPr txBox="1"/>
          <p:nvPr/>
        </p:nvSpPr>
        <p:spPr>
          <a:xfrm>
            <a:off x="6309528" y="2194559"/>
            <a:ext cx="2503237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GB" sz="9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Fordított irány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30"/>
          <p:cNvSpPr txBox="1"/>
          <p:nvPr/>
        </p:nvSpPr>
        <p:spPr>
          <a:xfrm>
            <a:off x="6309528" y="2420874"/>
            <a:ext cx="2503237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a független oldalaknál ennek az ellentéte látszik.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30"/>
          <p:cNvSpPr/>
          <p:nvPr/>
        </p:nvSpPr>
        <p:spPr>
          <a:xfrm>
            <a:off x="6138073" y="3017519"/>
            <a:ext cx="82298" cy="65151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30"/>
          <p:cNvSpPr txBox="1"/>
          <p:nvPr/>
        </p:nvSpPr>
        <p:spPr>
          <a:xfrm>
            <a:off x="6309528" y="2983229"/>
            <a:ext cx="2503237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GB" sz="9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Vizuális prominencia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30"/>
          <p:cNvSpPr txBox="1"/>
          <p:nvPr/>
        </p:nvSpPr>
        <p:spPr>
          <a:xfrm>
            <a:off x="6309528" y="3209544"/>
            <a:ext cx="2503237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mindkét szereplőnél magasabb a kormányközeli portálokon.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30"/>
          <p:cNvSpPr/>
          <p:nvPr/>
        </p:nvSpPr>
        <p:spPr>
          <a:xfrm>
            <a:off x="6138073" y="4389120"/>
            <a:ext cx="171455" cy="171450"/>
          </a:xfrm>
          <a:prstGeom prst="rect">
            <a:avLst/>
          </a:prstGeom>
          <a:solidFill>
            <a:srgbClr val="C75450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30"/>
          <p:cNvSpPr txBox="1"/>
          <p:nvPr/>
        </p:nvSpPr>
        <p:spPr>
          <a:xfrm>
            <a:off x="6343819" y="4375404"/>
            <a:ext cx="1165891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Kormányközeli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30"/>
          <p:cNvSpPr/>
          <p:nvPr/>
        </p:nvSpPr>
        <p:spPr>
          <a:xfrm>
            <a:off x="7475419" y="4389120"/>
            <a:ext cx="171455" cy="171450"/>
          </a:xfrm>
          <a:prstGeom prst="rect">
            <a:avLst/>
          </a:prstGeom>
          <a:solidFill>
            <a:srgbClr val="4A89C5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30"/>
          <p:cNvSpPr txBox="1"/>
          <p:nvPr/>
        </p:nvSpPr>
        <p:spPr>
          <a:xfrm>
            <a:off x="7681165" y="4375404"/>
            <a:ext cx="1165891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Független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30"/>
          <p:cNvSpPr txBox="1"/>
          <p:nvPr/>
        </p:nvSpPr>
        <p:spPr>
          <a:xfrm>
            <a:off x="342909" y="4903470"/>
            <a:ext cx="8435565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1" lang="en-GB" sz="7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Médiapolarizáció · H1 · Eloszlások (hegedűdiagram, n=4 107)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31"/>
          <p:cNvSpPr/>
          <p:nvPr/>
        </p:nvSpPr>
        <p:spPr>
          <a:xfrm>
            <a:off x="0" y="0"/>
            <a:ext cx="123447" cy="51435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31"/>
          <p:cNvSpPr/>
          <p:nvPr/>
        </p:nvSpPr>
        <p:spPr>
          <a:xfrm>
            <a:off x="8264110" y="274320"/>
            <a:ext cx="651527" cy="308610"/>
          </a:xfrm>
          <a:prstGeom prst="roundRect">
            <a:avLst>
              <a:gd fmla="val 50000" name="adj"/>
            </a:avLst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GB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H1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31"/>
          <p:cNvSpPr txBox="1"/>
          <p:nvPr/>
        </p:nvSpPr>
        <p:spPr>
          <a:xfrm>
            <a:off x="342909" y="205740"/>
            <a:ext cx="7818283" cy="327825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GB" sz="2000" u="none" cap="none" strike="noStrike">
                <a:solidFill>
                  <a:srgbClr val="1E2761"/>
                </a:solidFill>
                <a:latin typeface="Lora SemiBold"/>
                <a:ea typeface="Lora SemiBold"/>
                <a:cs typeface="Lora SemiBold"/>
                <a:sym typeface="Lora SemiBold"/>
              </a:rPr>
              <a:t>H1 · Átlagok és különbségek</a:t>
            </a:r>
            <a:endParaRPr b="0" i="0" sz="1100" u="none" cap="none" strike="noStrike">
              <a:solidFill>
                <a:srgbClr val="000000"/>
              </a:solidFill>
              <a:latin typeface="Lora SemiBold"/>
              <a:ea typeface="Lora SemiBold"/>
              <a:cs typeface="Lora SemiBold"/>
              <a:sym typeface="Lora SemiBold"/>
            </a:endParaRPr>
          </a:p>
        </p:txBody>
      </p:sp>
      <p:sp>
        <p:nvSpPr>
          <p:cNvPr id="290" name="Google Shape;290;p31"/>
          <p:cNvSpPr txBox="1"/>
          <p:nvPr/>
        </p:nvSpPr>
        <p:spPr>
          <a:xfrm>
            <a:off x="356626" y="630936"/>
            <a:ext cx="7818328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GB" sz="10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Δ = kormányközeli átlag − független átlag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31"/>
          <p:cNvSpPr/>
          <p:nvPr/>
        </p:nvSpPr>
        <p:spPr>
          <a:xfrm>
            <a:off x="342909" y="905256"/>
            <a:ext cx="8435565" cy="7144"/>
          </a:xfrm>
          <a:prstGeom prst="rect">
            <a:avLst/>
          </a:prstGeom>
          <a:solidFill>
            <a:srgbClr val="D6DB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hart_s3.png" id="292" name="Google Shape;292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2909" y="1062990"/>
            <a:ext cx="5760874" cy="2331720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31"/>
          <p:cNvSpPr/>
          <p:nvPr/>
        </p:nvSpPr>
        <p:spPr>
          <a:xfrm>
            <a:off x="6240946" y="1062990"/>
            <a:ext cx="2640400" cy="233172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31"/>
          <p:cNvSpPr txBox="1"/>
          <p:nvPr/>
        </p:nvSpPr>
        <p:spPr>
          <a:xfrm>
            <a:off x="6378110" y="1165860"/>
            <a:ext cx="2434655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OLVASAT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31"/>
          <p:cNvSpPr/>
          <p:nvPr/>
        </p:nvSpPr>
        <p:spPr>
          <a:xfrm>
            <a:off x="6412401" y="1474470"/>
            <a:ext cx="68582" cy="68580"/>
          </a:xfrm>
          <a:prstGeom prst="ellipse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31"/>
          <p:cNvSpPr txBox="1"/>
          <p:nvPr/>
        </p:nvSpPr>
        <p:spPr>
          <a:xfrm>
            <a:off x="6549565" y="1392173"/>
            <a:ext cx="22632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Szentiment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31"/>
          <p:cNvSpPr txBox="1"/>
          <p:nvPr/>
        </p:nvSpPr>
        <p:spPr>
          <a:xfrm>
            <a:off x="6549565" y="1577340"/>
            <a:ext cx="22632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ellentétes előjelű Δ-k a két szereplőnél.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31"/>
          <p:cNvSpPr/>
          <p:nvPr/>
        </p:nvSpPr>
        <p:spPr>
          <a:xfrm>
            <a:off x="6412401" y="2057400"/>
            <a:ext cx="68582" cy="68580"/>
          </a:xfrm>
          <a:prstGeom prst="ellipse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31"/>
          <p:cNvSpPr txBox="1"/>
          <p:nvPr/>
        </p:nvSpPr>
        <p:spPr>
          <a:xfrm>
            <a:off x="6549565" y="1975104"/>
            <a:ext cx="22632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Vizuális prominencia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31"/>
          <p:cNvSpPr txBox="1"/>
          <p:nvPr/>
        </p:nvSpPr>
        <p:spPr>
          <a:xfrm>
            <a:off x="6549565" y="2160270"/>
            <a:ext cx="22632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mindkét szereplőnél pozitív Δ.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31"/>
          <p:cNvSpPr/>
          <p:nvPr/>
        </p:nvSpPr>
        <p:spPr>
          <a:xfrm>
            <a:off x="6412401" y="2640330"/>
            <a:ext cx="68582" cy="68580"/>
          </a:xfrm>
          <a:prstGeom prst="ellipse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31"/>
          <p:cNvSpPr txBox="1"/>
          <p:nvPr/>
        </p:nvSpPr>
        <p:spPr>
          <a:xfrm>
            <a:off x="6549565" y="2558034"/>
            <a:ext cx="22632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Mintázat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31"/>
          <p:cNvSpPr txBox="1"/>
          <p:nvPr/>
        </p:nvSpPr>
        <p:spPr>
          <a:xfrm>
            <a:off x="6549565" y="2743200"/>
            <a:ext cx="22632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támogatja a polarizáció hipotézisét.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31"/>
          <p:cNvSpPr/>
          <p:nvPr/>
        </p:nvSpPr>
        <p:spPr>
          <a:xfrm>
            <a:off x="342909" y="3566160"/>
            <a:ext cx="8469856" cy="116586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31"/>
          <p:cNvSpPr txBox="1"/>
          <p:nvPr/>
        </p:nvSpPr>
        <p:spPr>
          <a:xfrm>
            <a:off x="411491" y="3703320"/>
            <a:ext cx="19803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GB" sz="2300" u="none" cap="none" strike="noStrike">
                <a:solidFill>
                  <a:srgbClr val="4A89C5"/>
                </a:solidFill>
                <a:latin typeface="Calibri"/>
                <a:ea typeface="Calibri"/>
                <a:cs typeface="Calibri"/>
                <a:sym typeface="Calibri"/>
              </a:rPr>
              <a:t>−0.148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31"/>
          <p:cNvSpPr txBox="1"/>
          <p:nvPr/>
        </p:nvSpPr>
        <p:spPr>
          <a:xfrm>
            <a:off x="411491" y="4217670"/>
            <a:ext cx="19803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GB" sz="8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Δ szentiment</a:t>
            </a:r>
            <a:br>
              <a:rPr b="0" i="0" lang="en-GB" sz="8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GB" sz="8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Magyar Péter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31"/>
          <p:cNvSpPr/>
          <p:nvPr/>
        </p:nvSpPr>
        <p:spPr>
          <a:xfrm>
            <a:off x="2460373" y="3771900"/>
            <a:ext cx="7144" cy="754380"/>
          </a:xfrm>
          <a:prstGeom prst="rect">
            <a:avLst/>
          </a:prstGeom>
          <a:solidFill>
            <a:srgbClr val="D6DB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31"/>
          <p:cNvSpPr txBox="1"/>
          <p:nvPr/>
        </p:nvSpPr>
        <p:spPr>
          <a:xfrm>
            <a:off x="2528955" y="3703320"/>
            <a:ext cx="19803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GB" sz="23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+0.191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31"/>
          <p:cNvSpPr txBox="1"/>
          <p:nvPr/>
        </p:nvSpPr>
        <p:spPr>
          <a:xfrm>
            <a:off x="2528955" y="4217670"/>
            <a:ext cx="19803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GB" sz="8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Δ szentiment</a:t>
            </a:r>
            <a:br>
              <a:rPr b="0" i="0" lang="en-GB" sz="8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GB" sz="8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Orbán Viktor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31"/>
          <p:cNvSpPr/>
          <p:nvPr/>
        </p:nvSpPr>
        <p:spPr>
          <a:xfrm>
            <a:off x="4577837" y="3771900"/>
            <a:ext cx="7144" cy="754380"/>
          </a:xfrm>
          <a:prstGeom prst="rect">
            <a:avLst/>
          </a:prstGeom>
          <a:solidFill>
            <a:srgbClr val="D6DB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31"/>
          <p:cNvSpPr txBox="1"/>
          <p:nvPr/>
        </p:nvSpPr>
        <p:spPr>
          <a:xfrm>
            <a:off x="4646418" y="3703320"/>
            <a:ext cx="19803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GB" sz="23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+0.077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31"/>
          <p:cNvSpPr txBox="1"/>
          <p:nvPr/>
        </p:nvSpPr>
        <p:spPr>
          <a:xfrm>
            <a:off x="4646418" y="4217670"/>
            <a:ext cx="19803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GB" sz="8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Δ vizuális</a:t>
            </a:r>
            <a:br>
              <a:rPr b="0" i="0" lang="en-GB" sz="8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GB" sz="8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Magyar Péter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31"/>
          <p:cNvSpPr/>
          <p:nvPr/>
        </p:nvSpPr>
        <p:spPr>
          <a:xfrm>
            <a:off x="6695301" y="3771900"/>
            <a:ext cx="7144" cy="754380"/>
          </a:xfrm>
          <a:prstGeom prst="rect">
            <a:avLst/>
          </a:prstGeom>
          <a:solidFill>
            <a:srgbClr val="D6DB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31"/>
          <p:cNvSpPr txBox="1"/>
          <p:nvPr/>
        </p:nvSpPr>
        <p:spPr>
          <a:xfrm>
            <a:off x="6763882" y="3703320"/>
            <a:ext cx="19803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GB" sz="23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+0.089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31"/>
          <p:cNvSpPr txBox="1"/>
          <p:nvPr/>
        </p:nvSpPr>
        <p:spPr>
          <a:xfrm>
            <a:off x="6763882" y="4217670"/>
            <a:ext cx="19803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GB" sz="8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Δ vizuális</a:t>
            </a:r>
            <a:br>
              <a:rPr b="0" i="0" lang="en-GB" sz="8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GB" sz="8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Orbán Viktor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31"/>
          <p:cNvSpPr txBox="1"/>
          <p:nvPr/>
        </p:nvSpPr>
        <p:spPr>
          <a:xfrm>
            <a:off x="342909" y="4903470"/>
            <a:ext cx="8435565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1" lang="en-GB" sz="7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Médiapolarizáció · H1 · Átlagok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32"/>
          <p:cNvSpPr/>
          <p:nvPr/>
        </p:nvSpPr>
        <p:spPr>
          <a:xfrm>
            <a:off x="0" y="0"/>
            <a:ext cx="123447" cy="51435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32"/>
          <p:cNvSpPr/>
          <p:nvPr/>
        </p:nvSpPr>
        <p:spPr>
          <a:xfrm>
            <a:off x="8264110" y="274320"/>
            <a:ext cx="651527" cy="308610"/>
          </a:xfrm>
          <a:prstGeom prst="roundRect">
            <a:avLst>
              <a:gd fmla="val 50000" name="adj"/>
            </a:avLst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GB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H1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32"/>
          <p:cNvSpPr txBox="1"/>
          <p:nvPr/>
        </p:nvSpPr>
        <p:spPr>
          <a:xfrm>
            <a:off x="342909" y="205740"/>
            <a:ext cx="7818283" cy="327825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GB" sz="2000" u="none" cap="none" strike="noStrike">
                <a:solidFill>
                  <a:srgbClr val="1E2761"/>
                </a:solidFill>
                <a:latin typeface="Lora SemiBold"/>
                <a:ea typeface="Lora SemiBold"/>
                <a:cs typeface="Lora SemiBold"/>
                <a:sym typeface="Lora SemiBold"/>
              </a:rPr>
              <a:t>H1 · Statisztikai tesztek</a:t>
            </a:r>
            <a:endParaRPr b="0" i="0" sz="1100" u="none" cap="none" strike="noStrike">
              <a:solidFill>
                <a:srgbClr val="000000"/>
              </a:solidFill>
              <a:latin typeface="Lora SemiBold"/>
              <a:ea typeface="Lora SemiBold"/>
              <a:cs typeface="Lora SemiBold"/>
              <a:sym typeface="Lora SemiBold"/>
            </a:endParaRPr>
          </a:p>
        </p:txBody>
      </p:sp>
      <p:sp>
        <p:nvSpPr>
          <p:cNvPr id="324" name="Google Shape;324;p32"/>
          <p:cNvSpPr txBox="1"/>
          <p:nvPr/>
        </p:nvSpPr>
        <p:spPr>
          <a:xfrm>
            <a:off x="356626" y="630936"/>
            <a:ext cx="7818328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GB" sz="10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Mann–Whitney U teszt és rank-biszeriális hatásméret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32"/>
          <p:cNvSpPr/>
          <p:nvPr/>
        </p:nvSpPr>
        <p:spPr>
          <a:xfrm>
            <a:off x="342909" y="905256"/>
            <a:ext cx="8435565" cy="7144"/>
          </a:xfrm>
          <a:prstGeom prst="rect">
            <a:avLst/>
          </a:prstGeom>
          <a:solidFill>
            <a:srgbClr val="D6DB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32"/>
          <p:cNvSpPr txBox="1"/>
          <p:nvPr/>
        </p:nvSpPr>
        <p:spPr>
          <a:xfrm>
            <a:off x="342909" y="1028700"/>
            <a:ext cx="8435565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GB" sz="9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Nem-paraméteres teszt, ezért jól illeszkedik a 0–1-re normalizált, ferde eloszlású adatokhoz.  </a:t>
            </a:r>
            <a:r>
              <a:rPr b="1" i="0" lang="en-GB" sz="9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p &lt; 0.05</a:t>
            </a:r>
            <a:r>
              <a:rPr b="0" i="0" lang="en-GB" sz="9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: a különbség nem a véletlen műve.  </a:t>
            </a:r>
            <a:r>
              <a:rPr b="1" i="0" lang="en-GB" sz="9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r>
              <a:rPr b="0" i="0" lang="en-GB" sz="9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: a különbség gyakorlati nagysága.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27" name="Google Shape;327;p32"/>
          <p:cNvGraphicFramePr/>
          <p:nvPr/>
        </p:nvGraphicFramePr>
        <p:xfrm>
          <a:off x="342909" y="168021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{02B4F9B2-E791-447A-981E-08FD4EC66F5B}</a:tableStyleId>
              </a:tblPr>
              <a:tblGrid>
                <a:gridCol w="1104925"/>
                <a:gridCol w="1325900"/>
                <a:gridCol w="662950"/>
                <a:gridCol w="662950"/>
                <a:gridCol w="662950"/>
                <a:gridCol w="810275"/>
                <a:gridCol w="736600"/>
              </a:tblGrid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-GB" sz="9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Entitás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-GB" sz="9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Mérőszám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-GB" sz="9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Gov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-GB" sz="9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Ind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-GB" sz="9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Δ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-GB" sz="9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-GB" sz="9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1E2761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Magyar Péter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Szentiment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0.288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0.436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-GB" sz="900" u="none" cap="none" strike="noStrike">
                          <a:solidFill>
                            <a:srgbClr val="4A89C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−0.148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0.001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+0.456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Magyar Péter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Vizuális prominencia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0.784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0.707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-GB" sz="900" u="none" cap="none" strike="noStrike">
                          <a:solidFill>
                            <a:srgbClr val="C754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+0.077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0.001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−0.249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Orbán Viktor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Szentiment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0.557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0.366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-GB" sz="900" u="none" cap="none" strike="noStrike">
                          <a:solidFill>
                            <a:srgbClr val="C754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+0.191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0.001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−0.543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Orbán Viktor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Vizuális prominencia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0.774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0.685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-GB" sz="900" u="none" cap="none" strike="noStrike">
                          <a:solidFill>
                            <a:srgbClr val="C754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+0.089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0.001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−0.276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</a:tr>
            </a:tbl>
          </a:graphicData>
        </a:graphic>
      </p:graphicFrame>
      <p:sp>
        <p:nvSpPr>
          <p:cNvPr id="328" name="Google Shape;328;p32"/>
          <p:cNvSpPr/>
          <p:nvPr/>
        </p:nvSpPr>
        <p:spPr>
          <a:xfrm>
            <a:off x="6446692" y="1680210"/>
            <a:ext cx="2400364" cy="1783080"/>
          </a:xfrm>
          <a:prstGeom prst="roundRect">
            <a:avLst>
              <a:gd fmla="val 5000" name="adj"/>
            </a:avLst>
          </a:prstGeom>
          <a:solidFill>
            <a:srgbClr val="1E2761"/>
          </a:solidFill>
          <a:ln cap="flat" cmpd="sng" w="9525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32"/>
          <p:cNvSpPr txBox="1"/>
          <p:nvPr/>
        </p:nvSpPr>
        <p:spPr>
          <a:xfrm>
            <a:off x="6583856" y="1783080"/>
            <a:ext cx="2194619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D4AF37"/>
                </a:solidFill>
                <a:latin typeface="Calibri"/>
                <a:ea typeface="Calibri"/>
                <a:cs typeface="Calibri"/>
                <a:sym typeface="Calibri"/>
              </a:rPr>
              <a:t>ÖSSZEFOGLALÓ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32"/>
          <p:cNvSpPr txBox="1"/>
          <p:nvPr/>
        </p:nvSpPr>
        <p:spPr>
          <a:xfrm>
            <a:off x="6583856" y="2023110"/>
            <a:ext cx="2194619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GB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 / 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32"/>
          <p:cNvSpPr txBox="1"/>
          <p:nvPr/>
        </p:nvSpPr>
        <p:spPr>
          <a:xfrm>
            <a:off x="6583856" y="2606040"/>
            <a:ext cx="2194619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GB" sz="1000" u="none" cap="none" strike="noStrike">
                <a:solidFill>
                  <a:srgbClr val="EAEEF9"/>
                </a:solidFill>
                <a:latin typeface="Calibri"/>
                <a:ea typeface="Calibri"/>
                <a:cs typeface="Calibri"/>
                <a:sym typeface="Calibri"/>
              </a:rPr>
              <a:t>teszt szignifikáns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32"/>
          <p:cNvSpPr txBox="1"/>
          <p:nvPr/>
        </p:nvSpPr>
        <p:spPr>
          <a:xfrm>
            <a:off x="6583856" y="2914650"/>
            <a:ext cx="2194619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-GB" sz="800" u="none" cap="none" strike="noStrike">
                <a:solidFill>
                  <a:srgbClr val="EAEEF9"/>
                </a:solidFill>
                <a:latin typeface="Calibri"/>
                <a:ea typeface="Calibri"/>
                <a:cs typeface="Calibri"/>
                <a:sym typeface="Calibri"/>
              </a:rPr>
              <a:t>Minden vizsgált különbség statisztikailag stabil.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32"/>
          <p:cNvSpPr/>
          <p:nvPr/>
        </p:nvSpPr>
        <p:spPr>
          <a:xfrm>
            <a:off x="342909" y="3600450"/>
            <a:ext cx="8469856" cy="96012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32"/>
          <p:cNvSpPr txBox="1"/>
          <p:nvPr/>
        </p:nvSpPr>
        <p:spPr>
          <a:xfrm>
            <a:off x="514364" y="3703320"/>
            <a:ext cx="82298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VERDIKT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32"/>
          <p:cNvSpPr txBox="1"/>
          <p:nvPr/>
        </p:nvSpPr>
        <p:spPr>
          <a:xfrm>
            <a:off x="514364" y="3943350"/>
            <a:ext cx="8229819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GB" sz="13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Mind a 4 teszt szignifikáns: a különbség nem csak irányában, hanem statisztikailag is stabil.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32"/>
          <p:cNvSpPr txBox="1"/>
          <p:nvPr/>
        </p:nvSpPr>
        <p:spPr>
          <a:xfrm>
            <a:off x="342909" y="4903470"/>
            <a:ext cx="8435565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1" lang="en-GB" sz="7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Médiapolarizáció · H1 · Mann–Whitney U, rank-biszeriális r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33"/>
          <p:cNvSpPr/>
          <p:nvPr/>
        </p:nvSpPr>
        <p:spPr>
          <a:xfrm>
            <a:off x="0" y="0"/>
            <a:ext cx="123447" cy="51435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33"/>
          <p:cNvSpPr/>
          <p:nvPr/>
        </p:nvSpPr>
        <p:spPr>
          <a:xfrm>
            <a:off x="8264110" y="274320"/>
            <a:ext cx="651527" cy="308610"/>
          </a:xfrm>
          <a:prstGeom prst="roundRect">
            <a:avLst>
              <a:gd fmla="val 50000" name="adj"/>
            </a:avLst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GB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H1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33"/>
          <p:cNvSpPr txBox="1"/>
          <p:nvPr/>
        </p:nvSpPr>
        <p:spPr>
          <a:xfrm>
            <a:off x="342909" y="205740"/>
            <a:ext cx="7818283" cy="327825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GB" sz="2000" u="none" cap="none" strike="noStrike">
                <a:solidFill>
                  <a:srgbClr val="1E2761"/>
                </a:solidFill>
                <a:latin typeface="Lora SemiBold"/>
                <a:ea typeface="Lora SemiBold"/>
                <a:cs typeface="Lora SemiBold"/>
                <a:sym typeface="Lora SemiBold"/>
              </a:rPr>
              <a:t>H1 Verdikt · Megerősítve</a:t>
            </a:r>
            <a:endParaRPr b="0" i="0" sz="1100" u="none" cap="none" strike="noStrike">
              <a:solidFill>
                <a:srgbClr val="000000"/>
              </a:solidFill>
              <a:latin typeface="Lora SemiBold"/>
              <a:ea typeface="Lora SemiBold"/>
              <a:cs typeface="Lora SemiBold"/>
              <a:sym typeface="Lora SemiBold"/>
            </a:endParaRPr>
          </a:p>
        </p:txBody>
      </p:sp>
      <p:sp>
        <p:nvSpPr>
          <p:cNvPr id="344" name="Google Shape;344;p33"/>
          <p:cNvSpPr txBox="1"/>
          <p:nvPr/>
        </p:nvSpPr>
        <p:spPr>
          <a:xfrm>
            <a:off x="356626" y="630936"/>
            <a:ext cx="7818328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GB" sz="10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A magyar online médiarendszer szisztematikusan és mérhetően polarizált.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33"/>
          <p:cNvSpPr/>
          <p:nvPr/>
        </p:nvSpPr>
        <p:spPr>
          <a:xfrm>
            <a:off x="342909" y="905256"/>
            <a:ext cx="8435565" cy="7144"/>
          </a:xfrm>
          <a:prstGeom prst="rect">
            <a:avLst/>
          </a:prstGeom>
          <a:solidFill>
            <a:srgbClr val="D6DB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33"/>
          <p:cNvSpPr/>
          <p:nvPr/>
        </p:nvSpPr>
        <p:spPr>
          <a:xfrm>
            <a:off x="342909" y="1062990"/>
            <a:ext cx="4183492" cy="205740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33"/>
          <p:cNvSpPr txBox="1"/>
          <p:nvPr/>
        </p:nvSpPr>
        <p:spPr>
          <a:xfrm>
            <a:off x="514364" y="1165860"/>
            <a:ext cx="3909164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MAGYAR PÉTER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33"/>
          <p:cNvSpPr txBox="1"/>
          <p:nvPr/>
        </p:nvSpPr>
        <p:spPr>
          <a:xfrm>
            <a:off x="514364" y="1405889"/>
            <a:ext cx="3909164" cy="7543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GB" sz="11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Negatívabb szentiment a kormányközeli oldalakon, ugyanakkor nagyobb vizuális hangsúly.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9" name="Google Shape;349;p33"/>
          <p:cNvSpPr txBox="1"/>
          <p:nvPr/>
        </p:nvSpPr>
        <p:spPr>
          <a:xfrm>
            <a:off x="514364" y="2160270"/>
            <a:ext cx="1920291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rgbClr val="4A89C5"/>
                </a:solidFill>
                <a:latin typeface="Calibri"/>
                <a:ea typeface="Calibri"/>
                <a:cs typeface="Calibri"/>
                <a:sym typeface="Calibri"/>
              </a:rPr>
              <a:t>−0.148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33"/>
          <p:cNvSpPr txBox="1"/>
          <p:nvPr/>
        </p:nvSpPr>
        <p:spPr>
          <a:xfrm>
            <a:off x="514364" y="2503170"/>
            <a:ext cx="1920291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GB" sz="8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Δ szentiment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33"/>
          <p:cNvSpPr txBox="1"/>
          <p:nvPr/>
        </p:nvSpPr>
        <p:spPr>
          <a:xfrm>
            <a:off x="2468946" y="2160270"/>
            <a:ext cx="1920291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+0.077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33"/>
          <p:cNvSpPr txBox="1"/>
          <p:nvPr/>
        </p:nvSpPr>
        <p:spPr>
          <a:xfrm>
            <a:off x="2468946" y="2503170"/>
            <a:ext cx="1920291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GB" sz="8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Δ vizuális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33"/>
          <p:cNvSpPr txBox="1"/>
          <p:nvPr/>
        </p:nvSpPr>
        <p:spPr>
          <a:xfrm>
            <a:off x="514364" y="2777490"/>
            <a:ext cx="3909164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-GB" sz="8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→ két ellentétes erő ugyanazon szereplőn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33"/>
          <p:cNvSpPr/>
          <p:nvPr/>
        </p:nvSpPr>
        <p:spPr>
          <a:xfrm>
            <a:off x="4629273" y="1062990"/>
            <a:ext cx="4183492" cy="205740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33"/>
          <p:cNvSpPr txBox="1"/>
          <p:nvPr/>
        </p:nvSpPr>
        <p:spPr>
          <a:xfrm>
            <a:off x="4800728" y="1165860"/>
            <a:ext cx="3909164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ORBÁN VIKTOR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33"/>
          <p:cNvSpPr txBox="1"/>
          <p:nvPr/>
        </p:nvSpPr>
        <p:spPr>
          <a:xfrm>
            <a:off x="4800728" y="1405889"/>
            <a:ext cx="3909164" cy="7543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GB" sz="11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Pozitívabb szentiment a kormányközeli oldalakon, szintén nagyobb vizuális hangsúllyal.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33"/>
          <p:cNvSpPr txBox="1"/>
          <p:nvPr/>
        </p:nvSpPr>
        <p:spPr>
          <a:xfrm>
            <a:off x="4800728" y="2160270"/>
            <a:ext cx="1920291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+0.191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33"/>
          <p:cNvSpPr txBox="1"/>
          <p:nvPr/>
        </p:nvSpPr>
        <p:spPr>
          <a:xfrm>
            <a:off x="4800728" y="2503170"/>
            <a:ext cx="1920291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GB" sz="8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Δ szentiment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33"/>
          <p:cNvSpPr txBox="1"/>
          <p:nvPr/>
        </p:nvSpPr>
        <p:spPr>
          <a:xfrm>
            <a:off x="6755310" y="2160270"/>
            <a:ext cx="1920291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+0.089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33"/>
          <p:cNvSpPr txBox="1"/>
          <p:nvPr/>
        </p:nvSpPr>
        <p:spPr>
          <a:xfrm>
            <a:off x="6755310" y="2503170"/>
            <a:ext cx="1920291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GB" sz="8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Δ vizuális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33"/>
          <p:cNvSpPr txBox="1"/>
          <p:nvPr/>
        </p:nvSpPr>
        <p:spPr>
          <a:xfrm>
            <a:off x="4800728" y="2777490"/>
            <a:ext cx="3909164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-GB" sz="8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→ a médiablokk egyszerre emeli és pozitív keretbe helyezi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33"/>
          <p:cNvSpPr/>
          <p:nvPr/>
        </p:nvSpPr>
        <p:spPr>
          <a:xfrm>
            <a:off x="342909" y="3257550"/>
            <a:ext cx="8469856" cy="994410"/>
          </a:xfrm>
          <a:prstGeom prst="roundRect">
            <a:avLst>
              <a:gd fmla="val 5000" name="adj"/>
            </a:avLst>
          </a:prstGeom>
          <a:solidFill>
            <a:srgbClr val="1E2761"/>
          </a:solidFill>
          <a:ln cap="flat" cmpd="sng" w="9525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33"/>
          <p:cNvSpPr txBox="1"/>
          <p:nvPr/>
        </p:nvSpPr>
        <p:spPr>
          <a:xfrm>
            <a:off x="548655" y="3360420"/>
            <a:ext cx="8161238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D4AF37"/>
                </a:solidFill>
                <a:latin typeface="Calibri"/>
                <a:ea typeface="Calibri"/>
                <a:cs typeface="Calibri"/>
                <a:sym typeface="Calibri"/>
              </a:rPr>
              <a:t>SZIMMETRIKUS MINTÁZAT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33"/>
          <p:cNvSpPr txBox="1"/>
          <p:nvPr/>
        </p:nvSpPr>
        <p:spPr>
          <a:xfrm>
            <a:off x="548655" y="3586734"/>
            <a:ext cx="8161238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GB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Ugyanaz a médiablokk egyszerre erősíti az egyik és gyengíti a másik szereplő megítélését.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33"/>
          <p:cNvSpPr txBox="1"/>
          <p:nvPr/>
        </p:nvSpPr>
        <p:spPr>
          <a:xfrm>
            <a:off x="342909" y="4389120"/>
            <a:ext cx="8435565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1" lang="en-GB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Kulcsüzenet: a polarizáció nem csak hangnemben, hanem vizuális kiemelésben is mérhető.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33"/>
          <p:cNvSpPr txBox="1"/>
          <p:nvPr/>
        </p:nvSpPr>
        <p:spPr>
          <a:xfrm>
            <a:off x="342909" y="4903470"/>
            <a:ext cx="8435565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1" lang="en-GB" sz="7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Médiapolarizáció · H1 · Verdikt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34"/>
          <p:cNvSpPr/>
          <p:nvPr/>
        </p:nvSpPr>
        <p:spPr>
          <a:xfrm>
            <a:off x="0" y="0"/>
            <a:ext cx="123447" cy="51435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34"/>
          <p:cNvSpPr/>
          <p:nvPr/>
        </p:nvSpPr>
        <p:spPr>
          <a:xfrm>
            <a:off x="8264110" y="274320"/>
            <a:ext cx="651527" cy="308610"/>
          </a:xfrm>
          <a:prstGeom prst="roundRect">
            <a:avLst>
              <a:gd fmla="val 50000" name="adj"/>
            </a:avLst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GB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H2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34"/>
          <p:cNvSpPr txBox="1"/>
          <p:nvPr/>
        </p:nvSpPr>
        <p:spPr>
          <a:xfrm>
            <a:off x="342909" y="205740"/>
            <a:ext cx="7818283" cy="327825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GB" sz="2000" u="none" cap="none" strike="noStrike">
                <a:solidFill>
                  <a:srgbClr val="1E2761"/>
                </a:solidFill>
                <a:latin typeface="Lora SemiBold"/>
                <a:ea typeface="Lora SemiBold"/>
                <a:cs typeface="Lora SemiBold"/>
                <a:sym typeface="Lora SemiBold"/>
              </a:rPr>
              <a:t>H2 · Vizuális hangsúly és érzelmi töltet</a:t>
            </a:r>
            <a:endParaRPr b="0" i="0" sz="1100" u="none" cap="none" strike="noStrike">
              <a:solidFill>
                <a:srgbClr val="000000"/>
              </a:solidFill>
              <a:latin typeface="Lora SemiBold"/>
              <a:ea typeface="Lora SemiBold"/>
              <a:cs typeface="Lora SemiBold"/>
              <a:sym typeface="Lora SemiBold"/>
            </a:endParaRPr>
          </a:p>
        </p:txBody>
      </p:sp>
      <p:sp>
        <p:nvSpPr>
          <p:cNvPr id="374" name="Google Shape;374;p34"/>
          <p:cNvSpPr txBox="1"/>
          <p:nvPr/>
        </p:nvSpPr>
        <p:spPr>
          <a:xfrm>
            <a:off x="356626" y="630936"/>
            <a:ext cx="7818328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GB" sz="10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Hipotézis és módszertan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34"/>
          <p:cNvSpPr/>
          <p:nvPr/>
        </p:nvSpPr>
        <p:spPr>
          <a:xfrm>
            <a:off x="342909" y="905256"/>
            <a:ext cx="8435565" cy="7144"/>
          </a:xfrm>
          <a:prstGeom prst="rect">
            <a:avLst/>
          </a:prstGeom>
          <a:solidFill>
            <a:srgbClr val="D6DB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34"/>
          <p:cNvSpPr/>
          <p:nvPr/>
        </p:nvSpPr>
        <p:spPr>
          <a:xfrm>
            <a:off x="342909" y="1062990"/>
            <a:ext cx="4183492" cy="137160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34"/>
          <p:cNvSpPr txBox="1"/>
          <p:nvPr/>
        </p:nvSpPr>
        <p:spPr>
          <a:xfrm>
            <a:off x="514364" y="1165860"/>
            <a:ext cx="3909164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HIPOTÉZIS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34"/>
          <p:cNvSpPr txBox="1"/>
          <p:nvPr/>
        </p:nvSpPr>
        <p:spPr>
          <a:xfrm>
            <a:off x="514364" y="1405889"/>
            <a:ext cx="3909164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GB" sz="11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A negatív érzelmi töltetű szalagcímek átlagosan magasabb fontossági pontszámot kapnak, mint a semleges hírek.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34"/>
          <p:cNvSpPr txBox="1"/>
          <p:nvPr/>
        </p:nvSpPr>
        <p:spPr>
          <a:xfrm>
            <a:off x="4732146" y="1062990"/>
            <a:ext cx="411491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HÁROM LÉPCSŐS VIZSGÁLAT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34"/>
          <p:cNvSpPr/>
          <p:nvPr/>
        </p:nvSpPr>
        <p:spPr>
          <a:xfrm>
            <a:off x="4732146" y="1337310"/>
            <a:ext cx="342909" cy="342900"/>
          </a:xfrm>
          <a:prstGeom prst="ellipse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GB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34"/>
          <p:cNvSpPr txBox="1"/>
          <p:nvPr/>
        </p:nvSpPr>
        <p:spPr>
          <a:xfrm>
            <a:off x="5177928" y="1323594"/>
            <a:ext cx="3634837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GB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Spearman-rangkorreláció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34"/>
          <p:cNvSpPr txBox="1"/>
          <p:nvPr/>
        </p:nvSpPr>
        <p:spPr>
          <a:xfrm>
            <a:off x="5177928" y="1522475"/>
            <a:ext cx="3634837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együttjár-e a szentiment és a norm_score?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34"/>
          <p:cNvSpPr/>
          <p:nvPr/>
        </p:nvSpPr>
        <p:spPr>
          <a:xfrm>
            <a:off x="4732146" y="1851660"/>
            <a:ext cx="342909" cy="342900"/>
          </a:xfrm>
          <a:prstGeom prst="ellipse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GB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34"/>
          <p:cNvSpPr txBox="1"/>
          <p:nvPr/>
        </p:nvSpPr>
        <p:spPr>
          <a:xfrm>
            <a:off x="5177928" y="1837944"/>
            <a:ext cx="3634837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GB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Mann–Whitney U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34"/>
          <p:cNvSpPr txBox="1"/>
          <p:nvPr/>
        </p:nvSpPr>
        <p:spPr>
          <a:xfrm>
            <a:off x="5177928" y="2036826"/>
            <a:ext cx="3634837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Negatív / Semleges / Pozitív sávok összevetése.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34"/>
          <p:cNvSpPr/>
          <p:nvPr/>
        </p:nvSpPr>
        <p:spPr>
          <a:xfrm>
            <a:off x="4732146" y="2366010"/>
            <a:ext cx="342909" cy="342900"/>
          </a:xfrm>
          <a:prstGeom prst="ellipse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GB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34"/>
          <p:cNvSpPr txBox="1"/>
          <p:nvPr/>
        </p:nvSpPr>
        <p:spPr>
          <a:xfrm>
            <a:off x="5177928" y="2352294"/>
            <a:ext cx="3634837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GB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OLS regresszió interakcióval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" name="Google Shape;388;p34"/>
          <p:cNvSpPr txBox="1"/>
          <p:nvPr/>
        </p:nvSpPr>
        <p:spPr>
          <a:xfrm>
            <a:off x="5177928" y="2551176"/>
            <a:ext cx="3634837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norm_score ~ sentiment × gov.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" name="Google Shape;389;p34"/>
          <p:cNvSpPr/>
          <p:nvPr/>
        </p:nvSpPr>
        <p:spPr>
          <a:xfrm>
            <a:off x="342909" y="2640330"/>
            <a:ext cx="4183492" cy="1508760"/>
          </a:xfrm>
          <a:prstGeom prst="roundRect">
            <a:avLst>
              <a:gd fmla="val 5000" name="adj"/>
            </a:avLst>
          </a:prstGeom>
          <a:solidFill>
            <a:srgbClr val="1E2761"/>
          </a:solidFill>
          <a:ln cap="flat" cmpd="sng" w="9525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34"/>
          <p:cNvSpPr txBox="1"/>
          <p:nvPr/>
        </p:nvSpPr>
        <p:spPr>
          <a:xfrm>
            <a:off x="514364" y="2743200"/>
            <a:ext cx="3909164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D4AF37"/>
                </a:solidFill>
                <a:latin typeface="Calibri"/>
                <a:ea typeface="Calibri"/>
                <a:cs typeface="Calibri"/>
                <a:sym typeface="Calibri"/>
              </a:rPr>
              <a:t>ELŐZETES JELZÉS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34"/>
          <p:cNvSpPr txBox="1"/>
          <p:nvPr/>
        </p:nvSpPr>
        <p:spPr>
          <a:xfrm>
            <a:off x="514364" y="2983229"/>
            <a:ext cx="3909164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b="1" i="0" lang="en-GB" sz="3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ρ = −0.100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34"/>
          <p:cNvSpPr txBox="1"/>
          <p:nvPr/>
        </p:nvSpPr>
        <p:spPr>
          <a:xfrm>
            <a:off x="514364" y="3600450"/>
            <a:ext cx="3909164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1" lang="en-GB" sz="900" u="none" cap="none" strike="noStrike">
                <a:solidFill>
                  <a:srgbClr val="EAEEF9"/>
                </a:solidFill>
                <a:latin typeface="Calibri"/>
                <a:ea typeface="Calibri"/>
                <a:cs typeface="Calibri"/>
                <a:sym typeface="Calibri"/>
              </a:rPr>
              <a:t>p &lt; 0.001 · Spearman (teljes minta)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34"/>
          <p:cNvSpPr txBox="1"/>
          <p:nvPr/>
        </p:nvSpPr>
        <p:spPr>
          <a:xfrm>
            <a:off x="514364" y="3840480"/>
            <a:ext cx="3909164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GB" sz="900" u="none" cap="none" strike="noStrike">
                <a:solidFill>
                  <a:srgbClr val="EAEEF9"/>
                </a:solidFill>
                <a:latin typeface="Calibri"/>
                <a:ea typeface="Calibri"/>
                <a:cs typeface="Calibri"/>
                <a:sym typeface="Calibri"/>
              </a:rPr>
              <a:t>Negatívabb címek → nagyobb vizuális hangsúly.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34"/>
          <p:cNvSpPr/>
          <p:nvPr/>
        </p:nvSpPr>
        <p:spPr>
          <a:xfrm>
            <a:off x="4732146" y="2948940"/>
            <a:ext cx="4114910" cy="120015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34"/>
          <p:cNvSpPr txBox="1"/>
          <p:nvPr/>
        </p:nvSpPr>
        <p:spPr>
          <a:xfrm>
            <a:off x="4903601" y="3051810"/>
            <a:ext cx="3772001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MIT VIZSGÁL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34"/>
          <p:cNvSpPr txBox="1"/>
          <p:nvPr/>
        </p:nvSpPr>
        <p:spPr>
          <a:xfrm>
            <a:off x="4903601" y="3291840"/>
            <a:ext cx="3772001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GB" sz="9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Összejár-e a szalagcím érzelmi töltete és a főoldali kiemelés mértéke — és ez a két médiablokkban másként működik-e.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" name="Google Shape;397;p34"/>
          <p:cNvSpPr txBox="1"/>
          <p:nvPr/>
        </p:nvSpPr>
        <p:spPr>
          <a:xfrm>
            <a:off x="342909" y="4903470"/>
            <a:ext cx="8435565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1" lang="en-GB" sz="7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Médiapolarizáció · H2 · Hipotézis és módszertan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35"/>
          <p:cNvSpPr/>
          <p:nvPr/>
        </p:nvSpPr>
        <p:spPr>
          <a:xfrm>
            <a:off x="0" y="0"/>
            <a:ext cx="123447" cy="51435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35"/>
          <p:cNvSpPr/>
          <p:nvPr/>
        </p:nvSpPr>
        <p:spPr>
          <a:xfrm>
            <a:off x="8264110" y="274320"/>
            <a:ext cx="651527" cy="308610"/>
          </a:xfrm>
          <a:prstGeom prst="roundRect">
            <a:avLst>
              <a:gd fmla="val 50000" name="adj"/>
            </a:avLst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GB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H2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35"/>
          <p:cNvSpPr txBox="1"/>
          <p:nvPr/>
        </p:nvSpPr>
        <p:spPr>
          <a:xfrm>
            <a:off x="342909" y="205740"/>
            <a:ext cx="7818283" cy="327825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GB" sz="2000" u="none" cap="none" strike="noStrike">
                <a:solidFill>
                  <a:srgbClr val="1E2761"/>
                </a:solidFill>
                <a:latin typeface="Lora SemiBold"/>
                <a:ea typeface="Lora SemiBold"/>
                <a:cs typeface="Lora SemiBold"/>
                <a:sym typeface="Lora SemiBold"/>
              </a:rPr>
              <a:t>H2 · Mintaeloszlás</a:t>
            </a:r>
            <a:endParaRPr b="0" i="0" sz="1100" u="none" cap="none" strike="noStrike">
              <a:solidFill>
                <a:srgbClr val="000000"/>
              </a:solidFill>
              <a:latin typeface="Lora SemiBold"/>
              <a:ea typeface="Lora SemiBold"/>
              <a:cs typeface="Lora SemiBold"/>
              <a:sym typeface="Lora SemiBold"/>
            </a:endParaRPr>
          </a:p>
        </p:txBody>
      </p:sp>
      <p:sp>
        <p:nvSpPr>
          <p:cNvPr id="405" name="Google Shape;405;p35"/>
          <p:cNvSpPr txBox="1"/>
          <p:nvPr/>
        </p:nvSpPr>
        <p:spPr>
          <a:xfrm>
            <a:off x="356626" y="630936"/>
            <a:ext cx="7818328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GB" sz="10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Szentiment-sávok megoszlása portáltípusonként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35"/>
          <p:cNvSpPr/>
          <p:nvPr/>
        </p:nvSpPr>
        <p:spPr>
          <a:xfrm>
            <a:off x="342909" y="905256"/>
            <a:ext cx="8435565" cy="7144"/>
          </a:xfrm>
          <a:prstGeom prst="rect">
            <a:avLst/>
          </a:prstGeom>
          <a:solidFill>
            <a:srgbClr val="D6DB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hart_s7.png" id="407" name="Google Shape;407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2909" y="1062990"/>
            <a:ext cx="5486400" cy="2880360"/>
          </a:xfrm>
          <a:prstGeom prst="rect">
            <a:avLst/>
          </a:prstGeom>
          <a:noFill/>
          <a:ln>
            <a:noFill/>
          </a:ln>
        </p:spPr>
      </p:pic>
      <p:sp>
        <p:nvSpPr>
          <p:cNvPr id="408" name="Google Shape;408;p35"/>
          <p:cNvSpPr/>
          <p:nvPr/>
        </p:nvSpPr>
        <p:spPr>
          <a:xfrm>
            <a:off x="5966618" y="1062990"/>
            <a:ext cx="2914728" cy="288036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35"/>
          <p:cNvSpPr txBox="1"/>
          <p:nvPr/>
        </p:nvSpPr>
        <p:spPr>
          <a:xfrm>
            <a:off x="6138073" y="1165860"/>
            <a:ext cx="2674691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OLVASAT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35"/>
          <p:cNvSpPr/>
          <p:nvPr/>
        </p:nvSpPr>
        <p:spPr>
          <a:xfrm>
            <a:off x="6138073" y="1440179"/>
            <a:ext cx="82298" cy="61722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35"/>
          <p:cNvSpPr txBox="1"/>
          <p:nvPr/>
        </p:nvSpPr>
        <p:spPr>
          <a:xfrm>
            <a:off x="6309528" y="1392173"/>
            <a:ext cx="250323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GB" sz="9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Mindkét oldal negatív-dominált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35"/>
          <p:cNvSpPr txBox="1"/>
          <p:nvPr/>
        </p:nvSpPr>
        <p:spPr>
          <a:xfrm>
            <a:off x="6309528" y="1625345"/>
            <a:ext cx="2503237" cy="5829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a minta nem kiegyensúlyozott.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35"/>
          <p:cNvSpPr/>
          <p:nvPr/>
        </p:nvSpPr>
        <p:spPr>
          <a:xfrm>
            <a:off x="6138073" y="2228849"/>
            <a:ext cx="82298" cy="61722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35"/>
          <p:cNvSpPr txBox="1"/>
          <p:nvPr/>
        </p:nvSpPr>
        <p:spPr>
          <a:xfrm>
            <a:off x="6309528" y="2180843"/>
            <a:ext cx="250323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GB" sz="9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Ezért sávokon belül tesztelünk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35"/>
          <p:cNvSpPr txBox="1"/>
          <p:nvPr/>
        </p:nvSpPr>
        <p:spPr>
          <a:xfrm>
            <a:off x="6309528" y="2414015"/>
            <a:ext cx="2503237" cy="5829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hogy a kiegyensúlyozatlanság ne torzítson.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35"/>
          <p:cNvSpPr/>
          <p:nvPr/>
        </p:nvSpPr>
        <p:spPr>
          <a:xfrm>
            <a:off x="342909" y="4149090"/>
            <a:ext cx="2720412" cy="68580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35"/>
          <p:cNvSpPr txBox="1"/>
          <p:nvPr/>
        </p:nvSpPr>
        <p:spPr>
          <a:xfrm>
            <a:off x="480073" y="4231386"/>
            <a:ext cx="2480375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NEGATÍV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35"/>
          <p:cNvSpPr txBox="1"/>
          <p:nvPr/>
        </p:nvSpPr>
        <p:spPr>
          <a:xfrm>
            <a:off x="480073" y="4423410"/>
            <a:ext cx="2480375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GB" sz="15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n = 12 720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5"/>
          <p:cNvSpPr/>
          <p:nvPr/>
        </p:nvSpPr>
        <p:spPr>
          <a:xfrm>
            <a:off x="3166194" y="4149090"/>
            <a:ext cx="2720412" cy="68580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35"/>
          <p:cNvSpPr txBox="1"/>
          <p:nvPr/>
        </p:nvSpPr>
        <p:spPr>
          <a:xfrm>
            <a:off x="3303358" y="4231386"/>
            <a:ext cx="2480375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SEMLEGES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p35"/>
          <p:cNvSpPr txBox="1"/>
          <p:nvPr/>
        </p:nvSpPr>
        <p:spPr>
          <a:xfrm>
            <a:off x="3303358" y="4423410"/>
            <a:ext cx="2480375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GB" sz="15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n = 10 252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2" name="Google Shape;422;p35"/>
          <p:cNvSpPr/>
          <p:nvPr/>
        </p:nvSpPr>
        <p:spPr>
          <a:xfrm>
            <a:off x="5989479" y="4149090"/>
            <a:ext cx="2720412" cy="68580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35"/>
          <p:cNvSpPr txBox="1"/>
          <p:nvPr/>
        </p:nvSpPr>
        <p:spPr>
          <a:xfrm>
            <a:off x="6126643" y="4231386"/>
            <a:ext cx="2480375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2E8B57"/>
                </a:solidFill>
                <a:latin typeface="Calibri"/>
                <a:ea typeface="Calibri"/>
                <a:cs typeface="Calibri"/>
                <a:sym typeface="Calibri"/>
              </a:rPr>
              <a:t>POZITÍV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35"/>
          <p:cNvSpPr txBox="1"/>
          <p:nvPr/>
        </p:nvSpPr>
        <p:spPr>
          <a:xfrm>
            <a:off x="6126643" y="4423410"/>
            <a:ext cx="2480375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GB" sz="15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n = 6 714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35"/>
          <p:cNvSpPr txBox="1"/>
          <p:nvPr/>
        </p:nvSpPr>
        <p:spPr>
          <a:xfrm>
            <a:off x="342909" y="4903470"/>
            <a:ext cx="8435565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1" lang="en-GB" sz="7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Médiapolarizáció · H2 · Mintaeloszlás (n = 29 686)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36"/>
          <p:cNvSpPr/>
          <p:nvPr/>
        </p:nvSpPr>
        <p:spPr>
          <a:xfrm>
            <a:off x="0" y="0"/>
            <a:ext cx="123447" cy="51435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36"/>
          <p:cNvSpPr/>
          <p:nvPr/>
        </p:nvSpPr>
        <p:spPr>
          <a:xfrm>
            <a:off x="8264110" y="274320"/>
            <a:ext cx="651527" cy="308610"/>
          </a:xfrm>
          <a:prstGeom prst="roundRect">
            <a:avLst>
              <a:gd fmla="val 50000" name="adj"/>
            </a:avLst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GB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H2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36"/>
          <p:cNvSpPr txBox="1"/>
          <p:nvPr/>
        </p:nvSpPr>
        <p:spPr>
          <a:xfrm>
            <a:off x="342909" y="205740"/>
            <a:ext cx="7818283" cy="327825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GB" sz="2000" u="none" cap="none" strike="noStrike">
                <a:solidFill>
                  <a:srgbClr val="1E2761"/>
                </a:solidFill>
                <a:latin typeface="Lora SemiBold"/>
                <a:ea typeface="Lora SemiBold"/>
                <a:cs typeface="Lora SemiBold"/>
                <a:sym typeface="Lora SemiBold"/>
              </a:rPr>
              <a:t>H2 · Spearman-rangkorreláció</a:t>
            </a:r>
            <a:endParaRPr b="0" i="0" sz="1100" u="none" cap="none" strike="noStrike">
              <a:solidFill>
                <a:srgbClr val="000000"/>
              </a:solidFill>
              <a:latin typeface="Lora SemiBold"/>
              <a:ea typeface="Lora SemiBold"/>
              <a:cs typeface="Lora SemiBold"/>
              <a:sym typeface="Lora SemiBold"/>
            </a:endParaRPr>
          </a:p>
        </p:txBody>
      </p:sp>
      <p:sp>
        <p:nvSpPr>
          <p:cNvPr id="433" name="Google Shape;433;p36"/>
          <p:cNvSpPr txBox="1"/>
          <p:nvPr/>
        </p:nvSpPr>
        <p:spPr>
          <a:xfrm>
            <a:off x="356626" y="630936"/>
            <a:ext cx="7818328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GB" sz="10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Negatívabb cím → nagyobb vizuális hangsúly?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36"/>
          <p:cNvSpPr/>
          <p:nvPr/>
        </p:nvSpPr>
        <p:spPr>
          <a:xfrm>
            <a:off x="342909" y="905256"/>
            <a:ext cx="8435565" cy="7144"/>
          </a:xfrm>
          <a:prstGeom prst="rect">
            <a:avLst/>
          </a:prstGeom>
          <a:solidFill>
            <a:srgbClr val="D6DB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hart_s8.png" id="435" name="Google Shape;435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2909" y="1062990"/>
            <a:ext cx="5349383" cy="294894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436" name="Google Shape;436;p36"/>
          <p:cNvGraphicFramePr/>
          <p:nvPr/>
        </p:nvGraphicFramePr>
        <p:xfrm>
          <a:off x="5863746" y="11315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{02B4F9B2-E791-447A-981E-08FD4EC66F5B}</a:tableStyleId>
              </a:tblPr>
              <a:tblGrid>
                <a:gridCol w="844925"/>
                <a:gridCol w="543150"/>
                <a:gridCol w="422450"/>
                <a:gridCol w="482800"/>
                <a:gridCol w="724200"/>
              </a:tblGrid>
              <a:tr h="308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1" lang="en-GB" sz="8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Csoport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1" lang="en-GB" sz="8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1" lang="en-GB" sz="8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ρ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1" lang="en-GB" sz="8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1" lang="en-GB" sz="8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Erősség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1E2761"/>
                    </a:solidFill>
                  </a:tcPr>
                </a:tc>
              </a:tr>
              <a:tr h="308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1" lang="en-GB" sz="8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Összes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GB" sz="8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29 686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GB" sz="8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−0.100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GB" sz="8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0.001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GB" sz="8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elhanyagolható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</a:tr>
              <a:tr h="308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1" lang="en-GB" sz="8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Kormányközeli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GB" sz="8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17 648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GB" sz="8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−0.085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GB" sz="8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0.001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GB" sz="8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elhanyagolható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</a:tr>
              <a:tr h="308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1" lang="en-GB" sz="8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Független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GB" sz="8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12 038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GB" sz="8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−0.114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GB" sz="8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0.001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GB" sz="8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gyenge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7" name="Google Shape;437;p36"/>
          <p:cNvSpPr/>
          <p:nvPr/>
        </p:nvSpPr>
        <p:spPr>
          <a:xfrm>
            <a:off x="5863746" y="2640330"/>
            <a:ext cx="3017600" cy="137160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36"/>
          <p:cNvSpPr txBox="1"/>
          <p:nvPr/>
        </p:nvSpPr>
        <p:spPr>
          <a:xfrm>
            <a:off x="6035201" y="2743200"/>
            <a:ext cx="2743273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ÉRTELMEZÉS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36"/>
          <p:cNvSpPr txBox="1"/>
          <p:nvPr/>
        </p:nvSpPr>
        <p:spPr>
          <a:xfrm>
            <a:off x="6035201" y="2983229"/>
            <a:ext cx="2743273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GB" sz="9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Mindkét portáltípusnál lefelé lejt a trendvonal. A kapcsolat gyenge, de konzisztensen negatív és szignifikáns.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p36"/>
          <p:cNvSpPr/>
          <p:nvPr/>
        </p:nvSpPr>
        <p:spPr>
          <a:xfrm>
            <a:off x="342909" y="4149090"/>
            <a:ext cx="2720412" cy="68580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36"/>
          <p:cNvSpPr/>
          <p:nvPr/>
        </p:nvSpPr>
        <p:spPr>
          <a:xfrm>
            <a:off x="342909" y="4149090"/>
            <a:ext cx="2720412" cy="54864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36"/>
          <p:cNvSpPr txBox="1"/>
          <p:nvPr/>
        </p:nvSpPr>
        <p:spPr>
          <a:xfrm>
            <a:off x="480073" y="4272534"/>
            <a:ext cx="2480375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GB" sz="17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ρ = −0.100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36"/>
          <p:cNvSpPr txBox="1"/>
          <p:nvPr/>
        </p:nvSpPr>
        <p:spPr>
          <a:xfrm>
            <a:off x="480073" y="4594860"/>
            <a:ext cx="2480375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GB" sz="8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Összes (n=29 686)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36"/>
          <p:cNvSpPr/>
          <p:nvPr/>
        </p:nvSpPr>
        <p:spPr>
          <a:xfrm>
            <a:off x="3166194" y="4149090"/>
            <a:ext cx="2720412" cy="68580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36"/>
          <p:cNvSpPr/>
          <p:nvPr/>
        </p:nvSpPr>
        <p:spPr>
          <a:xfrm>
            <a:off x="3166194" y="4149090"/>
            <a:ext cx="2720412" cy="54864"/>
          </a:xfrm>
          <a:prstGeom prst="rect">
            <a:avLst/>
          </a:prstGeom>
          <a:solidFill>
            <a:srgbClr val="C7545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36"/>
          <p:cNvSpPr txBox="1"/>
          <p:nvPr/>
        </p:nvSpPr>
        <p:spPr>
          <a:xfrm>
            <a:off x="3303358" y="4272534"/>
            <a:ext cx="2480375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GB" sz="17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ρ = −0.085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p36"/>
          <p:cNvSpPr txBox="1"/>
          <p:nvPr/>
        </p:nvSpPr>
        <p:spPr>
          <a:xfrm>
            <a:off x="3303358" y="4594860"/>
            <a:ext cx="2480375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GB" sz="8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Kormányközeli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36"/>
          <p:cNvSpPr/>
          <p:nvPr/>
        </p:nvSpPr>
        <p:spPr>
          <a:xfrm>
            <a:off x="5989479" y="4149090"/>
            <a:ext cx="2720412" cy="68580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36"/>
          <p:cNvSpPr/>
          <p:nvPr/>
        </p:nvSpPr>
        <p:spPr>
          <a:xfrm>
            <a:off x="5989479" y="4149090"/>
            <a:ext cx="2720412" cy="54864"/>
          </a:xfrm>
          <a:prstGeom prst="rect">
            <a:avLst/>
          </a:prstGeom>
          <a:solidFill>
            <a:srgbClr val="4A89C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36"/>
          <p:cNvSpPr txBox="1"/>
          <p:nvPr/>
        </p:nvSpPr>
        <p:spPr>
          <a:xfrm>
            <a:off x="6126643" y="4272534"/>
            <a:ext cx="2480375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GB" sz="1700" u="none" cap="none" strike="noStrike">
                <a:solidFill>
                  <a:srgbClr val="4A89C5"/>
                </a:solidFill>
                <a:latin typeface="Calibri"/>
                <a:ea typeface="Calibri"/>
                <a:cs typeface="Calibri"/>
                <a:sym typeface="Calibri"/>
              </a:rPr>
              <a:t>ρ = −0.114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" name="Google Shape;451;p36"/>
          <p:cNvSpPr txBox="1"/>
          <p:nvPr/>
        </p:nvSpPr>
        <p:spPr>
          <a:xfrm>
            <a:off x="6126643" y="4594860"/>
            <a:ext cx="2480375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GB" sz="8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Független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2" name="Google Shape;452;p36"/>
          <p:cNvSpPr txBox="1"/>
          <p:nvPr/>
        </p:nvSpPr>
        <p:spPr>
          <a:xfrm>
            <a:off x="342909" y="4903470"/>
            <a:ext cx="8435565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1" lang="en-GB" sz="7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Médiapolarizáció · H2 · Spearman-korreláció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37"/>
          <p:cNvSpPr/>
          <p:nvPr/>
        </p:nvSpPr>
        <p:spPr>
          <a:xfrm>
            <a:off x="0" y="0"/>
            <a:ext cx="123447" cy="51435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37"/>
          <p:cNvSpPr/>
          <p:nvPr/>
        </p:nvSpPr>
        <p:spPr>
          <a:xfrm>
            <a:off x="8264110" y="274320"/>
            <a:ext cx="651527" cy="308610"/>
          </a:xfrm>
          <a:prstGeom prst="roundRect">
            <a:avLst>
              <a:gd fmla="val 50000" name="adj"/>
            </a:avLst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GB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H2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p37"/>
          <p:cNvSpPr txBox="1"/>
          <p:nvPr/>
        </p:nvSpPr>
        <p:spPr>
          <a:xfrm>
            <a:off x="342909" y="205740"/>
            <a:ext cx="7818283" cy="327825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GB" sz="2000" u="none" cap="none" strike="noStrike">
                <a:solidFill>
                  <a:srgbClr val="1E2761"/>
                </a:solidFill>
                <a:latin typeface="Lora SemiBold"/>
                <a:ea typeface="Lora SemiBold"/>
                <a:cs typeface="Lora SemiBold"/>
                <a:sym typeface="Lora SemiBold"/>
              </a:rPr>
              <a:t>H2 · Mann–Whitney U sávpárokra</a:t>
            </a:r>
            <a:endParaRPr b="0" i="0" sz="1100" u="none" cap="none" strike="noStrike">
              <a:solidFill>
                <a:srgbClr val="000000"/>
              </a:solidFill>
              <a:latin typeface="Lora SemiBold"/>
              <a:ea typeface="Lora SemiBold"/>
              <a:cs typeface="Lora SemiBold"/>
              <a:sym typeface="Lora SemiBold"/>
            </a:endParaRPr>
          </a:p>
        </p:txBody>
      </p:sp>
      <p:sp>
        <p:nvSpPr>
          <p:cNvPr id="460" name="Google Shape;460;p37"/>
          <p:cNvSpPr txBox="1"/>
          <p:nvPr/>
        </p:nvSpPr>
        <p:spPr>
          <a:xfrm>
            <a:off x="356626" y="630936"/>
            <a:ext cx="7818328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GB" sz="10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A negatív, semleges és pozitív sávok vizuális score-eloszlása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1" name="Google Shape;461;p37"/>
          <p:cNvSpPr/>
          <p:nvPr/>
        </p:nvSpPr>
        <p:spPr>
          <a:xfrm>
            <a:off x="342909" y="905256"/>
            <a:ext cx="8435565" cy="7144"/>
          </a:xfrm>
          <a:prstGeom prst="rect">
            <a:avLst/>
          </a:prstGeom>
          <a:solidFill>
            <a:srgbClr val="D6DB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hart_s9.png" id="462" name="Google Shape;46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2909" y="1028700"/>
            <a:ext cx="4457819" cy="219456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463" name="Google Shape;463;p37"/>
          <p:cNvGraphicFramePr/>
          <p:nvPr/>
        </p:nvGraphicFramePr>
        <p:xfrm>
          <a:off x="4869310" y="1028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{02B4F9B2-E791-447A-981E-08FD4EC66F5B}</a:tableStyleId>
              </a:tblPr>
              <a:tblGrid>
                <a:gridCol w="857250"/>
                <a:gridCol w="1234475"/>
                <a:gridCol w="480050"/>
                <a:gridCol w="480050"/>
                <a:gridCol w="514350"/>
                <a:gridCol w="445750"/>
              </a:tblGrid>
              <a:tr h="260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1" lang="en-GB" sz="8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Csoport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1" lang="en-GB" sz="8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Összehasonlítás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1" lang="en-GB" sz="8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n₁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1" lang="en-GB" sz="8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n₂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1" lang="en-GB" sz="8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1" lang="en-GB" sz="8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1E2761"/>
                    </a:solidFill>
                  </a:tcPr>
                </a:tc>
              </a:tr>
              <a:tr h="260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b="1"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Összes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Negatív vs. Semleges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12 720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10 252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0.001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−0.058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</a:tr>
              <a:tr h="260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b="1"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Összes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Negatív vs. Pozitív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12 720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6 714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0.001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−0.137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</a:tr>
              <a:tr h="260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b="1"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Összes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Semleges vs. Pozitív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10 252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6 714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0.001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−0.074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</a:tr>
              <a:tr h="260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b="1"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Kormányközeli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Negatív vs. Semleges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7 914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5 521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0.0018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−0.029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</a:tr>
              <a:tr h="260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b="1"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Kormányközeli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Negatív vs. Pozitív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7 914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4 213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0.001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−0.120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</a:tr>
              <a:tr h="260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b="1"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Kormányközeli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Semleges vs. Pozitív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5 521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4 213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0.001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−0.093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</a:tr>
              <a:tr h="260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b="1"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Független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Negatív vs. Semleges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4 806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4 731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0.001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−0.052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</a:tr>
              <a:tr h="260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b="1"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Független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Negatív vs. Pozitív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4 806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2 501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0.001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−0.173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</a:tr>
              <a:tr h="260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b="1"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Független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Semleges vs. Pozitív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4 731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2 501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0.001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700"/>
                        <a:buFont typeface="Arial"/>
                        <a:buNone/>
                      </a:pPr>
                      <a:r>
                        <a:rPr lang="en-GB" sz="7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−0.111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64" name="Google Shape;464;p37"/>
          <p:cNvSpPr/>
          <p:nvPr/>
        </p:nvSpPr>
        <p:spPr>
          <a:xfrm>
            <a:off x="342909" y="3394710"/>
            <a:ext cx="4457819" cy="109728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37"/>
          <p:cNvSpPr txBox="1"/>
          <p:nvPr/>
        </p:nvSpPr>
        <p:spPr>
          <a:xfrm>
            <a:off x="514364" y="3497580"/>
            <a:ext cx="4114910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ÉRTELMEZÉS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" name="Google Shape;466;p37"/>
          <p:cNvSpPr txBox="1"/>
          <p:nvPr/>
        </p:nvSpPr>
        <p:spPr>
          <a:xfrm>
            <a:off x="514364" y="3737610"/>
            <a:ext cx="4114910" cy="7543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Minden sávpár-teszt szignifikáns, de a hatásméretek kicsik.  A legnagyobb távolság a Negatív és Pozitív sávok között van — különösen a független portáloknál (r = −0.173).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7" name="Google Shape;467;p37"/>
          <p:cNvSpPr txBox="1"/>
          <p:nvPr/>
        </p:nvSpPr>
        <p:spPr>
          <a:xfrm>
            <a:off x="342909" y="4903470"/>
            <a:ext cx="8435565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1" lang="en-GB" sz="7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Médiapolarizáció · H2 · Mann–Whitney U (9 sávpár-teszt)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8"/>
          <p:cNvSpPr/>
          <p:nvPr/>
        </p:nvSpPr>
        <p:spPr>
          <a:xfrm>
            <a:off x="0" y="0"/>
            <a:ext cx="123447" cy="51435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38"/>
          <p:cNvSpPr/>
          <p:nvPr/>
        </p:nvSpPr>
        <p:spPr>
          <a:xfrm>
            <a:off x="8264110" y="274320"/>
            <a:ext cx="651527" cy="308610"/>
          </a:xfrm>
          <a:prstGeom prst="roundRect">
            <a:avLst>
              <a:gd fmla="val 50000" name="adj"/>
            </a:avLst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GB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H2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38"/>
          <p:cNvSpPr txBox="1"/>
          <p:nvPr/>
        </p:nvSpPr>
        <p:spPr>
          <a:xfrm>
            <a:off x="342909" y="205740"/>
            <a:ext cx="7818283" cy="327825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GB" sz="2000" u="none" cap="none" strike="noStrike">
                <a:solidFill>
                  <a:srgbClr val="1E2761"/>
                </a:solidFill>
                <a:latin typeface="Lora SemiBold"/>
                <a:ea typeface="Lora SemiBold"/>
                <a:cs typeface="Lora SemiBold"/>
                <a:sym typeface="Lora SemiBold"/>
              </a:rPr>
              <a:t>H2 · OLS regresszió interakcióval</a:t>
            </a:r>
            <a:endParaRPr b="0" i="0" sz="1100" u="none" cap="none" strike="noStrike">
              <a:solidFill>
                <a:srgbClr val="000000"/>
              </a:solidFill>
              <a:latin typeface="Lora SemiBold"/>
              <a:ea typeface="Lora SemiBold"/>
              <a:cs typeface="Lora SemiBold"/>
              <a:sym typeface="Lora SemiBold"/>
            </a:endParaRPr>
          </a:p>
        </p:txBody>
      </p:sp>
      <p:sp>
        <p:nvSpPr>
          <p:cNvPr id="475" name="Google Shape;475;p38"/>
          <p:cNvSpPr txBox="1"/>
          <p:nvPr/>
        </p:nvSpPr>
        <p:spPr>
          <a:xfrm>
            <a:off x="356626" y="630936"/>
            <a:ext cx="7818328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GB" sz="10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R² = 0.0706 · N = 29 686 · norm_score ~ sentiment × gov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" name="Google Shape;476;p38"/>
          <p:cNvSpPr/>
          <p:nvPr/>
        </p:nvSpPr>
        <p:spPr>
          <a:xfrm>
            <a:off x="342909" y="905256"/>
            <a:ext cx="8435565" cy="7144"/>
          </a:xfrm>
          <a:prstGeom prst="rect">
            <a:avLst/>
          </a:prstGeom>
          <a:solidFill>
            <a:srgbClr val="D6DB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hart_s10.png" id="477" name="Google Shape;477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2909" y="1062990"/>
            <a:ext cx="5212080" cy="267462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478" name="Google Shape;478;p38"/>
          <p:cNvGraphicFramePr/>
          <p:nvPr/>
        </p:nvGraphicFramePr>
        <p:xfrm>
          <a:off x="5692292" y="11315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{02B4F9B2-E791-447A-981E-08FD4EC66F5B}</a:tableStyleId>
              </a:tblPr>
              <a:tblGrid>
                <a:gridCol w="1440225"/>
                <a:gridCol w="925850"/>
                <a:gridCol w="822975"/>
              </a:tblGrid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-GB" sz="9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Tag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-GB" sz="9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Becslés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-GB" sz="9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1E2761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β₀ (Intercept)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+0.674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0.001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β₁ (sentiment)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−0.105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0.001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β₂ (gov)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+0.079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0.001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β₃ (sent × gov)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+0.049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0.001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</a:tr>
            </a:tbl>
          </a:graphicData>
        </a:graphic>
      </p:graphicFrame>
      <p:sp>
        <p:nvSpPr>
          <p:cNvPr id="479" name="Google Shape;479;p38"/>
          <p:cNvSpPr/>
          <p:nvPr/>
        </p:nvSpPr>
        <p:spPr>
          <a:xfrm>
            <a:off x="5692292" y="2914650"/>
            <a:ext cx="3189055" cy="82296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38"/>
          <p:cNvSpPr txBox="1"/>
          <p:nvPr/>
        </p:nvSpPr>
        <p:spPr>
          <a:xfrm>
            <a:off x="5829455" y="2983229"/>
            <a:ext cx="2949019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ÉRTELMEZÉS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38"/>
          <p:cNvSpPr txBox="1"/>
          <p:nvPr/>
        </p:nvSpPr>
        <p:spPr>
          <a:xfrm>
            <a:off x="5829455" y="3209544"/>
            <a:ext cx="2949019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4A89C5"/>
                </a:solidFill>
                <a:latin typeface="Calibri"/>
                <a:ea typeface="Calibri"/>
                <a:cs typeface="Calibri"/>
                <a:sym typeface="Calibri"/>
              </a:rPr>
              <a:t>β₁ = −0.105</a:t>
            </a:r>
            <a:r>
              <a:rPr b="0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:  a független portálokon a negatívabb címek nagyobb hangsúlyt kapnak.  </a:t>
            </a:r>
            <a:r>
              <a:rPr b="1" i="0" lang="en-GB" sz="8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β₃ = +0.049</a:t>
            </a:r>
            <a:r>
              <a:rPr b="0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:  a hatás mértéke médiablokkonként eltér.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38"/>
          <p:cNvSpPr/>
          <p:nvPr/>
        </p:nvSpPr>
        <p:spPr>
          <a:xfrm>
            <a:off x="342909" y="3909060"/>
            <a:ext cx="8469856" cy="89154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38"/>
          <p:cNvSpPr txBox="1"/>
          <p:nvPr/>
        </p:nvSpPr>
        <p:spPr>
          <a:xfrm>
            <a:off x="514364" y="3991356"/>
            <a:ext cx="8229819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EGYÜTTHATÓK · előjel és irány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38"/>
          <p:cNvSpPr txBox="1"/>
          <p:nvPr/>
        </p:nvSpPr>
        <p:spPr>
          <a:xfrm>
            <a:off x="514364" y="4251960"/>
            <a:ext cx="480073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β₀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38"/>
          <p:cNvSpPr/>
          <p:nvPr/>
        </p:nvSpPr>
        <p:spPr>
          <a:xfrm>
            <a:off x="4663564" y="4286250"/>
            <a:ext cx="1848966" cy="102870"/>
          </a:xfrm>
          <a:prstGeom prst="rect">
            <a:avLst/>
          </a:prstGeom>
          <a:solidFill>
            <a:srgbClr val="C7545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38"/>
          <p:cNvSpPr txBox="1"/>
          <p:nvPr/>
        </p:nvSpPr>
        <p:spPr>
          <a:xfrm>
            <a:off x="6567396" y="4251960"/>
            <a:ext cx="61723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+0.674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38"/>
          <p:cNvSpPr txBox="1"/>
          <p:nvPr/>
        </p:nvSpPr>
        <p:spPr>
          <a:xfrm>
            <a:off x="514364" y="4368546"/>
            <a:ext cx="480073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β₁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" name="Google Shape;488;p38"/>
          <p:cNvSpPr/>
          <p:nvPr/>
        </p:nvSpPr>
        <p:spPr>
          <a:xfrm>
            <a:off x="4375521" y="4402836"/>
            <a:ext cx="288044" cy="102870"/>
          </a:xfrm>
          <a:prstGeom prst="rect">
            <a:avLst/>
          </a:prstGeom>
          <a:solidFill>
            <a:srgbClr val="4A89C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38"/>
          <p:cNvSpPr txBox="1"/>
          <p:nvPr/>
        </p:nvSpPr>
        <p:spPr>
          <a:xfrm>
            <a:off x="3895448" y="4368546"/>
            <a:ext cx="61723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-0.105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p38"/>
          <p:cNvSpPr txBox="1"/>
          <p:nvPr/>
        </p:nvSpPr>
        <p:spPr>
          <a:xfrm>
            <a:off x="514364" y="4485132"/>
            <a:ext cx="480073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β₂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" name="Google Shape;491;p38"/>
          <p:cNvSpPr/>
          <p:nvPr/>
        </p:nvSpPr>
        <p:spPr>
          <a:xfrm>
            <a:off x="4663564" y="4519422"/>
            <a:ext cx="216718" cy="102870"/>
          </a:xfrm>
          <a:prstGeom prst="rect">
            <a:avLst/>
          </a:prstGeom>
          <a:solidFill>
            <a:srgbClr val="C7545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38"/>
          <p:cNvSpPr txBox="1"/>
          <p:nvPr/>
        </p:nvSpPr>
        <p:spPr>
          <a:xfrm>
            <a:off x="4935148" y="4485132"/>
            <a:ext cx="61723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+0.079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38"/>
          <p:cNvSpPr txBox="1"/>
          <p:nvPr/>
        </p:nvSpPr>
        <p:spPr>
          <a:xfrm>
            <a:off x="514364" y="4601718"/>
            <a:ext cx="480073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β₃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38"/>
          <p:cNvSpPr/>
          <p:nvPr/>
        </p:nvSpPr>
        <p:spPr>
          <a:xfrm>
            <a:off x="4663564" y="4636008"/>
            <a:ext cx="134420" cy="102870"/>
          </a:xfrm>
          <a:prstGeom prst="rect">
            <a:avLst/>
          </a:prstGeom>
          <a:solidFill>
            <a:srgbClr val="C7545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38"/>
          <p:cNvSpPr txBox="1"/>
          <p:nvPr/>
        </p:nvSpPr>
        <p:spPr>
          <a:xfrm>
            <a:off x="4852850" y="4601718"/>
            <a:ext cx="61723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+0.049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38"/>
          <p:cNvSpPr/>
          <p:nvPr/>
        </p:nvSpPr>
        <p:spPr>
          <a:xfrm>
            <a:off x="4663564" y="4238244"/>
            <a:ext cx="7144" cy="514350"/>
          </a:xfrm>
          <a:prstGeom prst="rect">
            <a:avLst/>
          </a:prstGeom>
          <a:solidFill>
            <a:srgbClr val="646B7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38"/>
          <p:cNvSpPr txBox="1"/>
          <p:nvPr/>
        </p:nvSpPr>
        <p:spPr>
          <a:xfrm>
            <a:off x="342909" y="4903470"/>
            <a:ext cx="8435565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1" lang="en-GB" sz="7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Médiapolarizáció · H2 · OLS regresszió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0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39"/>
          <p:cNvSpPr/>
          <p:nvPr/>
        </p:nvSpPr>
        <p:spPr>
          <a:xfrm>
            <a:off x="0" y="0"/>
            <a:ext cx="123447" cy="51435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39"/>
          <p:cNvSpPr/>
          <p:nvPr/>
        </p:nvSpPr>
        <p:spPr>
          <a:xfrm>
            <a:off x="8264110" y="274320"/>
            <a:ext cx="651527" cy="308610"/>
          </a:xfrm>
          <a:prstGeom prst="roundRect">
            <a:avLst>
              <a:gd fmla="val 50000" name="adj"/>
            </a:avLst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GB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H2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4" name="Google Shape;504;p39"/>
          <p:cNvSpPr txBox="1"/>
          <p:nvPr/>
        </p:nvSpPr>
        <p:spPr>
          <a:xfrm>
            <a:off x="342909" y="205740"/>
            <a:ext cx="7818283" cy="327825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GB" sz="2000" u="none" cap="none" strike="noStrike">
                <a:solidFill>
                  <a:srgbClr val="1E2761"/>
                </a:solidFill>
                <a:latin typeface="Lora SemiBold"/>
                <a:ea typeface="Lora SemiBold"/>
                <a:cs typeface="Lora SemiBold"/>
                <a:sym typeface="Lora SemiBold"/>
              </a:rPr>
              <a:t>H2 Verdikt · Túlnyomóan megerősítve</a:t>
            </a:r>
            <a:endParaRPr b="0" i="0" sz="1100" u="none" cap="none" strike="noStrike">
              <a:solidFill>
                <a:srgbClr val="000000"/>
              </a:solidFill>
              <a:latin typeface="Lora SemiBold"/>
              <a:ea typeface="Lora SemiBold"/>
              <a:cs typeface="Lora SemiBold"/>
              <a:sym typeface="Lora SemiBold"/>
            </a:endParaRPr>
          </a:p>
        </p:txBody>
      </p:sp>
      <p:sp>
        <p:nvSpPr>
          <p:cNvPr id="505" name="Google Shape;505;p39"/>
          <p:cNvSpPr txBox="1"/>
          <p:nvPr/>
        </p:nvSpPr>
        <p:spPr>
          <a:xfrm>
            <a:off x="356626" y="630936"/>
            <a:ext cx="7818328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GB" sz="10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Bizonyítékpontszám: 2 / 3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39"/>
          <p:cNvSpPr/>
          <p:nvPr/>
        </p:nvSpPr>
        <p:spPr>
          <a:xfrm>
            <a:off x="342909" y="905256"/>
            <a:ext cx="8435565" cy="7144"/>
          </a:xfrm>
          <a:prstGeom prst="rect">
            <a:avLst/>
          </a:prstGeom>
          <a:solidFill>
            <a:srgbClr val="D6DB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39"/>
          <p:cNvSpPr/>
          <p:nvPr/>
        </p:nvSpPr>
        <p:spPr>
          <a:xfrm>
            <a:off x="342909" y="1062990"/>
            <a:ext cx="2811854" cy="2606040"/>
          </a:xfrm>
          <a:prstGeom prst="roundRect">
            <a:avLst>
              <a:gd fmla="val 5000" name="adj"/>
            </a:avLst>
          </a:prstGeom>
          <a:solidFill>
            <a:srgbClr val="1E2761"/>
          </a:solidFill>
          <a:ln cap="flat" cmpd="sng" w="9525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39"/>
          <p:cNvSpPr txBox="1"/>
          <p:nvPr/>
        </p:nvSpPr>
        <p:spPr>
          <a:xfrm>
            <a:off x="514364" y="1200150"/>
            <a:ext cx="2537528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D4AF37"/>
                </a:solidFill>
                <a:latin typeface="Calibri"/>
                <a:ea typeface="Calibri"/>
                <a:cs typeface="Calibri"/>
                <a:sym typeface="Calibri"/>
              </a:rPr>
              <a:t>BIZONYÍTÉKPONTSZÁM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9" name="Google Shape;509;p39"/>
          <p:cNvSpPr txBox="1"/>
          <p:nvPr/>
        </p:nvSpPr>
        <p:spPr>
          <a:xfrm>
            <a:off x="514364" y="1474470"/>
            <a:ext cx="2537528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00"/>
              <a:buFont typeface="Arial"/>
              <a:buNone/>
            </a:pPr>
            <a:r>
              <a:rPr b="1" i="0" lang="en-GB" sz="7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 / 3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0" name="Google Shape;510;p39"/>
          <p:cNvSpPr txBox="1"/>
          <p:nvPr/>
        </p:nvSpPr>
        <p:spPr>
          <a:xfrm>
            <a:off x="514364" y="2537460"/>
            <a:ext cx="25375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GB" sz="1000" u="none" cap="none" strike="noStrike">
                <a:solidFill>
                  <a:srgbClr val="EAEEF9"/>
                </a:solidFill>
                <a:latin typeface="Calibri"/>
                <a:ea typeface="Calibri"/>
                <a:cs typeface="Calibri"/>
                <a:sym typeface="Calibri"/>
              </a:rPr>
              <a:t>teszt támogatja a hipotézist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1" name="Google Shape;511;p39"/>
          <p:cNvSpPr/>
          <p:nvPr/>
        </p:nvSpPr>
        <p:spPr>
          <a:xfrm>
            <a:off x="617236" y="3017520"/>
            <a:ext cx="240036" cy="240030"/>
          </a:xfrm>
          <a:prstGeom prst="ellipse">
            <a:avLst/>
          </a:prstGeom>
          <a:solidFill>
            <a:srgbClr val="2E8B5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GB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2" name="Google Shape;512;p39"/>
          <p:cNvSpPr/>
          <p:nvPr/>
        </p:nvSpPr>
        <p:spPr>
          <a:xfrm>
            <a:off x="1371637" y="3017520"/>
            <a:ext cx="240036" cy="240030"/>
          </a:xfrm>
          <a:prstGeom prst="ellipse">
            <a:avLst/>
          </a:prstGeom>
          <a:solidFill>
            <a:srgbClr val="B03A2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GB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✗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3" name="Google Shape;513;p39"/>
          <p:cNvSpPr/>
          <p:nvPr/>
        </p:nvSpPr>
        <p:spPr>
          <a:xfrm>
            <a:off x="2126037" y="3017520"/>
            <a:ext cx="240036" cy="240030"/>
          </a:xfrm>
          <a:prstGeom prst="ellipse">
            <a:avLst/>
          </a:prstGeom>
          <a:solidFill>
            <a:srgbClr val="2E8B5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GB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514" name="Google Shape;514;p39"/>
          <p:cNvGraphicFramePr/>
          <p:nvPr/>
        </p:nvGraphicFramePr>
        <p:xfrm>
          <a:off x="3326219" y="106299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{02B4F9B2-E791-447A-981E-08FD4EC66F5B}</a:tableStyleId>
              </a:tblPr>
              <a:tblGrid>
                <a:gridCol w="486125"/>
                <a:gridCol w="1527900"/>
                <a:gridCol w="2777975"/>
                <a:gridCol w="694475"/>
              </a:tblGrid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-GB" sz="9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Lépés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-GB" sz="9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Módszer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-GB" sz="9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Eredmény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-GB" sz="9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H2?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1E2761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Spearman (össz)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ρ = −0.100, p &lt; 0.001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GB" sz="1200" u="none" cap="none" strike="noStrike">
                          <a:solidFill>
                            <a:srgbClr val="2E8B5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CF7EE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Mann–Whitney U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 / 6 H2-irányú teszt szignifikáns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GB" sz="1200" u="none" cap="none" strike="noStrike">
                          <a:solidFill>
                            <a:srgbClr val="B03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✗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AECEA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OLS β₁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β₁ = −0.105, p &lt; 0.001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GB" sz="1200" u="none" cap="none" strike="noStrike">
                          <a:solidFill>
                            <a:srgbClr val="2E8B5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 sz="1100" u="none" cap="none" strike="noStrike"/>
                    </a:p>
                  </a:txBody>
                  <a:tcPr marT="27425" marB="27425" marR="54875" marL="54875" anchor="ctr">
                    <a:solidFill>
                      <a:srgbClr val="ECF7EE"/>
                    </a:solidFill>
                  </a:tcPr>
                </a:tc>
              </a:tr>
            </a:tbl>
          </a:graphicData>
        </a:graphic>
      </p:graphicFrame>
      <p:sp>
        <p:nvSpPr>
          <p:cNvPr id="515" name="Google Shape;515;p39"/>
          <p:cNvSpPr/>
          <p:nvPr/>
        </p:nvSpPr>
        <p:spPr>
          <a:xfrm>
            <a:off x="3326219" y="2880360"/>
            <a:ext cx="5486546" cy="78867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39"/>
          <p:cNvSpPr txBox="1"/>
          <p:nvPr/>
        </p:nvSpPr>
        <p:spPr>
          <a:xfrm>
            <a:off x="3497673" y="2948940"/>
            <a:ext cx="5143637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OLVASAT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7" name="Google Shape;517;p39"/>
          <p:cNvSpPr txBox="1"/>
          <p:nvPr/>
        </p:nvSpPr>
        <p:spPr>
          <a:xfrm>
            <a:off x="3497673" y="3154680"/>
            <a:ext cx="5143637" cy="44577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Két módszer egyértelműen támogatja a hipotézist. A negatív címek nagyobb hangsúlyt kapnak; a sávpáros tesztek vegyesebb képet mutatnak. Az interakció szignifikáns: a hatás erőssége médiablokkonként eltér.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8" name="Google Shape;518;p39"/>
          <p:cNvSpPr/>
          <p:nvPr/>
        </p:nvSpPr>
        <p:spPr>
          <a:xfrm>
            <a:off x="342909" y="3806190"/>
            <a:ext cx="8469856" cy="89154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39"/>
          <p:cNvSpPr txBox="1"/>
          <p:nvPr/>
        </p:nvSpPr>
        <p:spPr>
          <a:xfrm>
            <a:off x="514364" y="3888486"/>
            <a:ext cx="8229819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KORLÁTOK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0" name="Google Shape;520;p39"/>
          <p:cNvSpPr txBox="1"/>
          <p:nvPr/>
        </p:nvSpPr>
        <p:spPr>
          <a:xfrm>
            <a:off x="514364" y="4101084"/>
            <a:ext cx="8229819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GB" sz="10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LLM-alapú szentiment · portálonként normalizált score · korrelációs (nem oksági) értelmezés.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1" name="Google Shape;521;p39"/>
          <p:cNvSpPr txBox="1"/>
          <p:nvPr/>
        </p:nvSpPr>
        <p:spPr>
          <a:xfrm>
            <a:off x="342909" y="4903470"/>
            <a:ext cx="8435565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1" lang="en-GB" sz="7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Médiapolarizáció · H2 · Verdikt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25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0"/>
          <p:cNvSpPr/>
          <p:nvPr/>
        </p:nvSpPr>
        <p:spPr>
          <a:xfrm>
            <a:off x="0" y="0"/>
            <a:ext cx="123447" cy="51435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p40"/>
          <p:cNvSpPr/>
          <p:nvPr/>
        </p:nvSpPr>
        <p:spPr>
          <a:xfrm>
            <a:off x="8264110" y="274320"/>
            <a:ext cx="651527" cy="308610"/>
          </a:xfrm>
          <a:prstGeom prst="roundRect">
            <a:avLst>
              <a:gd fmla="val 50000" name="adj"/>
            </a:avLst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GB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H3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8" name="Google Shape;528;p40"/>
          <p:cNvSpPr txBox="1"/>
          <p:nvPr/>
        </p:nvSpPr>
        <p:spPr>
          <a:xfrm>
            <a:off x="342909" y="205740"/>
            <a:ext cx="7818283" cy="327825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GB" sz="2000" u="none" cap="none" strike="noStrike">
                <a:solidFill>
                  <a:srgbClr val="1E2761"/>
                </a:solidFill>
                <a:latin typeface="Lora SemiBold"/>
                <a:ea typeface="Lora SemiBold"/>
                <a:cs typeface="Lora SemiBold"/>
                <a:sym typeface="Lora SemiBold"/>
              </a:rPr>
              <a:t>H3 · Napirend-kijelölés (agenda-setting)</a:t>
            </a:r>
            <a:endParaRPr b="0" i="0" sz="1100" u="none" cap="none" strike="noStrike">
              <a:solidFill>
                <a:srgbClr val="000000"/>
              </a:solidFill>
              <a:latin typeface="Lora SemiBold"/>
              <a:ea typeface="Lora SemiBold"/>
              <a:cs typeface="Lora SemiBold"/>
              <a:sym typeface="Lora SemiBold"/>
            </a:endParaRPr>
          </a:p>
        </p:txBody>
      </p:sp>
      <p:sp>
        <p:nvSpPr>
          <p:cNvPr id="529" name="Google Shape;529;p40"/>
          <p:cNvSpPr txBox="1"/>
          <p:nvPr/>
        </p:nvSpPr>
        <p:spPr>
          <a:xfrm>
            <a:off x="356626" y="630936"/>
            <a:ext cx="7818328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GB" sz="10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Két részhipotézis: szinkronitás és portálspecifikus framing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0" name="Google Shape;530;p40"/>
          <p:cNvSpPr/>
          <p:nvPr/>
        </p:nvSpPr>
        <p:spPr>
          <a:xfrm>
            <a:off x="342909" y="905256"/>
            <a:ext cx="8435565" cy="7144"/>
          </a:xfrm>
          <a:prstGeom prst="rect">
            <a:avLst/>
          </a:prstGeom>
          <a:solidFill>
            <a:srgbClr val="D6DB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40"/>
          <p:cNvSpPr/>
          <p:nvPr/>
        </p:nvSpPr>
        <p:spPr>
          <a:xfrm>
            <a:off x="342909" y="1062990"/>
            <a:ext cx="4286364" cy="157734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40"/>
          <p:cNvSpPr txBox="1"/>
          <p:nvPr/>
        </p:nvSpPr>
        <p:spPr>
          <a:xfrm>
            <a:off x="514364" y="1165860"/>
            <a:ext cx="4012037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HIPOTÉZIS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3" name="Google Shape;533;p40"/>
          <p:cNvSpPr txBox="1"/>
          <p:nvPr/>
        </p:nvSpPr>
        <p:spPr>
          <a:xfrm>
            <a:off x="514364" y="1405889"/>
            <a:ext cx="4012037" cy="120015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GB" sz="11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A kormányközeli portálok napi entitás-említései erősebben korrelálnak egymással, mint a függetleneké; ugyanazon entitások framingje is eltér a két blokknál.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4" name="Google Shape;534;p40"/>
          <p:cNvSpPr/>
          <p:nvPr/>
        </p:nvSpPr>
        <p:spPr>
          <a:xfrm>
            <a:off x="4800728" y="1062990"/>
            <a:ext cx="4012037" cy="740664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40"/>
          <p:cNvSpPr txBox="1"/>
          <p:nvPr/>
        </p:nvSpPr>
        <p:spPr>
          <a:xfrm>
            <a:off x="4972183" y="1131570"/>
            <a:ext cx="3703419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GB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(A)  </a:t>
            </a:r>
            <a:r>
              <a:rPr b="1" i="0" lang="en-GB" sz="8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BELSŐ NAPIREND-SZINKRONITÁS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40"/>
          <p:cNvSpPr txBox="1"/>
          <p:nvPr/>
        </p:nvSpPr>
        <p:spPr>
          <a:xfrm>
            <a:off x="4972183" y="1357884"/>
            <a:ext cx="3703419" cy="44577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Napi entitás-említések alapján páronkénti Pearson-korreláció.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7" name="Google Shape;537;p40"/>
          <p:cNvSpPr/>
          <p:nvPr/>
        </p:nvSpPr>
        <p:spPr>
          <a:xfrm>
            <a:off x="4800728" y="1885950"/>
            <a:ext cx="4012037" cy="75438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40"/>
          <p:cNvSpPr txBox="1"/>
          <p:nvPr/>
        </p:nvSpPr>
        <p:spPr>
          <a:xfrm>
            <a:off x="4972183" y="1954530"/>
            <a:ext cx="3703419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GB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(B)  </a:t>
            </a:r>
            <a:r>
              <a:rPr b="1" i="0" lang="en-GB" sz="8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PORTÁLSPECIFIKUS DINAMIKA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9" name="Google Shape;539;p40"/>
          <p:cNvSpPr txBox="1"/>
          <p:nvPr/>
        </p:nvSpPr>
        <p:spPr>
          <a:xfrm>
            <a:off x="4972183" y="2180844"/>
            <a:ext cx="3703419" cy="44577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GB" sz="8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Ugyanazon entitások szentiment- és vizuális különbségeinek tesztelése.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0" name="Google Shape;540;p40"/>
          <p:cNvSpPr/>
          <p:nvPr/>
        </p:nvSpPr>
        <p:spPr>
          <a:xfrm>
            <a:off x="342909" y="2811779"/>
            <a:ext cx="8469856" cy="822960"/>
          </a:xfrm>
          <a:prstGeom prst="roundRect">
            <a:avLst>
              <a:gd fmla="val 5000" name="adj"/>
            </a:avLst>
          </a:prstGeom>
          <a:solidFill>
            <a:srgbClr val="1E2761"/>
          </a:solidFill>
          <a:ln cap="flat" cmpd="sng" w="9525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40"/>
          <p:cNvSpPr txBox="1"/>
          <p:nvPr/>
        </p:nvSpPr>
        <p:spPr>
          <a:xfrm>
            <a:off x="548655" y="2894076"/>
            <a:ext cx="8092656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D4AF37"/>
                </a:solidFill>
                <a:latin typeface="Calibri"/>
                <a:ea typeface="Calibri"/>
                <a:cs typeface="Calibri"/>
                <a:sym typeface="Calibri"/>
              </a:rPr>
              <a:t>MINTA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2" name="Google Shape;542;p40"/>
          <p:cNvSpPr txBox="1"/>
          <p:nvPr/>
        </p:nvSpPr>
        <p:spPr>
          <a:xfrm>
            <a:off x="548655" y="3120390"/>
            <a:ext cx="8092656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GB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Top 15 olyan entitás, amely mindkét portáltípusban megjelenik.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3" name="Google Shape;543;p40"/>
          <p:cNvSpPr/>
          <p:nvPr/>
        </p:nvSpPr>
        <p:spPr>
          <a:xfrm>
            <a:off x="342909" y="3737610"/>
            <a:ext cx="8469856" cy="106299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" name="Google Shape;544;p40"/>
          <p:cNvSpPr txBox="1"/>
          <p:nvPr/>
        </p:nvSpPr>
        <p:spPr>
          <a:xfrm>
            <a:off x="514364" y="3840480"/>
            <a:ext cx="8229819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MIT MÉR A H3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5" name="Google Shape;545;p40"/>
          <p:cNvSpPr txBox="1"/>
          <p:nvPr/>
        </p:nvSpPr>
        <p:spPr>
          <a:xfrm>
            <a:off x="514364" y="4066794"/>
            <a:ext cx="8229819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GB" sz="10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Mennyire koordinált a napi napirend, és mennyire portálspecifikus ugyanazon szereplők kezelése — azaz hol húzódik a határ a közös témaválasztás és a blokkok eltérő narratívái között.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6" name="Google Shape;546;p40"/>
          <p:cNvSpPr txBox="1"/>
          <p:nvPr/>
        </p:nvSpPr>
        <p:spPr>
          <a:xfrm>
            <a:off x="342909" y="4903470"/>
            <a:ext cx="8435565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1" lang="en-GB" sz="7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Médiapolarizáció · H3 · Hipotézis és módszertan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50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41"/>
          <p:cNvSpPr/>
          <p:nvPr/>
        </p:nvSpPr>
        <p:spPr>
          <a:xfrm>
            <a:off x="0" y="0"/>
            <a:ext cx="123447" cy="51435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41"/>
          <p:cNvSpPr/>
          <p:nvPr/>
        </p:nvSpPr>
        <p:spPr>
          <a:xfrm>
            <a:off x="8264110" y="274320"/>
            <a:ext cx="651527" cy="308610"/>
          </a:xfrm>
          <a:prstGeom prst="roundRect">
            <a:avLst>
              <a:gd fmla="val 50000" name="adj"/>
            </a:avLst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GB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H3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3" name="Google Shape;553;p41"/>
          <p:cNvSpPr txBox="1"/>
          <p:nvPr/>
        </p:nvSpPr>
        <p:spPr>
          <a:xfrm>
            <a:off x="342909" y="205740"/>
            <a:ext cx="7818283" cy="327825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GB" sz="2000" u="none" cap="none" strike="noStrike">
                <a:solidFill>
                  <a:srgbClr val="1E2761"/>
                </a:solidFill>
                <a:latin typeface="Lora SemiBold"/>
                <a:ea typeface="Lora SemiBold"/>
                <a:cs typeface="Lora SemiBold"/>
                <a:sym typeface="Lora SemiBold"/>
              </a:rPr>
              <a:t>H3 (A) · Belső napirend-szinkronitás</a:t>
            </a:r>
            <a:endParaRPr b="0" i="0" sz="1100" u="none" cap="none" strike="noStrike">
              <a:solidFill>
                <a:srgbClr val="000000"/>
              </a:solidFill>
              <a:latin typeface="Lora SemiBold"/>
              <a:ea typeface="Lora SemiBold"/>
              <a:cs typeface="Lora SemiBold"/>
              <a:sym typeface="Lora SemiBold"/>
            </a:endParaRPr>
          </a:p>
        </p:txBody>
      </p:sp>
      <p:sp>
        <p:nvSpPr>
          <p:cNvPr id="554" name="Google Shape;554;p41"/>
          <p:cNvSpPr txBox="1"/>
          <p:nvPr/>
        </p:nvSpPr>
        <p:spPr>
          <a:xfrm>
            <a:off x="356626" y="630936"/>
            <a:ext cx="7818328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GB" sz="10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Páronkénti Pearson-r hőtérképek portáltípusonként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" name="Google Shape;555;p41"/>
          <p:cNvSpPr/>
          <p:nvPr/>
        </p:nvSpPr>
        <p:spPr>
          <a:xfrm>
            <a:off x="342909" y="905256"/>
            <a:ext cx="8435565" cy="7144"/>
          </a:xfrm>
          <a:prstGeom prst="rect">
            <a:avLst/>
          </a:prstGeom>
          <a:solidFill>
            <a:srgbClr val="D6DB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hart_s13.png" id="556" name="Google Shape;5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2909" y="1028700"/>
            <a:ext cx="5760874" cy="2606040"/>
          </a:xfrm>
          <a:prstGeom prst="rect">
            <a:avLst/>
          </a:prstGeom>
          <a:noFill/>
          <a:ln>
            <a:noFill/>
          </a:ln>
        </p:spPr>
      </p:pic>
      <p:sp>
        <p:nvSpPr>
          <p:cNvPr id="557" name="Google Shape;557;p41"/>
          <p:cNvSpPr/>
          <p:nvPr/>
        </p:nvSpPr>
        <p:spPr>
          <a:xfrm>
            <a:off x="6172365" y="1028700"/>
            <a:ext cx="2708982" cy="82296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41"/>
          <p:cNvSpPr/>
          <p:nvPr/>
        </p:nvSpPr>
        <p:spPr>
          <a:xfrm>
            <a:off x="6172365" y="1028700"/>
            <a:ext cx="68582" cy="822960"/>
          </a:xfrm>
          <a:prstGeom prst="rect">
            <a:avLst/>
          </a:prstGeom>
          <a:solidFill>
            <a:srgbClr val="C7545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41"/>
          <p:cNvSpPr txBox="1"/>
          <p:nvPr/>
        </p:nvSpPr>
        <p:spPr>
          <a:xfrm>
            <a:off x="6343819" y="1110996"/>
            <a:ext cx="2468946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KORMÁNYKÖZELI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0" name="Google Shape;560;p41"/>
          <p:cNvSpPr txBox="1"/>
          <p:nvPr/>
        </p:nvSpPr>
        <p:spPr>
          <a:xfrm>
            <a:off x="6343819" y="1316736"/>
            <a:ext cx="2468946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GB" sz="15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átlag r = 0.686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" name="Google Shape;561;p41"/>
          <p:cNvSpPr txBox="1"/>
          <p:nvPr/>
        </p:nvSpPr>
        <p:spPr>
          <a:xfrm>
            <a:off x="6343819" y="1659636"/>
            <a:ext cx="246894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GB" sz="8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szórás ±0.188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2" name="Google Shape;562;p41"/>
          <p:cNvSpPr/>
          <p:nvPr/>
        </p:nvSpPr>
        <p:spPr>
          <a:xfrm>
            <a:off x="6172365" y="1954530"/>
            <a:ext cx="2708982" cy="82296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" name="Google Shape;563;p41"/>
          <p:cNvSpPr/>
          <p:nvPr/>
        </p:nvSpPr>
        <p:spPr>
          <a:xfrm>
            <a:off x="6172365" y="1954530"/>
            <a:ext cx="68582" cy="822960"/>
          </a:xfrm>
          <a:prstGeom prst="rect">
            <a:avLst/>
          </a:prstGeom>
          <a:solidFill>
            <a:srgbClr val="4A89C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41"/>
          <p:cNvSpPr txBox="1"/>
          <p:nvPr/>
        </p:nvSpPr>
        <p:spPr>
          <a:xfrm>
            <a:off x="6343819" y="2036826"/>
            <a:ext cx="2468946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4A89C5"/>
                </a:solidFill>
                <a:latin typeface="Calibri"/>
                <a:ea typeface="Calibri"/>
                <a:cs typeface="Calibri"/>
                <a:sym typeface="Calibri"/>
              </a:rPr>
              <a:t>FÜGGETLEN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5" name="Google Shape;565;p41"/>
          <p:cNvSpPr txBox="1"/>
          <p:nvPr/>
        </p:nvSpPr>
        <p:spPr>
          <a:xfrm>
            <a:off x="6343819" y="2242566"/>
            <a:ext cx="2468946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GB" sz="15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átlag r = 0.548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Google Shape;566;p41"/>
          <p:cNvSpPr txBox="1"/>
          <p:nvPr/>
        </p:nvSpPr>
        <p:spPr>
          <a:xfrm>
            <a:off x="6343819" y="2585466"/>
            <a:ext cx="246894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GB" sz="8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szórás ±0.218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7" name="Google Shape;567;p41"/>
          <p:cNvSpPr/>
          <p:nvPr/>
        </p:nvSpPr>
        <p:spPr>
          <a:xfrm>
            <a:off x="6172365" y="2880360"/>
            <a:ext cx="2708982" cy="754380"/>
          </a:xfrm>
          <a:prstGeom prst="roundRect">
            <a:avLst>
              <a:gd fmla="val 5000" name="adj"/>
            </a:avLst>
          </a:prstGeom>
          <a:solidFill>
            <a:srgbClr val="1E2761"/>
          </a:solidFill>
          <a:ln cap="flat" cmpd="sng" w="9525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41"/>
          <p:cNvSpPr txBox="1"/>
          <p:nvPr/>
        </p:nvSpPr>
        <p:spPr>
          <a:xfrm>
            <a:off x="6343819" y="2948940"/>
            <a:ext cx="2468946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D4AF37"/>
                </a:solidFill>
                <a:latin typeface="Calibri"/>
                <a:ea typeface="Calibri"/>
                <a:cs typeface="Calibri"/>
                <a:sym typeface="Calibri"/>
              </a:rPr>
              <a:t>KÜLÖNBSÉG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9" name="Google Shape;569;p41"/>
          <p:cNvSpPr txBox="1"/>
          <p:nvPr/>
        </p:nvSpPr>
        <p:spPr>
          <a:xfrm>
            <a:off x="6343819" y="3154680"/>
            <a:ext cx="2468946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GB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Δr = +0.137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0" name="Google Shape;570;p41"/>
          <p:cNvSpPr/>
          <p:nvPr/>
        </p:nvSpPr>
        <p:spPr>
          <a:xfrm>
            <a:off x="342909" y="3771900"/>
            <a:ext cx="8469856" cy="89154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41"/>
          <p:cNvSpPr txBox="1"/>
          <p:nvPr/>
        </p:nvSpPr>
        <p:spPr>
          <a:xfrm>
            <a:off x="514364" y="3840480"/>
            <a:ext cx="8229819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OLVASAT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2" name="Google Shape;572;p41"/>
          <p:cNvSpPr txBox="1"/>
          <p:nvPr/>
        </p:nvSpPr>
        <p:spPr>
          <a:xfrm>
            <a:off x="514364" y="4066794"/>
            <a:ext cx="8229819" cy="5829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GB" sz="10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A kormányközeli blokk átlagos páronkénti korrelációja magasabb és egységesebb — ez koordináltabb napirend-követésre utal.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p41"/>
          <p:cNvSpPr txBox="1"/>
          <p:nvPr/>
        </p:nvSpPr>
        <p:spPr>
          <a:xfrm>
            <a:off x="342909" y="4903470"/>
            <a:ext cx="8435565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1" lang="en-GB" sz="7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Médiapolarizáció · H3 (A) · Páronkénti Pearson-r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77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578;p42"/>
          <p:cNvSpPr/>
          <p:nvPr/>
        </p:nvSpPr>
        <p:spPr>
          <a:xfrm>
            <a:off x="0" y="0"/>
            <a:ext cx="123447" cy="51435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42"/>
          <p:cNvSpPr/>
          <p:nvPr/>
        </p:nvSpPr>
        <p:spPr>
          <a:xfrm>
            <a:off x="8264110" y="274320"/>
            <a:ext cx="651527" cy="308610"/>
          </a:xfrm>
          <a:prstGeom prst="roundRect">
            <a:avLst>
              <a:gd fmla="val 50000" name="adj"/>
            </a:avLst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GB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H3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0" name="Google Shape;580;p42"/>
          <p:cNvSpPr txBox="1"/>
          <p:nvPr/>
        </p:nvSpPr>
        <p:spPr>
          <a:xfrm>
            <a:off x="342909" y="205740"/>
            <a:ext cx="7818283" cy="327825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GB" sz="2000" u="none" cap="none" strike="noStrike">
                <a:solidFill>
                  <a:srgbClr val="1E2761"/>
                </a:solidFill>
                <a:latin typeface="Lora SemiBold"/>
                <a:ea typeface="Lora SemiBold"/>
                <a:cs typeface="Lora SemiBold"/>
                <a:sym typeface="Lora SemiBold"/>
              </a:rPr>
              <a:t>H3 (B) · Portálspecifikus dinamika</a:t>
            </a:r>
            <a:endParaRPr b="0" i="0" sz="1100" u="none" cap="none" strike="noStrike">
              <a:solidFill>
                <a:srgbClr val="000000"/>
              </a:solidFill>
              <a:latin typeface="Lora SemiBold"/>
              <a:ea typeface="Lora SemiBold"/>
              <a:cs typeface="Lora SemiBold"/>
              <a:sym typeface="Lora SemiBold"/>
            </a:endParaRPr>
          </a:p>
        </p:txBody>
      </p:sp>
      <p:sp>
        <p:nvSpPr>
          <p:cNvPr id="581" name="Google Shape;581;p42"/>
          <p:cNvSpPr txBox="1"/>
          <p:nvPr/>
        </p:nvSpPr>
        <p:spPr>
          <a:xfrm>
            <a:off x="356626" y="630936"/>
            <a:ext cx="7818328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GB" sz="10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Ugyanazon entitások eltérő kezelése a két médiablokkban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2" name="Google Shape;582;p42"/>
          <p:cNvSpPr/>
          <p:nvPr/>
        </p:nvSpPr>
        <p:spPr>
          <a:xfrm>
            <a:off x="342909" y="905256"/>
            <a:ext cx="8435565" cy="7144"/>
          </a:xfrm>
          <a:prstGeom prst="rect">
            <a:avLst/>
          </a:prstGeom>
          <a:solidFill>
            <a:srgbClr val="D6DB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hart_s14.png" id="583" name="Google Shape;58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2909" y="1028700"/>
            <a:ext cx="5898037" cy="2674620"/>
          </a:xfrm>
          <a:prstGeom prst="rect">
            <a:avLst/>
          </a:prstGeom>
          <a:noFill/>
          <a:ln>
            <a:noFill/>
          </a:ln>
        </p:spPr>
      </p:pic>
      <p:sp>
        <p:nvSpPr>
          <p:cNvPr id="584" name="Google Shape;584;p42"/>
          <p:cNvSpPr/>
          <p:nvPr/>
        </p:nvSpPr>
        <p:spPr>
          <a:xfrm>
            <a:off x="6309528" y="1028700"/>
            <a:ext cx="2571819" cy="123444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42"/>
          <p:cNvSpPr/>
          <p:nvPr/>
        </p:nvSpPr>
        <p:spPr>
          <a:xfrm>
            <a:off x="6309528" y="1028700"/>
            <a:ext cx="82298" cy="1234440"/>
          </a:xfrm>
          <a:prstGeom prst="rect">
            <a:avLst/>
          </a:prstGeom>
          <a:solidFill>
            <a:srgbClr val="C7545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" name="Google Shape;586;p42"/>
          <p:cNvSpPr txBox="1"/>
          <p:nvPr/>
        </p:nvSpPr>
        <p:spPr>
          <a:xfrm>
            <a:off x="6480983" y="1097280"/>
            <a:ext cx="2331782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SZENTIMENT-ELTÉRÉS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7" name="Google Shape;587;p42"/>
          <p:cNvSpPr txBox="1"/>
          <p:nvPr/>
        </p:nvSpPr>
        <p:spPr>
          <a:xfrm>
            <a:off x="6480983" y="1337310"/>
            <a:ext cx="2331782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500"/>
              <a:buFont typeface="Arial"/>
              <a:buNone/>
            </a:pPr>
            <a:r>
              <a:rPr b="1" i="0" lang="en-GB" sz="35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11/15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8" name="Google Shape;588;p42"/>
          <p:cNvSpPr txBox="1"/>
          <p:nvPr/>
        </p:nvSpPr>
        <p:spPr>
          <a:xfrm>
            <a:off x="6480983" y="1988820"/>
            <a:ext cx="233178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GB" sz="8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entitásnál szignifikáns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9" name="Google Shape;589;p42"/>
          <p:cNvSpPr/>
          <p:nvPr/>
        </p:nvSpPr>
        <p:spPr>
          <a:xfrm>
            <a:off x="6309528" y="2366010"/>
            <a:ext cx="2571819" cy="123444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" name="Google Shape;590;p42"/>
          <p:cNvSpPr/>
          <p:nvPr/>
        </p:nvSpPr>
        <p:spPr>
          <a:xfrm>
            <a:off x="6309528" y="2366010"/>
            <a:ext cx="82298" cy="1234440"/>
          </a:xfrm>
          <a:prstGeom prst="rect">
            <a:avLst/>
          </a:prstGeom>
          <a:solidFill>
            <a:srgbClr val="4A89C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42"/>
          <p:cNvSpPr txBox="1"/>
          <p:nvPr/>
        </p:nvSpPr>
        <p:spPr>
          <a:xfrm>
            <a:off x="6480983" y="2434590"/>
            <a:ext cx="2331782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4A89C5"/>
                </a:solidFill>
                <a:latin typeface="Calibri"/>
                <a:ea typeface="Calibri"/>
                <a:cs typeface="Calibri"/>
                <a:sym typeface="Calibri"/>
              </a:rPr>
              <a:t>VIZUÁLIS ELTÉRÉS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2" name="Google Shape;592;p42"/>
          <p:cNvSpPr txBox="1"/>
          <p:nvPr/>
        </p:nvSpPr>
        <p:spPr>
          <a:xfrm>
            <a:off x="6480983" y="2674620"/>
            <a:ext cx="2331782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500"/>
              <a:buFont typeface="Arial"/>
              <a:buNone/>
            </a:pPr>
            <a:r>
              <a:rPr b="1" i="0" lang="en-GB" sz="35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14/15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3" name="Google Shape;593;p42"/>
          <p:cNvSpPr txBox="1"/>
          <p:nvPr/>
        </p:nvSpPr>
        <p:spPr>
          <a:xfrm>
            <a:off x="6480983" y="3326130"/>
            <a:ext cx="233178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GB" sz="8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entitásnál szignifikáns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4" name="Google Shape;594;p42"/>
          <p:cNvSpPr/>
          <p:nvPr/>
        </p:nvSpPr>
        <p:spPr>
          <a:xfrm>
            <a:off x="342909" y="3806190"/>
            <a:ext cx="8469856" cy="89154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42"/>
          <p:cNvSpPr txBox="1"/>
          <p:nvPr/>
        </p:nvSpPr>
        <p:spPr>
          <a:xfrm>
            <a:off x="514364" y="3874770"/>
            <a:ext cx="8229819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OLVASAT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6" name="Google Shape;596;p42"/>
          <p:cNvSpPr txBox="1"/>
          <p:nvPr/>
        </p:nvSpPr>
        <p:spPr>
          <a:xfrm>
            <a:off x="514364" y="4101084"/>
            <a:ext cx="8229819" cy="5829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GB" sz="10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★ jelöli a szignifikáns eltérést. A legtöbb top entitásnál a framing nem csak témában, hanem hangsúlyban is különbözik.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7" name="Google Shape;597;p42"/>
          <p:cNvSpPr txBox="1"/>
          <p:nvPr/>
        </p:nvSpPr>
        <p:spPr>
          <a:xfrm>
            <a:off x="342909" y="4903470"/>
            <a:ext cx="8435565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1" lang="en-GB" sz="7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Médiapolarizáció · H3 (B) · Mann–Whitney U, p &lt; 0.05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43"/>
          <p:cNvSpPr/>
          <p:nvPr/>
        </p:nvSpPr>
        <p:spPr>
          <a:xfrm>
            <a:off x="0" y="0"/>
            <a:ext cx="123447" cy="51435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43"/>
          <p:cNvSpPr/>
          <p:nvPr/>
        </p:nvSpPr>
        <p:spPr>
          <a:xfrm>
            <a:off x="8264110" y="274320"/>
            <a:ext cx="651527" cy="308610"/>
          </a:xfrm>
          <a:prstGeom prst="roundRect">
            <a:avLst>
              <a:gd fmla="val 50000" name="adj"/>
            </a:avLst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GB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H3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43"/>
          <p:cNvSpPr txBox="1"/>
          <p:nvPr/>
        </p:nvSpPr>
        <p:spPr>
          <a:xfrm>
            <a:off x="342909" y="205740"/>
            <a:ext cx="7818283" cy="327825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GB" sz="2000" u="none" cap="none" strike="noStrike">
                <a:solidFill>
                  <a:srgbClr val="1E2761"/>
                </a:solidFill>
                <a:latin typeface="Lora SemiBold"/>
                <a:ea typeface="Lora SemiBold"/>
                <a:cs typeface="Lora SemiBold"/>
                <a:sym typeface="Lora SemiBold"/>
              </a:rPr>
              <a:t>H3 Verdikt · Összességében támogatott</a:t>
            </a:r>
            <a:endParaRPr b="0" i="0" sz="1100" u="none" cap="none" strike="noStrike">
              <a:solidFill>
                <a:srgbClr val="000000"/>
              </a:solidFill>
              <a:latin typeface="Lora SemiBold"/>
              <a:ea typeface="Lora SemiBold"/>
              <a:cs typeface="Lora SemiBold"/>
              <a:sym typeface="Lora SemiBold"/>
            </a:endParaRPr>
          </a:p>
        </p:txBody>
      </p:sp>
      <p:sp>
        <p:nvSpPr>
          <p:cNvPr id="605" name="Google Shape;605;p43"/>
          <p:cNvSpPr txBox="1"/>
          <p:nvPr/>
        </p:nvSpPr>
        <p:spPr>
          <a:xfrm>
            <a:off x="356626" y="630936"/>
            <a:ext cx="7818328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GB" sz="10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A napirend és a framing is blokklogikát követ.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43"/>
          <p:cNvSpPr/>
          <p:nvPr/>
        </p:nvSpPr>
        <p:spPr>
          <a:xfrm>
            <a:off x="342909" y="905256"/>
            <a:ext cx="8435565" cy="7144"/>
          </a:xfrm>
          <a:prstGeom prst="rect">
            <a:avLst/>
          </a:prstGeom>
          <a:solidFill>
            <a:srgbClr val="D6DB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" name="Google Shape;607;p43"/>
          <p:cNvSpPr/>
          <p:nvPr/>
        </p:nvSpPr>
        <p:spPr>
          <a:xfrm>
            <a:off x="342909" y="1062990"/>
            <a:ext cx="2754703" cy="205740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43"/>
          <p:cNvSpPr/>
          <p:nvPr/>
        </p:nvSpPr>
        <p:spPr>
          <a:xfrm>
            <a:off x="342909" y="1062990"/>
            <a:ext cx="2754703" cy="68580"/>
          </a:xfrm>
          <a:prstGeom prst="rect">
            <a:avLst/>
          </a:prstGeom>
          <a:solidFill>
            <a:srgbClr val="C7545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9" name="Google Shape;609;p43"/>
          <p:cNvSpPr txBox="1"/>
          <p:nvPr/>
        </p:nvSpPr>
        <p:spPr>
          <a:xfrm>
            <a:off x="514364" y="1200150"/>
            <a:ext cx="2411794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GB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(A)  </a:t>
            </a:r>
            <a:r>
              <a:rPr b="1" i="0" lang="en-GB" sz="8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BELSŐ SZINKRONITÁS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0" name="Google Shape;610;p43"/>
          <p:cNvSpPr txBox="1"/>
          <p:nvPr/>
        </p:nvSpPr>
        <p:spPr>
          <a:xfrm>
            <a:off x="514364" y="1543050"/>
            <a:ext cx="2411794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b="1" i="0" lang="en-GB" sz="33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+0.137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1" name="Google Shape;611;p43"/>
          <p:cNvSpPr txBox="1"/>
          <p:nvPr/>
        </p:nvSpPr>
        <p:spPr>
          <a:xfrm>
            <a:off x="514364" y="2125980"/>
            <a:ext cx="241179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GB" sz="8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Δr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2" name="Google Shape;612;p43"/>
          <p:cNvSpPr txBox="1"/>
          <p:nvPr/>
        </p:nvSpPr>
        <p:spPr>
          <a:xfrm>
            <a:off x="514364" y="2366010"/>
            <a:ext cx="2411794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GB" sz="9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A kormányközeli blokk átlagos páronkénti korrelációja magasabb és egységesebb (0.686 vs. 0.548).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3" name="Google Shape;613;p43"/>
          <p:cNvSpPr/>
          <p:nvPr/>
        </p:nvSpPr>
        <p:spPr>
          <a:xfrm>
            <a:off x="3166194" y="1062990"/>
            <a:ext cx="2754703" cy="205740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43"/>
          <p:cNvSpPr/>
          <p:nvPr/>
        </p:nvSpPr>
        <p:spPr>
          <a:xfrm>
            <a:off x="3166194" y="1062990"/>
            <a:ext cx="2754703" cy="68580"/>
          </a:xfrm>
          <a:prstGeom prst="rect">
            <a:avLst/>
          </a:prstGeom>
          <a:solidFill>
            <a:srgbClr val="4A89C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43"/>
          <p:cNvSpPr txBox="1"/>
          <p:nvPr/>
        </p:nvSpPr>
        <p:spPr>
          <a:xfrm>
            <a:off x="3337649" y="1200150"/>
            <a:ext cx="2411794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GB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(B)  </a:t>
            </a:r>
            <a:r>
              <a:rPr b="1" i="0" lang="en-GB" sz="800" u="none" cap="none" strike="noStrike">
                <a:solidFill>
                  <a:srgbClr val="4A89C5"/>
                </a:solidFill>
                <a:latin typeface="Calibri"/>
                <a:ea typeface="Calibri"/>
                <a:cs typeface="Calibri"/>
                <a:sym typeface="Calibri"/>
              </a:rPr>
              <a:t>SZENTIMENT-ELTÉRÉS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6" name="Google Shape;616;p43"/>
          <p:cNvSpPr txBox="1"/>
          <p:nvPr/>
        </p:nvSpPr>
        <p:spPr>
          <a:xfrm>
            <a:off x="3337649" y="1543050"/>
            <a:ext cx="2411794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b="1" i="0" lang="en-GB" sz="33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11/15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7" name="Google Shape;617;p43"/>
          <p:cNvSpPr txBox="1"/>
          <p:nvPr/>
        </p:nvSpPr>
        <p:spPr>
          <a:xfrm>
            <a:off x="3337649" y="2125980"/>
            <a:ext cx="241179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GB" sz="8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entitás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8" name="Google Shape;618;p43"/>
          <p:cNvSpPr txBox="1"/>
          <p:nvPr/>
        </p:nvSpPr>
        <p:spPr>
          <a:xfrm>
            <a:off x="3337649" y="2366010"/>
            <a:ext cx="2411794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GB" sz="9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A top entitások többségénél szignifikánsan eltér a hangnem a két blokk között.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9" name="Google Shape;619;p43"/>
          <p:cNvSpPr/>
          <p:nvPr/>
        </p:nvSpPr>
        <p:spPr>
          <a:xfrm>
            <a:off x="5989479" y="1062990"/>
            <a:ext cx="2754703" cy="205740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43"/>
          <p:cNvSpPr/>
          <p:nvPr/>
        </p:nvSpPr>
        <p:spPr>
          <a:xfrm>
            <a:off x="5989479" y="1062990"/>
            <a:ext cx="2754703" cy="6858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" name="Google Shape;621;p43"/>
          <p:cNvSpPr txBox="1"/>
          <p:nvPr/>
        </p:nvSpPr>
        <p:spPr>
          <a:xfrm>
            <a:off x="6160933" y="1200150"/>
            <a:ext cx="2411794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GB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(B)  </a:t>
            </a:r>
            <a:r>
              <a:rPr b="1" i="0" lang="en-GB" sz="8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VIZUÁLIS ELTÉRÉS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2" name="Google Shape;622;p43"/>
          <p:cNvSpPr txBox="1"/>
          <p:nvPr/>
        </p:nvSpPr>
        <p:spPr>
          <a:xfrm>
            <a:off x="6160933" y="1543050"/>
            <a:ext cx="2411794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b="1" i="0" lang="en-GB" sz="33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14/15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3" name="Google Shape;623;p43"/>
          <p:cNvSpPr txBox="1"/>
          <p:nvPr/>
        </p:nvSpPr>
        <p:spPr>
          <a:xfrm>
            <a:off x="6160933" y="2125980"/>
            <a:ext cx="241179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GB" sz="8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entitás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4" name="Google Shape;624;p43"/>
          <p:cNvSpPr txBox="1"/>
          <p:nvPr/>
        </p:nvSpPr>
        <p:spPr>
          <a:xfrm>
            <a:off x="6160933" y="2366010"/>
            <a:ext cx="2411794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GB" sz="9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A top entitások szinte mindegyikénél eltér a főoldali hangsúly is.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5" name="Google Shape;625;p43"/>
          <p:cNvSpPr/>
          <p:nvPr/>
        </p:nvSpPr>
        <p:spPr>
          <a:xfrm>
            <a:off x="342909" y="3257550"/>
            <a:ext cx="8469856" cy="925830"/>
          </a:xfrm>
          <a:prstGeom prst="roundRect">
            <a:avLst>
              <a:gd fmla="val 5000" name="adj"/>
            </a:avLst>
          </a:prstGeom>
          <a:solidFill>
            <a:srgbClr val="1E2761"/>
          </a:solidFill>
          <a:ln cap="flat" cmpd="sng" w="9525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43"/>
          <p:cNvSpPr txBox="1"/>
          <p:nvPr/>
        </p:nvSpPr>
        <p:spPr>
          <a:xfrm>
            <a:off x="548655" y="3346704"/>
            <a:ext cx="8092656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D4AF37"/>
                </a:solidFill>
                <a:latin typeface="Calibri"/>
                <a:ea typeface="Calibri"/>
                <a:cs typeface="Calibri"/>
                <a:sym typeface="Calibri"/>
              </a:rPr>
              <a:t>ÖSSZESÍTETT KÖVETKEZTETÉS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7" name="Google Shape;627;p43"/>
          <p:cNvSpPr txBox="1"/>
          <p:nvPr/>
        </p:nvSpPr>
        <p:spPr>
          <a:xfrm>
            <a:off x="548655" y="3566160"/>
            <a:ext cx="8092656" cy="58293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GB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 napirend és a framing is blokklogikát követ — a kormányközeli portálok koordináltabbak, a közös entitások kezelése portálspecifikus.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8" name="Google Shape;628;p43"/>
          <p:cNvSpPr/>
          <p:nvPr/>
        </p:nvSpPr>
        <p:spPr>
          <a:xfrm>
            <a:off x="342909" y="4286250"/>
            <a:ext cx="8469856" cy="58293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9" name="Google Shape;629;p43"/>
          <p:cNvSpPr txBox="1"/>
          <p:nvPr/>
        </p:nvSpPr>
        <p:spPr>
          <a:xfrm>
            <a:off x="514364" y="4354830"/>
            <a:ext cx="1028727" cy="445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GB" sz="8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KORLÁTOK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0" name="Google Shape;630;p43"/>
          <p:cNvSpPr txBox="1"/>
          <p:nvPr/>
        </p:nvSpPr>
        <p:spPr>
          <a:xfrm>
            <a:off x="1508800" y="4354830"/>
            <a:ext cx="7201092" cy="445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1" lang="en-GB" sz="9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A Δr-különbség heurisztikus; a sok teszt miatt többszörös összehasonlítási korrekció is indokolt lehet.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1" name="Google Shape;631;p43"/>
          <p:cNvSpPr txBox="1"/>
          <p:nvPr/>
        </p:nvSpPr>
        <p:spPr>
          <a:xfrm>
            <a:off x="342909" y="4903470"/>
            <a:ext cx="8435565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1" lang="en-GB" sz="7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Médiapolarizáció · H3 · Verdikt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