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Ubuntu"/>
      <p:regular r:id="rId27"/>
      <p:bold r:id="rId28"/>
      <p:italic r:id="rId29"/>
      <p:boldItalic r:id="rId30"/>
    </p:embeddedFont>
    <p:embeddedFont>
      <p:font typeface="Lora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A1324E-E767-48CC-B2B4-CB8A3D8B7874}">
  <a:tblStyle styleId="{29A1324E-E767-48CC-B2B4-CB8A3D8B78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Ubuntu-bold.fntdata"/><Relationship Id="rId27" Type="http://schemas.openxmlformats.org/officeDocument/2006/relationships/font" Target="fonts/Ubuntu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buntu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oraSemiBold-regular.fntdata"/><Relationship Id="rId30" Type="http://schemas.openxmlformats.org/officeDocument/2006/relationships/font" Target="fonts/Ubuntu-boldItalic.fntdata"/><Relationship Id="rId11" Type="http://schemas.openxmlformats.org/officeDocument/2006/relationships/slide" Target="slides/slide4.xml"/><Relationship Id="rId33" Type="http://schemas.openxmlformats.org/officeDocument/2006/relationships/font" Target="fonts/LoraSemiBold-italic.fntdata"/><Relationship Id="rId10" Type="http://schemas.openxmlformats.org/officeDocument/2006/relationships/slide" Target="slides/slide3.xml"/><Relationship Id="rId32" Type="http://schemas.openxmlformats.org/officeDocument/2006/relationships/font" Target="fonts/LoraSemiBold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LoraSemiBold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dc921bc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d8dc921bc3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dc921bc3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8dc921bc3_2_9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8dc921bc3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8dc921bc3_2_1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8dc921bc3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8dc921bc3_2_14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8dc921bc3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d8dc921bc3_2_16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8dc921bc3_2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d8dc921bc3_2_20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8dc921bc3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d8dc921bc3_2_22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8dc921bc3_2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d8dc921bc3_2_26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8dc921bc3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d8dc921bc3_2_27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8dc921bc3_2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3d8dc921bc3_2_3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8dc921bc3_2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g3d8dc921bc3_2_3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8dc921bc3_2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d8dc921bc3_2_36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8dc921bc3_2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g3d8dc921bc3_2_3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8dc921bc3_2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g3d8dc921bc3_2_4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8dc921bc3_2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0" name="Google Shape;500;g3d8dc921bc3_2_43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8dc921bc3_2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g3d8dc921bc3_2_4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8dc921bc3_2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g3d8dc921bc3_2_4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8dc921bc3_2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6" name="Google Shape;576;g3d8dc921bc3_2_5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8dc921bc3_2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g3d8dc921bc3_2_53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6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7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3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342909" cy="5143500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7635302" y="3530400"/>
            <a:ext cx="1508700" cy="1613100"/>
          </a:xfrm>
          <a:prstGeom prst="rect">
            <a:avLst/>
          </a:prstGeom>
          <a:solidFill>
            <a:srgbClr val="2630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7955492" y="0"/>
            <a:ext cx="1186466" cy="1714500"/>
          </a:xfrm>
          <a:prstGeom prst="rect">
            <a:avLst/>
          </a:prstGeom>
          <a:solidFill>
            <a:srgbClr val="26306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754400" y="662940"/>
            <a:ext cx="6858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MÉDIAKUTATÁS · 2026 </a:t>
            </a:r>
            <a:r>
              <a:rPr b="1" lang="en-GB" sz="900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· Miskolci Egyetem - Gazdaságtudományi Kar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754400" y="1005840"/>
            <a:ext cx="7544100" cy="12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GB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Médiapolarizáció a</a:t>
            </a:r>
            <a:br>
              <a:rPr b="1" i="0" lang="en-GB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magyar hírportálokon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754400" y="2514600"/>
            <a:ext cx="822900" cy="21300"/>
          </a:xfrm>
          <a:prstGeom prst="rect">
            <a:avLst/>
          </a:prstGeom>
          <a:solidFill>
            <a:srgbClr val="D4AF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754400" y="2617470"/>
            <a:ext cx="7544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Hipotézis és módszertan — három hipotézis empirikus tesztje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754400" y="3840480"/>
            <a:ext cx="21946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29 686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754400" y="4286250"/>
            <a:ext cx="21946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elemzett címsor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2126118" y="3840475"/>
            <a:ext cx="8229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2126118" y="4286251"/>
            <a:ext cx="82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hírportál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3066202" y="3840475"/>
            <a:ext cx="1115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3 / 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3066202" y="4286251"/>
            <a:ext cx="1115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hipotézis tesztelve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5343700" y="3418675"/>
            <a:ext cx="18552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GB" sz="1200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Babinszki Szabolcs</a:t>
            </a:r>
            <a:endParaRPr b="1" sz="1200">
              <a:solidFill>
                <a:srgbClr val="EAEE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GB" sz="1200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Fehérvári Norbert</a:t>
            </a:r>
            <a:endParaRPr b="1" sz="1200">
              <a:solidFill>
                <a:srgbClr val="EAEE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GB" sz="1200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Papp Zsombor</a:t>
            </a:r>
            <a:endParaRPr b="1" sz="1200">
              <a:solidFill>
                <a:srgbClr val="EAEE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GB" sz="1200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Tóth Szilárd</a:t>
            </a:r>
            <a:endParaRPr i="1" sz="1200">
              <a:solidFill>
                <a:srgbClr val="EAEE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342909" y="205740"/>
            <a:ext cx="7818283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Kontraszt — Médiaviselkedés a figyelemgazdaságban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356626" y="630936"/>
            <a:ext cx="7818328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A magyar online hírportálok címlapjainak empirikus vizsgálata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342909" y="1042500"/>
            <a:ext cx="4132055" cy="18000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514364" y="1155000"/>
            <a:ext cx="378914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MIRŐL SZÓL EZ A KUTATÁS?</a:t>
            </a:r>
            <a:endParaRPr sz="1100"/>
          </a:p>
        </p:txBody>
      </p:sp>
      <p:sp>
        <p:nvSpPr>
          <p:cNvPr id="154" name="Google Shape;154;p26"/>
          <p:cNvSpPr txBox="1"/>
          <p:nvPr/>
        </p:nvSpPr>
        <p:spPr>
          <a:xfrm>
            <a:off x="514364" y="1380000"/>
            <a:ext cx="378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 figyelem a digitális médiatér legszűkösebb erőforrása (Simon, Goldhaber). A hírportálok nem pusztán információt közölnek: vizuális hierarchiával, kiemeléssel és érzelmi tónussal versenyeznek az olvasó figyelméért.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Ez a projekt a figyelemgazdaság kínálati oldalát méri – azt, hogy a szerkesztőség mely híreket próbálja figyelemre méltóvá tenni, nem azt, hogy az olvasó ténylegesen mire kattint.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4646419" y="1042500"/>
            <a:ext cx="4132055" cy="18000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4817873" y="1155000"/>
            <a:ext cx="378914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KUTATÁSI KÉRDÉS</a:t>
            </a:r>
            <a:endParaRPr sz="1100"/>
          </a:p>
        </p:txBody>
      </p:sp>
      <p:sp>
        <p:nvSpPr>
          <p:cNvPr id="157" name="Google Shape;157;p26"/>
          <p:cNvSpPr txBox="1"/>
          <p:nvPr/>
        </p:nvSpPr>
        <p:spPr>
          <a:xfrm>
            <a:off x="4817873" y="1380000"/>
            <a:ext cx="3789146" cy="13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100" u="none" cap="none" strike="noStrike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Hogyan tükrözi a magyar online hírportálok szerkesztési gyakorlata — vizuális hangsúllyal és érzelmi töltettel — a választási kampány dinamikáját, és mennyire mutatnak homogén képet az egyes politikai szereplők megjelenítésében?</a:t>
            </a:r>
            <a:endParaRPr sz="1100"/>
          </a:p>
        </p:txBody>
      </p:sp>
      <p:sp>
        <p:nvSpPr>
          <p:cNvPr id="158" name="Google Shape;158;p26"/>
          <p:cNvSpPr/>
          <p:nvPr/>
        </p:nvSpPr>
        <p:spPr>
          <a:xfrm>
            <a:off x="342900" y="3037500"/>
            <a:ext cx="2697600" cy="13200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514364" y="3187500"/>
            <a:ext cx="322509" cy="3225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514364" y="3187500"/>
            <a:ext cx="322509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sz="1100"/>
          </a:p>
        </p:txBody>
      </p:sp>
      <p:sp>
        <p:nvSpPr>
          <p:cNvPr id="161" name="Google Shape;161;p26"/>
          <p:cNvSpPr txBox="1"/>
          <p:nvPr/>
        </p:nvSpPr>
        <p:spPr>
          <a:xfrm>
            <a:off x="990141" y="3281050"/>
            <a:ext cx="198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POLARIZÁCIÓ</a:t>
            </a:r>
            <a:endParaRPr sz="1200"/>
          </a:p>
        </p:txBody>
      </p:sp>
      <p:sp>
        <p:nvSpPr>
          <p:cNvPr id="162" name="Google Shape;162;p26"/>
          <p:cNvSpPr txBox="1"/>
          <p:nvPr/>
        </p:nvSpPr>
        <p:spPr>
          <a:xfrm>
            <a:off x="514364" y="3653700"/>
            <a:ext cx="235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kormányközeli és független portálok eltérő szentimenttel és vizuális súllyal jelenítik meg ugyanazokat a politikai szereplőket.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211925" y="3037500"/>
            <a:ext cx="2697600" cy="13200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3383370" y="3187500"/>
            <a:ext cx="322509" cy="3225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3383370" y="3187500"/>
            <a:ext cx="322509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sz="1100"/>
          </a:p>
        </p:txBody>
      </p:sp>
      <p:sp>
        <p:nvSpPr>
          <p:cNvPr id="166" name="Google Shape;166;p26"/>
          <p:cNvSpPr txBox="1"/>
          <p:nvPr/>
        </p:nvSpPr>
        <p:spPr>
          <a:xfrm>
            <a:off x="3859148" y="3281050"/>
            <a:ext cx="198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VIZUÁLIS HANGSÚLY</a:t>
            </a:r>
            <a:endParaRPr sz="1200"/>
          </a:p>
        </p:txBody>
      </p:sp>
      <p:sp>
        <p:nvSpPr>
          <p:cNvPr id="167" name="Google Shape;167;p26"/>
          <p:cNvSpPr txBox="1"/>
          <p:nvPr/>
        </p:nvSpPr>
        <p:spPr>
          <a:xfrm>
            <a:off x="3383370" y="3653700"/>
            <a:ext cx="235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negatív címsorok átlagosan magasabb fontossági pontszámot kapnak, mint a semlegesek.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6080925" y="3037500"/>
            <a:ext cx="2697600" cy="13200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6252377" y="3187500"/>
            <a:ext cx="322509" cy="3225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6252377" y="3187500"/>
            <a:ext cx="322509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sz="1100"/>
          </a:p>
        </p:txBody>
      </p:sp>
      <p:sp>
        <p:nvSpPr>
          <p:cNvPr id="171" name="Google Shape;171;p26"/>
          <p:cNvSpPr txBox="1"/>
          <p:nvPr/>
        </p:nvSpPr>
        <p:spPr>
          <a:xfrm>
            <a:off x="6728154" y="3281050"/>
            <a:ext cx="198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NAPIREND-KIJELÖLÉS</a:t>
            </a:r>
            <a:endParaRPr sz="1200"/>
          </a:p>
        </p:txBody>
      </p:sp>
      <p:sp>
        <p:nvSpPr>
          <p:cNvPr id="172" name="Google Shape;172;p26"/>
          <p:cNvSpPr txBox="1"/>
          <p:nvPr/>
        </p:nvSpPr>
        <p:spPr>
          <a:xfrm>
            <a:off x="6252377" y="3653700"/>
            <a:ext cx="235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kulcsszereplők megjelenése időben korrelál a portálok között, de a dinamika portálspecifikus.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342909" y="4828500"/>
            <a:ext cx="8435565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Médiakutatás · Bevezető · projekt célja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180" name="Google Shape;180;p27"/>
          <p:cNvSpPr txBox="1"/>
          <p:nvPr/>
        </p:nvSpPr>
        <p:spPr>
          <a:xfrm>
            <a:off x="342909" y="205740"/>
            <a:ext cx="7818283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Adatgyűjtés I. — Főoldali scraper (kontraszt)</a:t>
            </a:r>
            <a:endParaRPr sz="1100"/>
          </a:p>
        </p:txBody>
      </p:sp>
      <p:sp>
        <p:nvSpPr>
          <p:cNvPr id="181" name="Google Shape;181;p27"/>
          <p:cNvSpPr txBox="1"/>
          <p:nvPr/>
        </p:nvSpPr>
        <p:spPr>
          <a:xfrm>
            <a:off x="356626" y="630936"/>
            <a:ext cx="7818328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21 magyar hírportál óránkénti címlap-mérése — Playwright + Crawlee + Convex</a:t>
            </a:r>
            <a:endParaRPr sz="1100"/>
          </a:p>
        </p:txBody>
      </p:sp>
      <p:sp>
        <p:nvSpPr>
          <p:cNvPr id="182" name="Google Shape;182;p27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42900" y="1042500"/>
            <a:ext cx="2697600" cy="18021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14364" y="1155000"/>
            <a:ext cx="2354643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CÉL</a:t>
            </a:r>
            <a:endParaRPr sz="1100"/>
          </a:p>
        </p:txBody>
      </p:sp>
      <p:sp>
        <p:nvSpPr>
          <p:cNvPr id="185" name="Google Shape;185;p27"/>
          <p:cNvSpPr txBox="1"/>
          <p:nvPr/>
        </p:nvSpPr>
        <p:spPr>
          <a:xfrm>
            <a:off x="514364" y="1380000"/>
            <a:ext cx="2354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21 legolvasottabb magyar hírportál főoldali szalagcímeinek és vizuális paramétereinek óránkénti rögzítése — ez adja a figyelem kínálati oldalának nyers mérőszámait.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3211925" y="1042500"/>
            <a:ext cx="2697600" cy="18021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3383370" y="1155000"/>
            <a:ext cx="2354643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TECHNOLÓGIA</a:t>
            </a:r>
            <a:endParaRPr sz="1100"/>
          </a:p>
        </p:txBody>
      </p:sp>
      <p:sp>
        <p:nvSpPr>
          <p:cNvPr id="188" name="Google Shape;188;p27"/>
          <p:cNvSpPr txBox="1"/>
          <p:nvPr/>
        </p:nvSpPr>
        <p:spPr>
          <a:xfrm>
            <a:off x="3383370" y="1380000"/>
            <a:ext cx="23547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Playwright + Crawlee (TS)</a:t>
            </a:r>
            <a:endParaRPr b="1" sz="1200"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8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valódi böngésző — JS-sel betöltődő címek, pontos DOM-geometria.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Convex backend</a:t>
            </a:r>
            <a:endParaRPr b="1" sz="1200"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8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típusos séma, real-time szinkronizáció.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Docker Compose + cron</a:t>
            </a:r>
            <a:endParaRPr b="1" sz="1200"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8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óránkénti futás, webhook indítja az LLM-szolgáltatást.</a:t>
            </a:r>
            <a:endParaRPr sz="11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6080925" y="1042500"/>
            <a:ext cx="2697600" cy="18021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6252377" y="1155000"/>
            <a:ext cx="2354643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PORTÁLOK (21 DB)</a:t>
            </a:r>
            <a:endParaRPr sz="1100"/>
          </a:p>
        </p:txBody>
      </p:sp>
      <p:sp>
        <p:nvSpPr>
          <p:cNvPr id="191" name="Google Shape;191;p27"/>
          <p:cNvSpPr txBox="1"/>
          <p:nvPr/>
        </p:nvSpPr>
        <p:spPr>
          <a:xfrm>
            <a:off x="6252377" y="1380000"/>
            <a:ext cx="23547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Telex · Origo · 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Blikk</a:t>
            </a:r>
            <a:r>
              <a:rPr b="1"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 · 24.hu · 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Index</a:t>
            </a:r>
            <a:r>
              <a:rPr b="1"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 · 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BorsOnline</a:t>
            </a:r>
            <a:r>
              <a:rPr b="1"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 · 444.hu · Magyar Nemzet · Ripost · HVG · ATV · Hirado.hu · Metropol · Nepszava · Mandiner · PestiSracok · 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Napi</a:t>
            </a:r>
            <a:r>
              <a:rPr b="1"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 · Valasz Online · 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Vilaggazdasag</a:t>
            </a:r>
            <a:r>
              <a:rPr b="1"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 · 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Portfolio</a:t>
            </a:r>
            <a:r>
              <a:rPr b="1"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 · Magyar Hang</a:t>
            </a:r>
            <a:endParaRPr b="1"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342909" y="3001200"/>
            <a:ext cx="4132200" cy="16500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514364" y="3113700"/>
            <a:ext cx="378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KÉT TÁBLA · CONVEX/SCHEMA.TS</a:t>
            </a:r>
            <a:endParaRPr sz="1100"/>
          </a:p>
        </p:txBody>
      </p:sp>
      <p:sp>
        <p:nvSpPr>
          <p:cNvPr id="194" name="Google Shape;194;p27"/>
          <p:cNvSpPr txBox="1"/>
          <p:nvPr/>
        </p:nvSpPr>
        <p:spPr>
          <a:xfrm>
            <a:off x="514364" y="3338700"/>
            <a:ext cx="37890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headlineDefinitions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hashedId (SHA1 a URL-ből) · siteName · headlineText · href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1A1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headlines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hashedId · score · fontSize · width · height · x · y · scrapedAt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1A1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Cím = definíció (1×), megjelenés = snapshot (N× óránként).</a:t>
            </a:r>
            <a:endParaRPr sz="1100"/>
          </a:p>
        </p:txBody>
      </p:sp>
      <p:sp>
        <p:nvSpPr>
          <p:cNvPr id="195" name="Google Shape;195;p27"/>
          <p:cNvSpPr/>
          <p:nvPr/>
        </p:nvSpPr>
        <p:spPr>
          <a:xfrm>
            <a:off x="4646419" y="3001200"/>
            <a:ext cx="4132200" cy="16500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4817873" y="3113700"/>
            <a:ext cx="378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VIZUÁLIS „FONTOSSÁGI PONTSZÁM” · SCORE</a:t>
            </a:r>
            <a:endParaRPr sz="1100"/>
          </a:p>
        </p:txBody>
      </p:sp>
      <p:sp>
        <p:nvSpPr>
          <p:cNvPr id="197" name="Google Shape;197;p27"/>
          <p:cNvSpPr txBox="1"/>
          <p:nvPr/>
        </p:nvSpPr>
        <p:spPr>
          <a:xfrm>
            <a:off x="4817873" y="3346200"/>
            <a:ext cx="37890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000" u="none" cap="none" strike="noStrike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score = 100 · fontSize + 0.1 · area − 6y − 3.5x − 4 · x · max(0, 1 − y/600)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000" u="none" cap="none" strike="noStrike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nagy betű és nagy terület → több figyelem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 lejjebb / jobbra → kisebb hangsúly (a szem balra fent kezd)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 jobb felső büntetés csak a top zónára (y &lt; 600 px) — a reklámhelyek kiszűrésére</a:t>
            </a:r>
            <a:endParaRPr sz="1100"/>
          </a:p>
        </p:txBody>
      </p:sp>
      <p:sp>
        <p:nvSpPr>
          <p:cNvPr id="198" name="Google Shape;198;p27"/>
          <p:cNvSpPr txBox="1"/>
          <p:nvPr/>
        </p:nvSpPr>
        <p:spPr>
          <a:xfrm>
            <a:off x="342909" y="4828500"/>
            <a:ext cx="8435565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Médiakutatás · Adatgyűjtés I. · Scraper (kontraszt)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/>
          </a:p>
        </p:txBody>
      </p:sp>
      <p:sp>
        <p:nvSpPr>
          <p:cNvPr id="205" name="Google Shape;205;p28"/>
          <p:cNvSpPr txBox="1"/>
          <p:nvPr/>
        </p:nvSpPr>
        <p:spPr>
          <a:xfrm>
            <a:off x="342909" y="205740"/>
            <a:ext cx="7818283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Adatgyűjtés II. — LLM-elemzés (kontraszt-llm_service)</a:t>
            </a:r>
            <a:endParaRPr sz="1100"/>
          </a:p>
        </p:txBody>
      </p:sp>
      <p:sp>
        <p:nvSpPr>
          <p:cNvPr id="206" name="Google Shape;206;p28"/>
          <p:cNvSpPr txBox="1"/>
          <p:nvPr/>
        </p:nvSpPr>
        <p:spPr>
          <a:xfrm>
            <a:off x="356626" y="630936"/>
            <a:ext cx="7818328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Strukturált szemantikai annotáció headline-onként — JSON schema kényszerítéssel</a:t>
            </a:r>
            <a:endParaRPr sz="1100"/>
          </a:p>
        </p:txBody>
      </p:sp>
      <p:sp>
        <p:nvSpPr>
          <p:cNvPr id="207" name="Google Shape;207;p28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342900" y="1042500"/>
            <a:ext cx="4132200" cy="15294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514364" y="1155000"/>
            <a:ext cx="378914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CÉL</a:t>
            </a:r>
            <a:endParaRPr sz="1100"/>
          </a:p>
        </p:txBody>
      </p:sp>
      <p:sp>
        <p:nvSpPr>
          <p:cNvPr id="210" name="Google Shape;210;p28"/>
          <p:cNvSpPr txBox="1"/>
          <p:nvPr/>
        </p:nvSpPr>
        <p:spPr>
          <a:xfrm>
            <a:off x="514375" y="1380000"/>
            <a:ext cx="38895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Minden új headline-hoz strukturált szemantikai annotáció készítése: szentiment, entitások, címke — ezek a H1–H3 hipotézisek magyarázó változói.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900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Használd model: </a:t>
            </a:r>
            <a:r>
              <a:rPr i="1" lang="en-GB" sz="900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google/gemini-3.1-flash-lite-preview</a:t>
            </a:r>
            <a:endParaRPr i="1" sz="900" u="none" cap="none" strike="noStrike">
              <a:solidFill>
                <a:srgbClr val="1A1D2B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Kulcs:</a:t>
            </a:r>
            <a:r>
              <a:rPr b="1" lang="en-GB" sz="1200"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hashedId — közvetlenül csatlakoztatható a headlineDefinitions-hoz.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4646425" y="1042500"/>
            <a:ext cx="4132200" cy="15294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4817873" y="1155000"/>
            <a:ext cx="378914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1100"/>
          </a:p>
        </p:txBody>
      </p:sp>
      <p:sp>
        <p:nvSpPr>
          <p:cNvPr id="213" name="Google Shape;213;p28"/>
          <p:cNvSpPr txBox="1"/>
          <p:nvPr/>
        </p:nvSpPr>
        <p:spPr>
          <a:xfrm>
            <a:off x="4817875" y="1380000"/>
            <a:ext cx="37890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Scraper Convex  →  webhook  →  LLM-service</a:t>
            </a:r>
            <a:endParaRPr sz="12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LLM-service  →  batch  →  Kilo API (OpenAI-kompatibilis)</a:t>
            </a:r>
            <a:endParaRPr sz="12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Kilo  →  JSON-Schema válasz  →  Target Convex · llmAnalysis</a:t>
            </a:r>
            <a:endParaRPr b="1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GB" sz="9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Node.js · POST /webhook/scrape-complete · SOURCE_PAGE_SIZE=200 · CONVEX_SAVE_BATCH_SIZE=200</a:t>
            </a:r>
            <a:endParaRPr sz="1200"/>
          </a:p>
        </p:txBody>
      </p:sp>
      <p:sp>
        <p:nvSpPr>
          <p:cNvPr id="214" name="Google Shape;214;p28"/>
          <p:cNvSpPr/>
          <p:nvPr/>
        </p:nvSpPr>
        <p:spPr>
          <a:xfrm>
            <a:off x="342909" y="2816100"/>
            <a:ext cx="5061300" cy="18375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514364" y="2928600"/>
            <a:ext cx="471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MEZŐK · HEADLINE-ONKÉNT — JSON SCHEMA</a:t>
            </a:r>
            <a:endParaRPr sz="1100"/>
          </a:p>
        </p:txBody>
      </p:sp>
      <p:sp>
        <p:nvSpPr>
          <p:cNvPr id="216" name="Google Shape;216;p28"/>
          <p:cNvSpPr txBox="1"/>
          <p:nvPr/>
        </p:nvSpPr>
        <p:spPr>
          <a:xfrm>
            <a:off x="514364" y="3153600"/>
            <a:ext cx="47184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   · string · </a:t>
            </a:r>
            <a:r>
              <a:rPr b="0" i="0" lang="en-GB" sz="10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tematikus címke</a:t>
            </a:r>
            <a:endParaRPr sz="13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   · string · </a:t>
            </a:r>
            <a:r>
              <a:rPr b="0" i="0" lang="en-GB" sz="10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negatív / semleges / pozitív</a:t>
            </a:r>
            <a:endParaRPr sz="13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sentiment_score</a:t>
            </a: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   · float 0–1 · </a:t>
            </a:r>
            <a:r>
              <a:rPr b="0" i="0" lang="en-GB" sz="10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0 = negatív, 1 = pozitív</a:t>
            </a:r>
            <a:endParaRPr sz="13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   · string[] · </a:t>
            </a:r>
            <a:r>
              <a:rPr b="0" i="0" lang="en-GB" sz="10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szereplők, szervezetek (pl. „Orbán Viktor”)</a:t>
            </a:r>
            <a:endParaRPr sz="13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   · float 0–1 · </a:t>
            </a:r>
            <a:r>
              <a:rPr b="0" i="0" lang="en-GB" sz="10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modell önbizalma</a:t>
            </a:r>
            <a:endParaRPr sz="1300"/>
          </a:p>
        </p:txBody>
      </p:sp>
      <p:sp>
        <p:nvSpPr>
          <p:cNvPr id="217" name="Google Shape;217;p28"/>
          <p:cNvSpPr/>
          <p:nvPr/>
        </p:nvSpPr>
        <p:spPr>
          <a:xfrm>
            <a:off x="5575703" y="2816100"/>
            <a:ext cx="3202800" cy="1837500"/>
          </a:xfrm>
          <a:prstGeom prst="roundRect">
            <a:avLst>
              <a:gd fmla="val 8000" name="adj"/>
            </a:avLst>
          </a:prstGeom>
          <a:solidFill>
            <a:srgbClr val="EAEE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5747157" y="2928600"/>
            <a:ext cx="2859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MEGBÍZHATÓSÁG</a:t>
            </a:r>
            <a:endParaRPr sz="1100"/>
          </a:p>
        </p:txBody>
      </p:sp>
      <p:sp>
        <p:nvSpPr>
          <p:cNvPr id="219" name="Google Shape;219;p28"/>
          <p:cNvSpPr txBox="1"/>
          <p:nvPr/>
        </p:nvSpPr>
        <p:spPr>
          <a:xfrm>
            <a:off x="5747157" y="3153600"/>
            <a:ext cx="2859900" cy="1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JSON Schema response format</a:t>
            </a:r>
            <a:endParaRPr sz="12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nincs parsing-hiba — a modell kötött séma szerint ad választ.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Retry logika</a:t>
            </a:r>
            <a:endParaRPr sz="12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max 3 kísérlet batchenként.</a:t>
            </a:r>
            <a:endParaRPr sz="1200"/>
          </a:p>
          <a:p>
            <a:pPr indent="0" lvl="0" marL="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Pointer-alapú szinkronizáció</a:t>
            </a:r>
            <a:endParaRPr sz="12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SYNC_STATE_KEY — sosem dolgoz fel kétszer ugyanazt a headline-t.</a:t>
            </a:r>
            <a:endParaRPr sz="1200"/>
          </a:p>
        </p:txBody>
      </p:sp>
      <p:sp>
        <p:nvSpPr>
          <p:cNvPr id="220" name="Google Shape;220;p28"/>
          <p:cNvSpPr txBox="1"/>
          <p:nvPr/>
        </p:nvSpPr>
        <p:spPr>
          <a:xfrm>
            <a:off x="342909" y="4828500"/>
            <a:ext cx="8435565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Médiakutatás · Adatgyűjtés II. · LLM-elemzés (kontraszt-llm_service)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H1 · Hipotézis és módszertan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Ugyanaz a szereplő — eltérő érzelmi és vizuális kezelés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342909" y="1062990"/>
            <a:ext cx="4183492" cy="157734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548655" y="1165860"/>
            <a:ext cx="38405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HIPOTÉZIS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48655" y="1405889"/>
            <a:ext cx="38406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GB" sz="12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kormányközeli és a független hírportálok jelentősen eltérő érzelmi szentimenttel és vizuális súllyal jelenítik meg ugyanazokat a politikai szereplőket.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4732146" y="1062990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MÓDSZERTAN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4756158" y="1395263"/>
            <a:ext cx="82352" cy="82575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4924181" y="1350923"/>
            <a:ext cx="3977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Adat:  </a:t>
            </a: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címsorok + LLM-alapú szentiment- és entitáselemzés + főoldali vizuális score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4756158" y="1694319"/>
            <a:ext cx="82352" cy="82575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4924181" y="1647264"/>
            <a:ext cx="3977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Portálok:  </a:t>
            </a: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kormányközeli vs. független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4756158" y="1993376"/>
            <a:ext cx="82352" cy="82575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4924181" y="1943605"/>
            <a:ext cx="3977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Fókusz entitások:  </a:t>
            </a: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Magyar Péter és Orbán Viktor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4756158" y="2292433"/>
            <a:ext cx="82352" cy="82575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4924181" y="2239946"/>
            <a:ext cx="3977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Normalizálás:  </a:t>
            </a: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portálonkénti min–max skálázás (0–1)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4756158" y="2591489"/>
            <a:ext cx="82352" cy="82575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4903612" y="2536287"/>
            <a:ext cx="3977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Statisztika:  </a:t>
            </a:r>
            <a:r>
              <a:rPr b="0" i="0" lang="en-GB" sz="9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Mann–Whitney U + rank-biszeriális hatásméret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342909" y="2846070"/>
            <a:ext cx="2743273" cy="85725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480073" y="2914650"/>
            <a:ext cx="24689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EREDMÉNY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480073" y="3120390"/>
            <a:ext cx="246894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480073" y="3463290"/>
            <a:ext cx="2468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teszt szignifikáns · p &lt; 0.05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3223346" y="2846070"/>
            <a:ext cx="5589374" cy="85725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3360510" y="2935224"/>
            <a:ext cx="54179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CÉL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3360510" y="3154680"/>
            <a:ext cx="541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GB" sz="12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Kimutatni, hogy ugyanazokat a politikai szereplőket eltérő hangnemben és eltérő vizuális súllyal jelenítik meg a két médiablokk portáljai.</a:t>
            </a:r>
            <a:endParaRPr i="0" sz="13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342909" y="3909060"/>
            <a:ext cx="1543091" cy="377190"/>
          </a:xfrm>
          <a:prstGeom prst="roundRect">
            <a:avLst>
              <a:gd fmla="val 30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68575" spcFirstLastPara="1" rIns="685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1. Adatgyűjtés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2009448" y="3909060"/>
            <a:ext cx="1543091" cy="377190"/>
          </a:xfrm>
          <a:prstGeom prst="roundRect">
            <a:avLst>
              <a:gd fmla="val 30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68575" spcFirstLastPara="1" rIns="685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2. LLM-elemzés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3621121" y="3909060"/>
            <a:ext cx="1543091" cy="377190"/>
          </a:xfrm>
          <a:prstGeom prst="roundRect">
            <a:avLst>
              <a:gd fmla="val 30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68575" spcFirstLastPara="1" rIns="685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3. Normalizálás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5232793" y="3909060"/>
            <a:ext cx="1543091" cy="377190"/>
          </a:xfrm>
          <a:prstGeom prst="roundRect">
            <a:avLst>
              <a:gd fmla="val 30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68575" spcFirstLastPara="1" rIns="685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4. Analízis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6844466" y="3909060"/>
            <a:ext cx="1543091" cy="377190"/>
          </a:xfrm>
          <a:prstGeom prst="roundRect">
            <a:avLst>
              <a:gd fmla="val 30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68575" spcFirstLastPara="1" rIns="685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5. Értelmezés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H1 · Hipotézis és módszertan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H1 · Eloszlások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Szentiment és vizuális prominencia portáltípusonként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2.png" id="266" name="Google Shape;2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91" y="1028700"/>
            <a:ext cx="5349383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0"/>
          <p:cNvSpPr/>
          <p:nvPr/>
        </p:nvSpPr>
        <p:spPr>
          <a:xfrm>
            <a:off x="5966618" y="1028700"/>
            <a:ext cx="2914728" cy="370332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6138073" y="1131570"/>
            <a:ext cx="267469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KULCSMEGFIGYELÉSEK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6138073" y="1440179"/>
            <a:ext cx="82298" cy="65151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6309528" y="1405889"/>
            <a:ext cx="250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Tükörszerű mintázat</a:t>
            </a:r>
            <a:endParaRPr b="1"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6309528" y="1632204"/>
            <a:ext cx="2503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kormányközeli oldalak Orbánt pozitívabban, Magyar Pétert negatívabban ábrázolják.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6138073" y="2228849"/>
            <a:ext cx="82298" cy="65151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6309528" y="2194559"/>
            <a:ext cx="250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Fordított irány</a:t>
            </a:r>
            <a:endParaRPr b="1"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6309528" y="2420874"/>
            <a:ext cx="2503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független oldalaknál ennek az ellentéte látszik.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6138073" y="3017519"/>
            <a:ext cx="82298" cy="65151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6309528" y="2983229"/>
            <a:ext cx="250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Vizuális prominencia</a:t>
            </a:r>
            <a:endParaRPr b="1"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6309528" y="3209544"/>
            <a:ext cx="2503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mindkét szereplőnél magasabb a kormányközeli portálokon.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6138073" y="4389120"/>
            <a:ext cx="171455" cy="171450"/>
          </a:xfrm>
          <a:prstGeom prst="rect">
            <a:avLst/>
          </a:prstGeom>
          <a:solidFill>
            <a:srgbClr val="C7545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6343819" y="4375404"/>
            <a:ext cx="11658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Kormányközeli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7475419" y="4389120"/>
            <a:ext cx="171455" cy="171450"/>
          </a:xfrm>
          <a:prstGeom prst="rect">
            <a:avLst/>
          </a:prstGeom>
          <a:solidFill>
            <a:srgbClr val="4A89C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7681165" y="4375404"/>
            <a:ext cx="11658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Független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H1 · Eloszlások (hegedűdiagram, n=4 107)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H1 · Átlagok és különbségek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= kormányközeli átlag − független átlag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3.png" id="292" name="Google Shape;2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9" y="1062990"/>
            <a:ext cx="5760874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/>
        </p:nvSpPr>
        <p:spPr>
          <a:xfrm>
            <a:off x="6240946" y="1062990"/>
            <a:ext cx="2640400" cy="233172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6378110" y="1165860"/>
            <a:ext cx="24346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OLVASAT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6412401" y="1474470"/>
            <a:ext cx="68582" cy="6858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6549565" y="1422806"/>
            <a:ext cx="226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Szentiment</a:t>
            </a:r>
            <a:endParaRPr b="1"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7" name="Google Shape;297;p31"/>
          <p:cNvSpPr txBox="1"/>
          <p:nvPr/>
        </p:nvSpPr>
        <p:spPr>
          <a:xfrm>
            <a:off x="6549565" y="1607973"/>
            <a:ext cx="226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ellentétes előjelű Δ-k a két szereplőnél.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6412401" y="2057400"/>
            <a:ext cx="68582" cy="6858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6549565" y="2005737"/>
            <a:ext cx="226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Vizuális prominencia</a:t>
            </a:r>
            <a:endParaRPr b="1"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6549565" y="2190903"/>
            <a:ext cx="226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mindkét szereplőnél pozitív Δ.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6412401" y="2640330"/>
            <a:ext cx="68582" cy="6858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6549565" y="2588667"/>
            <a:ext cx="226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Mintázat</a:t>
            </a:r>
            <a:endParaRPr b="1"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3" name="Google Shape;303;p31"/>
          <p:cNvSpPr txBox="1"/>
          <p:nvPr/>
        </p:nvSpPr>
        <p:spPr>
          <a:xfrm>
            <a:off x="6549565" y="2773833"/>
            <a:ext cx="226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támogatja a polarizáció hipotézisét.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342909" y="3566160"/>
            <a:ext cx="8469856" cy="116586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411491" y="3703320"/>
            <a:ext cx="1980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GB" sz="2300" u="none" cap="none" strike="noStrike">
                <a:solidFill>
                  <a:srgbClr val="4A89C5"/>
                </a:solidFill>
                <a:latin typeface="Calibri"/>
                <a:ea typeface="Calibri"/>
                <a:cs typeface="Calibri"/>
                <a:sym typeface="Calibri"/>
              </a:rPr>
              <a:t>−0.148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411491" y="4217670"/>
            <a:ext cx="19803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szentiment</a:t>
            </a:r>
            <a:b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Magyar Péter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2460373" y="3771900"/>
            <a:ext cx="7144" cy="754380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2528955" y="3703320"/>
            <a:ext cx="1980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GB" sz="23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+0.191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2528955" y="4217670"/>
            <a:ext cx="19803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szentiment</a:t>
            </a:r>
            <a:b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Orbán Viktor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4577837" y="3771900"/>
            <a:ext cx="7144" cy="754380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4646418" y="3703320"/>
            <a:ext cx="1980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GB" sz="23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+0.077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4646418" y="4217670"/>
            <a:ext cx="19803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vizuális</a:t>
            </a:r>
            <a:b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Magyar Péter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6695301" y="3771900"/>
            <a:ext cx="7144" cy="754380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6763882" y="3703320"/>
            <a:ext cx="19803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GB" sz="23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+0.089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6763882" y="4217670"/>
            <a:ext cx="19803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vizuális</a:t>
            </a:r>
            <a:b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Orbán Viktor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H1 · Átlagok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H1 · Statisztikai tesztek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Mann–Whitney U teszt és rank-biszeriális hatásméret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 txBox="1"/>
          <p:nvPr/>
        </p:nvSpPr>
        <p:spPr>
          <a:xfrm>
            <a:off x="342909" y="1028700"/>
            <a:ext cx="84357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11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Nem-paraméteres teszt, ezért jól illeszkedik a 0–1-re normalizált, ferde eloszlású adatokhoz.  </a:t>
            </a: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 &lt; 0.05</a:t>
            </a:r>
            <a:r>
              <a:rPr b="0" i="0" lang="en-GB" sz="11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: a különbség nem a véletlen műve. </a:t>
            </a:r>
            <a:br>
              <a:rPr b="0" i="0" lang="en-GB" sz="11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GB" sz="11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: a különbség gyakorlati nagysága.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7" name="Google Shape;327;p32"/>
          <p:cNvGraphicFramePr/>
          <p:nvPr/>
        </p:nvGraphicFramePr>
        <p:xfrm>
          <a:off x="342909" y="1680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{29A1324E-E767-48CC-B2B4-CB8A3D8B7874}</a:tableStyleId>
              </a:tblPr>
              <a:tblGrid>
                <a:gridCol w="1104925"/>
                <a:gridCol w="1325900"/>
                <a:gridCol w="662950"/>
                <a:gridCol w="662950"/>
                <a:gridCol w="662950"/>
                <a:gridCol w="810275"/>
                <a:gridCol w="736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Entitás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Mérőszám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Magyar Péter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Szentiment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0.288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0.436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4A89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−0.148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+0.456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Magyar Péter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Vizuális prominencia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0.784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0.707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C754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+0.077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−0.249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Orbán Viktor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Szentiment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0.557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0.366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C754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+0.191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−0.543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Orbán Viktor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Vizuális prominencia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0.774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0.685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C754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+0.089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−0.276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</a:tbl>
          </a:graphicData>
        </a:graphic>
      </p:graphicFrame>
      <p:sp>
        <p:nvSpPr>
          <p:cNvPr id="328" name="Google Shape;328;p32"/>
          <p:cNvSpPr/>
          <p:nvPr/>
        </p:nvSpPr>
        <p:spPr>
          <a:xfrm>
            <a:off x="6446692" y="1680210"/>
            <a:ext cx="2400364" cy="178308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 txBox="1"/>
          <p:nvPr/>
        </p:nvSpPr>
        <p:spPr>
          <a:xfrm>
            <a:off x="6583856" y="1783080"/>
            <a:ext cx="21946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ÖSSZEFOGLALÓ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 txBox="1"/>
          <p:nvPr/>
        </p:nvSpPr>
        <p:spPr>
          <a:xfrm>
            <a:off x="6583856" y="2023110"/>
            <a:ext cx="21946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2"/>
          <p:cNvSpPr txBox="1"/>
          <p:nvPr/>
        </p:nvSpPr>
        <p:spPr>
          <a:xfrm>
            <a:off x="6583856" y="2606040"/>
            <a:ext cx="21946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teszt szignifikáns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2"/>
          <p:cNvSpPr txBox="1"/>
          <p:nvPr/>
        </p:nvSpPr>
        <p:spPr>
          <a:xfrm>
            <a:off x="6583856" y="2914650"/>
            <a:ext cx="21946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Minden vizsgált különbség statisztikailag stabil.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342909" y="3600450"/>
            <a:ext cx="8469856" cy="96012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514364" y="370332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VERDIKT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514364" y="3943350"/>
            <a:ext cx="82298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Mind a 4 teszt szignifikáns: a különbség nem csak irányában, hanem statisztikailag is stabil.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2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H1 · Mann–Whitney U, rank-biszeriális 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3"/>
          <p:cNvSpPr txBox="1"/>
          <p:nvPr/>
        </p:nvSpPr>
        <p:spPr>
          <a:xfrm>
            <a:off x="342909" y="205740"/>
            <a:ext cx="78183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H1 Verdikt · Megerősítve</a:t>
            </a:r>
            <a:endParaRPr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A magyar online médiarendszer szisztematikusan és mérhetően polarizált.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3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342909" y="1062990"/>
            <a:ext cx="4183492" cy="20574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3"/>
          <p:cNvSpPr txBox="1"/>
          <p:nvPr/>
        </p:nvSpPr>
        <p:spPr>
          <a:xfrm>
            <a:off x="514364" y="1165860"/>
            <a:ext cx="39091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MAGYAR PÉTER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3"/>
          <p:cNvSpPr txBox="1"/>
          <p:nvPr/>
        </p:nvSpPr>
        <p:spPr>
          <a:xfrm>
            <a:off x="514364" y="1405889"/>
            <a:ext cx="3909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GB" sz="12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Negatívabb szentiment a kormányközeli oldalakon, ugyanakkor nagyobb vizuális hangsúly.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49" name="Google Shape;349;p33"/>
          <p:cNvSpPr txBox="1"/>
          <p:nvPr/>
        </p:nvSpPr>
        <p:spPr>
          <a:xfrm>
            <a:off x="514364" y="2160270"/>
            <a:ext cx="192029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4A89C5"/>
                </a:solidFill>
                <a:latin typeface="Calibri"/>
                <a:ea typeface="Calibri"/>
                <a:cs typeface="Calibri"/>
                <a:sym typeface="Calibri"/>
              </a:rPr>
              <a:t>−0.148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"/>
          <p:cNvSpPr txBox="1"/>
          <p:nvPr/>
        </p:nvSpPr>
        <p:spPr>
          <a:xfrm>
            <a:off x="514364" y="2503170"/>
            <a:ext cx="19202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szentiment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 txBox="1"/>
          <p:nvPr/>
        </p:nvSpPr>
        <p:spPr>
          <a:xfrm>
            <a:off x="2468946" y="2160270"/>
            <a:ext cx="192029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+0.077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"/>
          <p:cNvSpPr txBox="1"/>
          <p:nvPr/>
        </p:nvSpPr>
        <p:spPr>
          <a:xfrm>
            <a:off x="2468946" y="2503170"/>
            <a:ext cx="19202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vizuális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"/>
          <p:cNvSpPr txBox="1"/>
          <p:nvPr/>
        </p:nvSpPr>
        <p:spPr>
          <a:xfrm>
            <a:off x="514364" y="2777490"/>
            <a:ext cx="390916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 két ellentétes erő ugyanazon szereplőn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4629273" y="1062990"/>
            <a:ext cx="4183492" cy="20574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4800728" y="1165860"/>
            <a:ext cx="39091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ORBÁN VIKTOR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4800728" y="1405889"/>
            <a:ext cx="3909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GB" sz="12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Pozitívabb szentiment a kormányközeli oldalakon, szintén nagyobb vizuális hangsúllyal.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4800728" y="2160270"/>
            <a:ext cx="192029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+0.191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4800728" y="2503170"/>
            <a:ext cx="19202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szentiment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 txBox="1"/>
          <p:nvPr/>
        </p:nvSpPr>
        <p:spPr>
          <a:xfrm>
            <a:off x="6755310" y="2160270"/>
            <a:ext cx="192029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+0.089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3"/>
          <p:cNvSpPr txBox="1"/>
          <p:nvPr/>
        </p:nvSpPr>
        <p:spPr>
          <a:xfrm>
            <a:off x="6755310" y="2503170"/>
            <a:ext cx="19202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 vizuális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4800728" y="2777490"/>
            <a:ext cx="390916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 a médiablokk egyszerre emeli és pozitív keretbe helyezi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342909" y="3257550"/>
            <a:ext cx="8469856" cy="99441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 txBox="1"/>
          <p:nvPr/>
        </p:nvSpPr>
        <p:spPr>
          <a:xfrm>
            <a:off x="548655" y="3360420"/>
            <a:ext cx="816123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SZIMMETRIKUS MINTÁZAT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3"/>
          <p:cNvSpPr txBox="1"/>
          <p:nvPr/>
        </p:nvSpPr>
        <p:spPr>
          <a:xfrm>
            <a:off x="548655" y="3586734"/>
            <a:ext cx="816123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Ugyanaz a médiablokk egyszerre erősíti az egyik és gyengíti a másik szereplő megítélését.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 txBox="1"/>
          <p:nvPr/>
        </p:nvSpPr>
        <p:spPr>
          <a:xfrm>
            <a:off x="342909" y="4389120"/>
            <a:ext cx="8435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GB" sz="12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Kulcsüzenet: a polarizáció nem csak hangnemben, hanem vizuális kiemelésben is mérhető.</a:t>
            </a:r>
            <a:endParaRPr b="1" i="0" sz="13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66" name="Google Shape;366;p33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H1 · Verdikt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4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H2 · Vizuális hangsúly és érzelmi töltet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Hipotézis és módszertan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342909" y="1062990"/>
            <a:ext cx="4183492" cy="13716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 txBox="1"/>
          <p:nvPr/>
        </p:nvSpPr>
        <p:spPr>
          <a:xfrm>
            <a:off x="514364" y="1165860"/>
            <a:ext cx="39091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HIPOTÉZIS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514364" y="1405889"/>
            <a:ext cx="39093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GB" sz="12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negatív érzelmi töltetű szalagcímek átlagosan magasabb fontossági pontszámot kapnak, mint a semleges hírek.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79" name="Google Shape;379;p34"/>
          <p:cNvSpPr txBox="1"/>
          <p:nvPr/>
        </p:nvSpPr>
        <p:spPr>
          <a:xfrm>
            <a:off x="4732146" y="1062990"/>
            <a:ext cx="4114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HÁROM LÉPCSŐS VIZSGÁLAT</a:t>
            </a:r>
            <a:endParaRPr b="1"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4732146" y="1337310"/>
            <a:ext cx="342909" cy="34290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5177928" y="1323594"/>
            <a:ext cx="36348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Spearman-rangkorreláció</a:t>
            </a:r>
            <a:endParaRPr b="1"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5177928" y="1522475"/>
            <a:ext cx="3634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együttjár-e a szentiment és a norm_score?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4732146" y="1851660"/>
            <a:ext cx="342909" cy="34290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5177928" y="1837944"/>
            <a:ext cx="36348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Mann–Whitney U</a:t>
            </a:r>
            <a:endParaRPr b="1"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5177928" y="2036826"/>
            <a:ext cx="3634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Negatív / Semleges / Pozitív sávok összevetése.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4732146" y="2366010"/>
            <a:ext cx="342909" cy="342900"/>
          </a:xfrm>
          <a:prstGeom prst="ellipse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5177928" y="2352294"/>
            <a:ext cx="36348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OLS regresszió interakcióval</a:t>
            </a:r>
            <a:endParaRPr b="1"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5177928" y="2551176"/>
            <a:ext cx="3634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norm_score ~ sentiment × gov.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342909" y="2640330"/>
            <a:ext cx="4183492" cy="150876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514364" y="2743200"/>
            <a:ext cx="39091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ELŐZETES JELZÉS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4"/>
          <p:cNvSpPr txBox="1"/>
          <p:nvPr/>
        </p:nvSpPr>
        <p:spPr>
          <a:xfrm>
            <a:off x="514364" y="2983229"/>
            <a:ext cx="390916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GB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ρ = −0.100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514364" y="3600450"/>
            <a:ext cx="390916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p &lt; 0.001 · Spearman (teljes minta)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514364" y="3840480"/>
            <a:ext cx="3909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10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Negatívabb címek → nagyobb vizuális hangsúly.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4732146" y="2948940"/>
            <a:ext cx="4114910" cy="120015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4"/>
          <p:cNvSpPr txBox="1"/>
          <p:nvPr/>
        </p:nvSpPr>
        <p:spPr>
          <a:xfrm>
            <a:off x="4903601" y="3051810"/>
            <a:ext cx="377200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MIT VIZSGÁL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 txBox="1"/>
          <p:nvPr/>
        </p:nvSpPr>
        <p:spPr>
          <a:xfrm>
            <a:off x="4903601" y="3291840"/>
            <a:ext cx="37719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-GB" sz="11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Összejár-e a szalagcím érzelmi töltete és a főoldali kiemelés mértéke — és ez a két médiablokkban másként működik-e.</a:t>
            </a:r>
            <a:endParaRPr i="0" sz="13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97" name="Google Shape;397;p34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H2 · Hipotézis és módszertan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5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H2 · Mintaeloszlás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Szentiment-sávok megoszlása portáltípusonként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7.png" id="407" name="Google Shape;4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9" y="1062990"/>
            <a:ext cx="548640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/>
          <p:nvPr/>
        </p:nvSpPr>
        <p:spPr>
          <a:xfrm>
            <a:off x="5966618" y="1062990"/>
            <a:ext cx="2914728" cy="288036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6138073" y="1165860"/>
            <a:ext cx="267469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OLVASAT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6138073" y="1440179"/>
            <a:ext cx="82298" cy="6172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6309528" y="1522364"/>
            <a:ext cx="25032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Mindkét oldal negatív-dominált</a:t>
            </a:r>
            <a:endParaRPr b="1"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6309528" y="1755536"/>
            <a:ext cx="250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minta nem kiegyensúlyozott.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6138073" y="2228849"/>
            <a:ext cx="82298" cy="61722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6309528" y="2311034"/>
            <a:ext cx="25032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Ezért sávokon belül tesztelünk</a:t>
            </a:r>
            <a:endParaRPr b="1"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6309528" y="2544206"/>
            <a:ext cx="250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hogy a kiegyensúlyozatlanság ne torzítson.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342909" y="4149090"/>
            <a:ext cx="2720412" cy="6858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480073" y="4231386"/>
            <a:ext cx="248037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NEGATÍV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480073" y="4423410"/>
            <a:ext cx="24803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 = 12 720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3166194" y="4149090"/>
            <a:ext cx="2720412" cy="6858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5"/>
          <p:cNvSpPr txBox="1"/>
          <p:nvPr/>
        </p:nvSpPr>
        <p:spPr>
          <a:xfrm>
            <a:off x="3303358" y="4231386"/>
            <a:ext cx="248037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SEMLEGES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5"/>
          <p:cNvSpPr txBox="1"/>
          <p:nvPr/>
        </p:nvSpPr>
        <p:spPr>
          <a:xfrm>
            <a:off x="3303358" y="4423410"/>
            <a:ext cx="24803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 = 10 252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5989479" y="4149090"/>
            <a:ext cx="2720412" cy="6858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 txBox="1"/>
          <p:nvPr/>
        </p:nvSpPr>
        <p:spPr>
          <a:xfrm>
            <a:off x="6126643" y="4231386"/>
            <a:ext cx="248037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POZITÍV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5"/>
          <p:cNvSpPr txBox="1"/>
          <p:nvPr/>
        </p:nvSpPr>
        <p:spPr>
          <a:xfrm>
            <a:off x="6126643" y="4423410"/>
            <a:ext cx="24803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 = 6 714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5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H2 · Mintaeloszlás (n = 29 686)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6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6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H2 · Spearman-rangkorreláció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Negatívabb cím → nagyobb vizuális hangsúly?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8.png" id="435" name="Google Shape;4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9" y="1062990"/>
            <a:ext cx="5349383" cy="29489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6" name="Google Shape;436;p36"/>
          <p:cNvGraphicFramePr/>
          <p:nvPr/>
        </p:nvGraphicFramePr>
        <p:xfrm>
          <a:off x="5863746" y="113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{29A1324E-E767-48CC-B2B4-CB8A3D8B7874}</a:tableStyleId>
              </a:tblPr>
              <a:tblGrid>
                <a:gridCol w="844925"/>
                <a:gridCol w="543150"/>
                <a:gridCol w="422450"/>
                <a:gridCol w="482800"/>
                <a:gridCol w="7242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Csoport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ρ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Erősség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Összes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29 686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−0.100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elhanyagolható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Kormányközeli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17 648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−0.085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elhanyagolható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Független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12 038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−0.114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gyenge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7" name="Google Shape;437;p36"/>
          <p:cNvSpPr/>
          <p:nvPr/>
        </p:nvSpPr>
        <p:spPr>
          <a:xfrm>
            <a:off x="5863746" y="2640330"/>
            <a:ext cx="3017600" cy="13716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 txBox="1"/>
          <p:nvPr/>
        </p:nvSpPr>
        <p:spPr>
          <a:xfrm>
            <a:off x="6035201" y="2743200"/>
            <a:ext cx="27432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ÉRTELMEZÉS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6035201" y="2983229"/>
            <a:ext cx="2743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Mindkét portáltípusnál lefelé lejt a trendvonal. A kapcsolat gyenge, de konzisztensen negatív és szignifikáns.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342909" y="4149090"/>
            <a:ext cx="2720412" cy="6858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342909" y="4149090"/>
            <a:ext cx="2720412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6"/>
          <p:cNvSpPr txBox="1"/>
          <p:nvPr/>
        </p:nvSpPr>
        <p:spPr>
          <a:xfrm>
            <a:off x="480073" y="4272534"/>
            <a:ext cx="24803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ρ = −0.100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6"/>
          <p:cNvSpPr txBox="1"/>
          <p:nvPr/>
        </p:nvSpPr>
        <p:spPr>
          <a:xfrm>
            <a:off x="480073" y="4594860"/>
            <a:ext cx="24803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Összes (n=29 686)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6"/>
          <p:cNvSpPr/>
          <p:nvPr/>
        </p:nvSpPr>
        <p:spPr>
          <a:xfrm>
            <a:off x="3166194" y="4149090"/>
            <a:ext cx="2720412" cy="6858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3166194" y="4149090"/>
            <a:ext cx="2720412" cy="54864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3303358" y="4272534"/>
            <a:ext cx="24803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ρ = −0.085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3303358" y="4594860"/>
            <a:ext cx="24803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Kormányközeli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5989479" y="4149090"/>
            <a:ext cx="2720412" cy="6858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5989479" y="4149090"/>
            <a:ext cx="2720412" cy="54864"/>
          </a:xfrm>
          <a:prstGeom prst="rect">
            <a:avLst/>
          </a:prstGeom>
          <a:solidFill>
            <a:srgbClr val="4A89C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6"/>
          <p:cNvSpPr txBox="1"/>
          <p:nvPr/>
        </p:nvSpPr>
        <p:spPr>
          <a:xfrm>
            <a:off x="6126643" y="4272534"/>
            <a:ext cx="24803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4A89C5"/>
                </a:solidFill>
                <a:latin typeface="Calibri"/>
                <a:ea typeface="Calibri"/>
                <a:cs typeface="Calibri"/>
                <a:sym typeface="Calibri"/>
              </a:rPr>
              <a:t>ρ = −0.114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6126643" y="4594860"/>
            <a:ext cx="24803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Független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6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H2 · Spearman-korreláció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7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7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7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H2 · Mann–Whitney U sávpárokra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460" name="Google Shape;460;p37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A negatív, semleges és pozitív sávok vizuális score-eloszlása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9.png" id="462" name="Google Shape;46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104900"/>
            <a:ext cx="4457825" cy="1728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3" name="Google Shape;463;p37"/>
          <p:cNvGraphicFramePr/>
          <p:nvPr/>
        </p:nvGraphicFramePr>
        <p:xfrm>
          <a:off x="4869310" y="110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{29A1324E-E767-48CC-B2B4-CB8A3D8B7874}</a:tableStyleId>
              </a:tblPr>
              <a:tblGrid>
                <a:gridCol w="964450"/>
                <a:gridCol w="1127275"/>
                <a:gridCol w="480050"/>
                <a:gridCol w="480050"/>
                <a:gridCol w="514350"/>
                <a:gridCol w="445750"/>
              </a:tblGrid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Csoport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Összehasonlítás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n₁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n₂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Összes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Negatív vs. Semleges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12 720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10 252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−0.058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Összes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Negatív vs. Pozitív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12 720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6 714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−0.137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Összes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Semleges vs. Pozitív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10 252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6 714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−0.074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Kormányközeli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Negatív vs. Semleges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7 914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5 521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0.0018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−0.029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Kormányközeli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Negatív vs. Pozitív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7 914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4 213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−0.120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Kormányközeli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Semleges vs. Pozitív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5 521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4 213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−0.093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Független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Negatív vs. Semleges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4 806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4 731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−0.052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Független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Negatív vs. Pozitív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4 806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2 501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−0.173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  <a:tr h="26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Független</a:t>
                      </a:r>
                      <a:endParaRPr b="1" sz="13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Semleges vs. Pozitív</a:t>
                      </a:r>
                      <a:endParaRPr sz="12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4 731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2 501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−0.111</a:t>
                      </a:r>
                      <a:endParaRPr sz="12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4" name="Google Shape;464;p37"/>
          <p:cNvSpPr/>
          <p:nvPr/>
        </p:nvSpPr>
        <p:spPr>
          <a:xfrm>
            <a:off x="342909" y="3394710"/>
            <a:ext cx="4457819" cy="109728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 txBox="1"/>
          <p:nvPr/>
        </p:nvSpPr>
        <p:spPr>
          <a:xfrm>
            <a:off x="514364" y="3497580"/>
            <a:ext cx="41149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ÉRTELMEZÉS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7"/>
          <p:cNvSpPr txBox="1"/>
          <p:nvPr/>
        </p:nvSpPr>
        <p:spPr>
          <a:xfrm>
            <a:off x="514364" y="3737610"/>
            <a:ext cx="4114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Minden sávpár-teszt szignifikáns, de a hatásméretek kicsik.  A legnagyobb távolság a Negatív és Pozitív sávok között van — különösen a független portáloknál (r = −0.173).</a:t>
            </a:r>
            <a:endParaRPr i="0" sz="13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67" name="Google Shape;467;p37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H2 · Mann–Whitney U (9 sávpár-teszt)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8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8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H2 · OLS regresszió interakcióval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475" name="Google Shape;475;p38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R² = 0.0706 · N = 29 686 · norm_score ~ sentiment × gov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10.png" id="477" name="Google Shape;4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9" y="1108940"/>
            <a:ext cx="5212081" cy="26746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8" name="Google Shape;478;p38"/>
          <p:cNvGraphicFramePr/>
          <p:nvPr/>
        </p:nvGraphicFramePr>
        <p:xfrm>
          <a:off x="5692292" y="113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{29A1324E-E767-48CC-B2B4-CB8A3D8B7874}</a:tableStyleId>
              </a:tblPr>
              <a:tblGrid>
                <a:gridCol w="1440225"/>
                <a:gridCol w="925850"/>
                <a:gridCol w="8229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Tag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Becslés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β₀ (Intercept)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+0.674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β₁ (sentiment)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−0.105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β₂ (gov)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+0.079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β₃ (sent × gov)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+0.049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</a:tr>
            </a:tbl>
          </a:graphicData>
        </a:graphic>
      </p:graphicFrame>
      <p:sp>
        <p:nvSpPr>
          <p:cNvPr id="479" name="Google Shape;479;p38"/>
          <p:cNvSpPr/>
          <p:nvPr/>
        </p:nvSpPr>
        <p:spPr>
          <a:xfrm>
            <a:off x="5692300" y="2907266"/>
            <a:ext cx="3189000" cy="8916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5829455" y="2983229"/>
            <a:ext cx="29490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ÉRTELMEZÉS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8"/>
          <p:cNvSpPr txBox="1"/>
          <p:nvPr/>
        </p:nvSpPr>
        <p:spPr>
          <a:xfrm>
            <a:off x="5829455" y="3209544"/>
            <a:ext cx="29490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4A89C5"/>
                </a:solidFill>
                <a:latin typeface="Ubuntu"/>
                <a:ea typeface="Ubuntu"/>
                <a:cs typeface="Ubuntu"/>
                <a:sym typeface="Ubuntu"/>
              </a:rPr>
              <a:t>β₁ = −0.105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:  a független portálokon a negatívabb címek nagyobb hangsúlyt kapnak.  </a:t>
            </a:r>
            <a:r>
              <a:rPr i="0" lang="en-GB" sz="900" u="none" cap="none" strike="noStrike">
                <a:solidFill>
                  <a:srgbClr val="C75450"/>
                </a:solidFill>
                <a:latin typeface="Ubuntu"/>
                <a:ea typeface="Ubuntu"/>
                <a:cs typeface="Ubuntu"/>
                <a:sym typeface="Ubuntu"/>
              </a:rPr>
              <a:t>β₃ = +0.049</a:t>
            </a: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:  a hatás mértéke médiablokkonként eltér.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2419276" y="3905375"/>
            <a:ext cx="4097100" cy="8916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8"/>
          <p:cNvSpPr txBox="1"/>
          <p:nvPr/>
        </p:nvSpPr>
        <p:spPr>
          <a:xfrm>
            <a:off x="2488200" y="3987675"/>
            <a:ext cx="370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Ubuntu"/>
                <a:ea typeface="Ubuntu"/>
                <a:cs typeface="Ubuntu"/>
                <a:sym typeface="Ubuntu"/>
              </a:rPr>
              <a:t>EGYÜTTHATÓK · előjel és irány</a:t>
            </a:r>
            <a:endParaRPr b="1"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2488200" y="4248275"/>
            <a:ext cx="33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β₀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4080789" y="4282575"/>
            <a:ext cx="1848900" cy="102900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8"/>
          <p:cNvSpPr txBox="1"/>
          <p:nvPr/>
        </p:nvSpPr>
        <p:spPr>
          <a:xfrm>
            <a:off x="5984621" y="4248285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+0.674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8"/>
          <p:cNvSpPr txBox="1"/>
          <p:nvPr/>
        </p:nvSpPr>
        <p:spPr>
          <a:xfrm>
            <a:off x="2488200" y="4364859"/>
            <a:ext cx="33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β₁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3792746" y="4399161"/>
            <a:ext cx="288000" cy="102900"/>
          </a:xfrm>
          <a:prstGeom prst="rect">
            <a:avLst/>
          </a:prstGeom>
          <a:solidFill>
            <a:srgbClr val="4A89C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/>
          <p:cNvSpPr txBox="1"/>
          <p:nvPr/>
        </p:nvSpPr>
        <p:spPr>
          <a:xfrm>
            <a:off x="3312673" y="4364871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-0.105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8"/>
          <p:cNvSpPr txBox="1"/>
          <p:nvPr/>
        </p:nvSpPr>
        <p:spPr>
          <a:xfrm>
            <a:off x="2488200" y="4481443"/>
            <a:ext cx="33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β₂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4080789" y="4515747"/>
            <a:ext cx="216600" cy="102900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8"/>
          <p:cNvSpPr txBox="1"/>
          <p:nvPr/>
        </p:nvSpPr>
        <p:spPr>
          <a:xfrm>
            <a:off x="4352373" y="4481457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+0.079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8"/>
          <p:cNvSpPr txBox="1"/>
          <p:nvPr/>
        </p:nvSpPr>
        <p:spPr>
          <a:xfrm>
            <a:off x="2488200" y="4598027"/>
            <a:ext cx="33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β₃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8"/>
          <p:cNvSpPr/>
          <p:nvPr/>
        </p:nvSpPr>
        <p:spPr>
          <a:xfrm>
            <a:off x="4080789" y="4632333"/>
            <a:ext cx="134400" cy="102900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4270075" y="4598043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1A1D2B"/>
                </a:solidFill>
                <a:latin typeface="Calibri"/>
                <a:ea typeface="Calibri"/>
                <a:cs typeface="Calibri"/>
                <a:sym typeface="Calibri"/>
              </a:rPr>
              <a:t>+0.049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8"/>
          <p:cNvSpPr/>
          <p:nvPr/>
        </p:nvSpPr>
        <p:spPr>
          <a:xfrm>
            <a:off x="4080789" y="4234569"/>
            <a:ext cx="7200" cy="514500"/>
          </a:xfrm>
          <a:prstGeom prst="rect">
            <a:avLst/>
          </a:prstGeom>
          <a:solidFill>
            <a:srgbClr val="646B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8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H2 · OLS regresszió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9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9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H2 Verdikt · Túlnyomóan megerősítve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505" name="Google Shape;505;p39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Bizonyítékpontszám: 2 / 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342900" y="1063001"/>
            <a:ext cx="2811900" cy="274740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9"/>
          <p:cNvSpPr txBox="1"/>
          <p:nvPr/>
        </p:nvSpPr>
        <p:spPr>
          <a:xfrm>
            <a:off x="514364" y="1200150"/>
            <a:ext cx="253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BIZONYÍTÉK-PONTSZÁM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9"/>
          <p:cNvSpPr txBox="1"/>
          <p:nvPr/>
        </p:nvSpPr>
        <p:spPr>
          <a:xfrm>
            <a:off x="514364" y="1474470"/>
            <a:ext cx="25375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GB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9"/>
          <p:cNvSpPr txBox="1"/>
          <p:nvPr/>
        </p:nvSpPr>
        <p:spPr>
          <a:xfrm>
            <a:off x="514364" y="2537460"/>
            <a:ext cx="2537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EAEEF9"/>
                </a:solidFill>
                <a:latin typeface="Calibri"/>
                <a:ea typeface="Calibri"/>
                <a:cs typeface="Calibri"/>
                <a:sym typeface="Calibri"/>
              </a:rPr>
              <a:t>teszt támogatja a hipotézist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9"/>
          <p:cNvSpPr/>
          <p:nvPr/>
        </p:nvSpPr>
        <p:spPr>
          <a:xfrm>
            <a:off x="617236" y="3017520"/>
            <a:ext cx="240036" cy="24003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9"/>
          <p:cNvSpPr/>
          <p:nvPr/>
        </p:nvSpPr>
        <p:spPr>
          <a:xfrm>
            <a:off x="1371637" y="3017520"/>
            <a:ext cx="240036" cy="240030"/>
          </a:xfrm>
          <a:prstGeom prst="ellipse">
            <a:avLst/>
          </a:prstGeom>
          <a:solidFill>
            <a:srgbClr val="B03A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2126037" y="3017520"/>
            <a:ext cx="240036" cy="24003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4" name="Google Shape;514;p39"/>
          <p:cNvGraphicFramePr/>
          <p:nvPr/>
        </p:nvGraphicFramePr>
        <p:xfrm>
          <a:off x="3326219" y="1062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{29A1324E-E767-48CC-B2B4-CB8A3D8B7874}</a:tableStyleId>
              </a:tblPr>
              <a:tblGrid>
                <a:gridCol w="486125"/>
                <a:gridCol w="1527900"/>
                <a:gridCol w="2777975"/>
                <a:gridCol w="6944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Lépés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Módszer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Eredmény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H2?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Spearman (össz)</a:t>
                      </a:r>
                      <a:endParaRPr b="1" sz="11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ρ = −0.100, p &lt; 0.001</a:t>
                      </a:r>
                      <a:endParaRPr sz="11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CF7E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Mann–Whitney U</a:t>
                      </a:r>
                      <a:endParaRPr b="1" sz="11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0 / 6 H2-irányú teszt szignifikáns</a:t>
                      </a:r>
                      <a:endParaRPr sz="11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EA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AECE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OLS β₁</a:t>
                      </a:r>
                      <a:endParaRPr b="1" sz="11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rgbClr val="1A1D2B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β₁ = −0.105, p &lt; 0.001</a:t>
                      </a:r>
                      <a:endParaRPr sz="1100" u="none" cap="none" strike="noStrik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2E8B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cap="none" strike="noStrike"/>
                    </a:p>
                  </a:txBody>
                  <a:tcPr marT="27425" marB="27425" marR="54875" marL="54875" anchor="ctr">
                    <a:solidFill>
                      <a:srgbClr val="ECF7EE"/>
                    </a:solidFill>
                  </a:tcPr>
                </a:tc>
              </a:tr>
            </a:tbl>
          </a:graphicData>
        </a:graphic>
      </p:graphicFrame>
      <p:sp>
        <p:nvSpPr>
          <p:cNvPr id="515" name="Google Shape;515;p39"/>
          <p:cNvSpPr/>
          <p:nvPr/>
        </p:nvSpPr>
        <p:spPr>
          <a:xfrm>
            <a:off x="3326225" y="2880348"/>
            <a:ext cx="5486700" cy="9300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9"/>
          <p:cNvSpPr txBox="1"/>
          <p:nvPr/>
        </p:nvSpPr>
        <p:spPr>
          <a:xfrm>
            <a:off x="3497673" y="2948940"/>
            <a:ext cx="51436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OLVASAT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9"/>
          <p:cNvSpPr txBox="1"/>
          <p:nvPr/>
        </p:nvSpPr>
        <p:spPr>
          <a:xfrm>
            <a:off x="3497673" y="3154680"/>
            <a:ext cx="51435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Két módszer egyértelműen támogatja a hipotézist. A negatív címek nagyobb hangsúlyt kapnak; a sávpáros tesztek vegyesebb képet mutatnak. Az interakció szignifikáns: a hatás erőssége médiablokkonként eltér.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342909" y="3882773"/>
            <a:ext cx="8469900" cy="8916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 txBox="1"/>
          <p:nvPr/>
        </p:nvSpPr>
        <p:spPr>
          <a:xfrm>
            <a:off x="514364" y="3965069"/>
            <a:ext cx="8229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KORLÁTOK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9"/>
          <p:cNvSpPr txBox="1"/>
          <p:nvPr/>
        </p:nvSpPr>
        <p:spPr>
          <a:xfrm>
            <a:off x="514375" y="4177661"/>
            <a:ext cx="8229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1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LLM-alapú szentiment · portálonként normalizált score · korrelációs (nem oksági) értelmezés.</a:t>
            </a:r>
            <a:endParaRPr i="0" sz="11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21" name="Google Shape;521;p39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H2 · Verdikt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0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0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0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H3 · Napirend-kijelölés (agenda-setting)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529" name="Google Shape;529;p40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Két részhipotézis: szinkronitás és portálspecifikus framing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0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0"/>
          <p:cNvSpPr/>
          <p:nvPr/>
        </p:nvSpPr>
        <p:spPr>
          <a:xfrm>
            <a:off x="342909" y="1062990"/>
            <a:ext cx="4286364" cy="157734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0"/>
          <p:cNvSpPr txBox="1"/>
          <p:nvPr/>
        </p:nvSpPr>
        <p:spPr>
          <a:xfrm>
            <a:off x="514364" y="1165860"/>
            <a:ext cx="40120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HIPOTÉZIS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0"/>
          <p:cNvSpPr txBox="1"/>
          <p:nvPr/>
        </p:nvSpPr>
        <p:spPr>
          <a:xfrm>
            <a:off x="514364" y="1405889"/>
            <a:ext cx="40119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-GB" sz="12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kormányközeli portálok napi entitás-említései erősebben korrelálnak egymással, mint a függetleneké; ugyanazon entitások framingje is eltér a két blokknál.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34" name="Google Shape;534;p40"/>
          <p:cNvSpPr/>
          <p:nvPr/>
        </p:nvSpPr>
        <p:spPr>
          <a:xfrm>
            <a:off x="4800728" y="1062990"/>
            <a:ext cx="4012037" cy="740664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0"/>
          <p:cNvSpPr txBox="1"/>
          <p:nvPr/>
        </p:nvSpPr>
        <p:spPr>
          <a:xfrm>
            <a:off x="4972183" y="1131570"/>
            <a:ext cx="3703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(A)  </a:t>
            </a:r>
            <a:r>
              <a:rPr b="1" i="0" lang="en-GB" sz="9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BELSŐ NAPIREND-SZINKRONITÁS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0"/>
          <p:cNvSpPr txBox="1"/>
          <p:nvPr/>
        </p:nvSpPr>
        <p:spPr>
          <a:xfrm>
            <a:off x="4972183" y="1357884"/>
            <a:ext cx="3703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Napi entitás-említések alapján páronkénti Pearson-korreláció.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37" name="Google Shape;537;p40"/>
          <p:cNvSpPr/>
          <p:nvPr/>
        </p:nvSpPr>
        <p:spPr>
          <a:xfrm>
            <a:off x="4800728" y="1885950"/>
            <a:ext cx="4012037" cy="75438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0"/>
          <p:cNvSpPr txBox="1"/>
          <p:nvPr/>
        </p:nvSpPr>
        <p:spPr>
          <a:xfrm>
            <a:off x="4972183" y="1954530"/>
            <a:ext cx="3703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(B)  </a:t>
            </a:r>
            <a:r>
              <a:rPr b="1" i="0" lang="en-GB" sz="9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PORTÁLSPECIFIKUS DINAMIKA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0"/>
          <p:cNvSpPr txBox="1"/>
          <p:nvPr/>
        </p:nvSpPr>
        <p:spPr>
          <a:xfrm>
            <a:off x="4972183" y="2180844"/>
            <a:ext cx="37035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-GB" sz="9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Ugyanazon entitások szentiment- és vizuális különbségeinek tesztelése.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40" name="Google Shape;540;p40"/>
          <p:cNvSpPr/>
          <p:nvPr/>
        </p:nvSpPr>
        <p:spPr>
          <a:xfrm>
            <a:off x="342909" y="2811779"/>
            <a:ext cx="8469856" cy="82296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0"/>
          <p:cNvSpPr txBox="1"/>
          <p:nvPr/>
        </p:nvSpPr>
        <p:spPr>
          <a:xfrm>
            <a:off x="548655" y="2894076"/>
            <a:ext cx="809265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MINTA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0"/>
          <p:cNvSpPr txBox="1"/>
          <p:nvPr/>
        </p:nvSpPr>
        <p:spPr>
          <a:xfrm>
            <a:off x="548655" y="3120390"/>
            <a:ext cx="8092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15 olyan entitás, amely mindkét </a:t>
            </a:r>
            <a:r>
              <a:rPr b="1" lang="en-GB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portál típusban</a:t>
            </a: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megjelenik.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0"/>
          <p:cNvSpPr/>
          <p:nvPr/>
        </p:nvSpPr>
        <p:spPr>
          <a:xfrm>
            <a:off x="342909" y="3737610"/>
            <a:ext cx="8469856" cy="106299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0"/>
          <p:cNvSpPr txBox="1"/>
          <p:nvPr/>
        </p:nvSpPr>
        <p:spPr>
          <a:xfrm>
            <a:off x="514364" y="3840480"/>
            <a:ext cx="82298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MIT MÉR A H3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0"/>
          <p:cNvSpPr txBox="1"/>
          <p:nvPr/>
        </p:nvSpPr>
        <p:spPr>
          <a:xfrm>
            <a:off x="514364" y="4066794"/>
            <a:ext cx="8229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GB" sz="11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Mennyire koordinált a napi napirend, és mennyire portálspecifikus ugyanazon szereplők kezelése — azaz hol húzódik a határ a közös témaválasztás és a blokkok eltérő narratívái között.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46" name="Google Shape;546;p40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H3 · Hipotézis és módszertan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1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1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1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H3 (A) · Belső napirend-szinkronitás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554" name="Google Shape;554;p41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Páronkénti Pearson-r hőtérképek portáltípusonként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13.png" id="556" name="Google Shape;5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9" y="1028700"/>
            <a:ext cx="5760874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1"/>
          <p:cNvSpPr/>
          <p:nvPr/>
        </p:nvSpPr>
        <p:spPr>
          <a:xfrm>
            <a:off x="6172365" y="1028700"/>
            <a:ext cx="2708982" cy="82296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1"/>
          <p:cNvSpPr/>
          <p:nvPr/>
        </p:nvSpPr>
        <p:spPr>
          <a:xfrm>
            <a:off x="6172365" y="1028700"/>
            <a:ext cx="68582" cy="822960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1"/>
          <p:cNvSpPr txBox="1"/>
          <p:nvPr/>
        </p:nvSpPr>
        <p:spPr>
          <a:xfrm>
            <a:off x="6343819" y="1110996"/>
            <a:ext cx="24689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KORMÁNYKÖZELI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1"/>
          <p:cNvSpPr txBox="1"/>
          <p:nvPr/>
        </p:nvSpPr>
        <p:spPr>
          <a:xfrm>
            <a:off x="6343819" y="1316736"/>
            <a:ext cx="24689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átlag r = 0.686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1"/>
          <p:cNvSpPr txBox="1"/>
          <p:nvPr/>
        </p:nvSpPr>
        <p:spPr>
          <a:xfrm>
            <a:off x="6343819" y="1659636"/>
            <a:ext cx="2468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szórás ±0.188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1"/>
          <p:cNvSpPr/>
          <p:nvPr/>
        </p:nvSpPr>
        <p:spPr>
          <a:xfrm>
            <a:off x="6172365" y="1954530"/>
            <a:ext cx="2708982" cy="82296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1"/>
          <p:cNvSpPr/>
          <p:nvPr/>
        </p:nvSpPr>
        <p:spPr>
          <a:xfrm>
            <a:off x="6172365" y="1954530"/>
            <a:ext cx="68582" cy="822960"/>
          </a:xfrm>
          <a:prstGeom prst="rect">
            <a:avLst/>
          </a:prstGeom>
          <a:solidFill>
            <a:srgbClr val="4A89C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1"/>
          <p:cNvSpPr txBox="1"/>
          <p:nvPr/>
        </p:nvSpPr>
        <p:spPr>
          <a:xfrm>
            <a:off x="6343819" y="2036826"/>
            <a:ext cx="24689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4A89C5"/>
                </a:solidFill>
                <a:latin typeface="Calibri"/>
                <a:ea typeface="Calibri"/>
                <a:cs typeface="Calibri"/>
                <a:sym typeface="Calibri"/>
              </a:rPr>
              <a:t>FÜGGETLEN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1"/>
          <p:cNvSpPr txBox="1"/>
          <p:nvPr/>
        </p:nvSpPr>
        <p:spPr>
          <a:xfrm>
            <a:off x="6343819" y="2242566"/>
            <a:ext cx="24689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átlag r = 0.548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1"/>
          <p:cNvSpPr txBox="1"/>
          <p:nvPr/>
        </p:nvSpPr>
        <p:spPr>
          <a:xfrm>
            <a:off x="6343819" y="2585466"/>
            <a:ext cx="24689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szórás ±0.218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1"/>
          <p:cNvSpPr/>
          <p:nvPr/>
        </p:nvSpPr>
        <p:spPr>
          <a:xfrm>
            <a:off x="6172365" y="2880360"/>
            <a:ext cx="2708982" cy="75438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1"/>
          <p:cNvSpPr txBox="1"/>
          <p:nvPr/>
        </p:nvSpPr>
        <p:spPr>
          <a:xfrm>
            <a:off x="6343819" y="2948940"/>
            <a:ext cx="24689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KÜLÖNBSÉG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1"/>
          <p:cNvSpPr txBox="1"/>
          <p:nvPr/>
        </p:nvSpPr>
        <p:spPr>
          <a:xfrm>
            <a:off x="6343819" y="3154680"/>
            <a:ext cx="24689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Δr = +0.137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1"/>
          <p:cNvSpPr/>
          <p:nvPr/>
        </p:nvSpPr>
        <p:spPr>
          <a:xfrm>
            <a:off x="342909" y="3771900"/>
            <a:ext cx="8469856" cy="89154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1"/>
          <p:cNvSpPr txBox="1"/>
          <p:nvPr/>
        </p:nvSpPr>
        <p:spPr>
          <a:xfrm>
            <a:off x="514364" y="3840480"/>
            <a:ext cx="82298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OLVASAT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1"/>
          <p:cNvSpPr txBox="1"/>
          <p:nvPr/>
        </p:nvSpPr>
        <p:spPr>
          <a:xfrm>
            <a:off x="514364" y="4066794"/>
            <a:ext cx="82299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GB" sz="11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kormányközeli blokk átlagos páronkénti korrelációja magasabb és egységesebb — ez koordináltabb napirend-követésre utal.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73" name="Google Shape;573;p41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H3 (A) · Páronkénti Pearson-r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2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2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H3 (B) · Portálspecifikus dinamika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581" name="Google Shape;581;p42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Ugyanazon entitások eltérő kezelése a két médiablokkban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2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s14.png" id="583" name="Google Shape;5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9" y="1028700"/>
            <a:ext cx="5898037" cy="267462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6309528" y="1028700"/>
            <a:ext cx="2571819" cy="123444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2"/>
          <p:cNvSpPr/>
          <p:nvPr/>
        </p:nvSpPr>
        <p:spPr>
          <a:xfrm>
            <a:off x="6309528" y="1028700"/>
            <a:ext cx="82298" cy="1234440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2"/>
          <p:cNvSpPr txBox="1"/>
          <p:nvPr/>
        </p:nvSpPr>
        <p:spPr>
          <a:xfrm>
            <a:off x="6480983" y="1097280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SZENTIMENT-ELTÉRÉS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2"/>
          <p:cNvSpPr txBox="1"/>
          <p:nvPr/>
        </p:nvSpPr>
        <p:spPr>
          <a:xfrm>
            <a:off x="6480983" y="1337310"/>
            <a:ext cx="233178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GB" sz="3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2"/>
          <p:cNvSpPr txBox="1"/>
          <p:nvPr/>
        </p:nvSpPr>
        <p:spPr>
          <a:xfrm>
            <a:off x="6480983" y="1988820"/>
            <a:ext cx="23317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entitásnál szignifikáns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2"/>
          <p:cNvSpPr/>
          <p:nvPr/>
        </p:nvSpPr>
        <p:spPr>
          <a:xfrm>
            <a:off x="6309528" y="2366010"/>
            <a:ext cx="2571819" cy="123444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2"/>
          <p:cNvSpPr/>
          <p:nvPr/>
        </p:nvSpPr>
        <p:spPr>
          <a:xfrm>
            <a:off x="6309528" y="2366010"/>
            <a:ext cx="82298" cy="1234440"/>
          </a:xfrm>
          <a:prstGeom prst="rect">
            <a:avLst/>
          </a:prstGeom>
          <a:solidFill>
            <a:srgbClr val="4A89C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2"/>
          <p:cNvSpPr txBox="1"/>
          <p:nvPr/>
        </p:nvSpPr>
        <p:spPr>
          <a:xfrm>
            <a:off x="6480983" y="2434590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4A89C5"/>
                </a:solidFill>
                <a:latin typeface="Calibri"/>
                <a:ea typeface="Calibri"/>
                <a:cs typeface="Calibri"/>
                <a:sym typeface="Calibri"/>
              </a:rPr>
              <a:t>VIZUÁLIS ELTÉRÉS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6480983" y="2674620"/>
            <a:ext cx="233178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GB" sz="3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2"/>
          <p:cNvSpPr txBox="1"/>
          <p:nvPr/>
        </p:nvSpPr>
        <p:spPr>
          <a:xfrm>
            <a:off x="6480983" y="3326130"/>
            <a:ext cx="23317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entitásnál szignifikáns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2"/>
          <p:cNvSpPr/>
          <p:nvPr/>
        </p:nvSpPr>
        <p:spPr>
          <a:xfrm>
            <a:off x="342909" y="3806190"/>
            <a:ext cx="8469856" cy="89154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2"/>
          <p:cNvSpPr txBox="1"/>
          <p:nvPr/>
        </p:nvSpPr>
        <p:spPr>
          <a:xfrm>
            <a:off x="514364" y="3874770"/>
            <a:ext cx="82298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OLVASAT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2"/>
          <p:cNvSpPr txBox="1"/>
          <p:nvPr/>
        </p:nvSpPr>
        <p:spPr>
          <a:xfrm>
            <a:off x="514364" y="4101084"/>
            <a:ext cx="82299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GB" sz="11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★ jelöli a szignifikáns eltérést. A legtöbb top entitásnál a framing nem csak témában, hanem hangsúlyban is különbözik.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97" name="Google Shape;597;p42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H3 (B) · Mann–Whitney U, p &lt; 0.05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3"/>
          <p:cNvSpPr/>
          <p:nvPr/>
        </p:nvSpPr>
        <p:spPr>
          <a:xfrm>
            <a:off x="0" y="0"/>
            <a:ext cx="123447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8264110" y="274320"/>
            <a:ext cx="651527" cy="30861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3"/>
          <p:cNvSpPr txBox="1"/>
          <p:nvPr/>
        </p:nvSpPr>
        <p:spPr>
          <a:xfrm>
            <a:off x="342909" y="205740"/>
            <a:ext cx="7818283" cy="32782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1E2761"/>
                </a:solidFill>
                <a:latin typeface="Lora SemiBold"/>
                <a:ea typeface="Lora SemiBold"/>
                <a:cs typeface="Lora SemiBold"/>
                <a:sym typeface="Lora SemiBold"/>
              </a:rPr>
              <a:t>H3 Verdikt · Összességében támogatott</a:t>
            </a:r>
            <a:endParaRPr b="0" i="0" sz="1100" u="none" cap="none" strike="noStrike">
              <a:solidFill>
                <a:srgbClr val="000000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605" name="Google Shape;605;p43"/>
          <p:cNvSpPr txBox="1"/>
          <p:nvPr/>
        </p:nvSpPr>
        <p:spPr>
          <a:xfrm>
            <a:off x="356626" y="630936"/>
            <a:ext cx="7818328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A napirend és a framing is blokklogikát követ.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3"/>
          <p:cNvSpPr/>
          <p:nvPr/>
        </p:nvSpPr>
        <p:spPr>
          <a:xfrm>
            <a:off x="342909" y="905256"/>
            <a:ext cx="8435565" cy="7144"/>
          </a:xfrm>
          <a:prstGeom prst="rect">
            <a:avLst/>
          </a:prstGeom>
          <a:solidFill>
            <a:srgbClr val="D6DB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3"/>
          <p:cNvSpPr/>
          <p:nvPr/>
        </p:nvSpPr>
        <p:spPr>
          <a:xfrm>
            <a:off x="342909" y="1062990"/>
            <a:ext cx="2754703" cy="20574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3"/>
          <p:cNvSpPr/>
          <p:nvPr/>
        </p:nvSpPr>
        <p:spPr>
          <a:xfrm>
            <a:off x="342909" y="1062990"/>
            <a:ext cx="2754703" cy="68580"/>
          </a:xfrm>
          <a:prstGeom prst="rect">
            <a:avLst/>
          </a:prstGeom>
          <a:solidFill>
            <a:srgbClr val="C754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3"/>
          <p:cNvSpPr txBox="1"/>
          <p:nvPr/>
        </p:nvSpPr>
        <p:spPr>
          <a:xfrm>
            <a:off x="514364" y="1200150"/>
            <a:ext cx="241179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(A)  </a:t>
            </a:r>
            <a:r>
              <a:rPr b="1" i="0" lang="en-GB" sz="800" u="none" cap="none" strike="noStrike">
                <a:solidFill>
                  <a:srgbClr val="C75450"/>
                </a:solidFill>
                <a:latin typeface="Calibri"/>
                <a:ea typeface="Calibri"/>
                <a:cs typeface="Calibri"/>
                <a:sym typeface="Calibri"/>
              </a:rPr>
              <a:t>BELSŐ SZINKRONITÁS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3"/>
          <p:cNvSpPr txBox="1"/>
          <p:nvPr/>
        </p:nvSpPr>
        <p:spPr>
          <a:xfrm>
            <a:off x="514364" y="1543050"/>
            <a:ext cx="24117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GB" sz="3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+0.137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3"/>
          <p:cNvSpPr txBox="1"/>
          <p:nvPr/>
        </p:nvSpPr>
        <p:spPr>
          <a:xfrm>
            <a:off x="514364" y="2125980"/>
            <a:ext cx="241179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Δr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3"/>
          <p:cNvSpPr txBox="1"/>
          <p:nvPr/>
        </p:nvSpPr>
        <p:spPr>
          <a:xfrm>
            <a:off x="514364" y="2366010"/>
            <a:ext cx="2411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kormányközeli blokk átlagos páronkénti korrelációja magasabb és egységesebb (0.686 vs. 0.548).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13" name="Google Shape;613;p43"/>
          <p:cNvSpPr/>
          <p:nvPr/>
        </p:nvSpPr>
        <p:spPr>
          <a:xfrm>
            <a:off x="3166194" y="1062990"/>
            <a:ext cx="2754703" cy="20574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3"/>
          <p:cNvSpPr/>
          <p:nvPr/>
        </p:nvSpPr>
        <p:spPr>
          <a:xfrm>
            <a:off x="3166194" y="1062990"/>
            <a:ext cx="2754703" cy="68580"/>
          </a:xfrm>
          <a:prstGeom prst="rect">
            <a:avLst/>
          </a:prstGeom>
          <a:solidFill>
            <a:srgbClr val="4A89C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3"/>
          <p:cNvSpPr txBox="1"/>
          <p:nvPr/>
        </p:nvSpPr>
        <p:spPr>
          <a:xfrm>
            <a:off x="3337649" y="1200150"/>
            <a:ext cx="241179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(B)  </a:t>
            </a:r>
            <a:r>
              <a:rPr b="1" i="0" lang="en-GB" sz="800" u="none" cap="none" strike="noStrike">
                <a:solidFill>
                  <a:srgbClr val="4A89C5"/>
                </a:solidFill>
                <a:latin typeface="Calibri"/>
                <a:ea typeface="Calibri"/>
                <a:cs typeface="Calibri"/>
                <a:sym typeface="Calibri"/>
              </a:rPr>
              <a:t>SZENTIMENT-ELTÉRÉS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3"/>
          <p:cNvSpPr txBox="1"/>
          <p:nvPr/>
        </p:nvSpPr>
        <p:spPr>
          <a:xfrm>
            <a:off x="3337649" y="1543050"/>
            <a:ext cx="24117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GB" sz="3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3"/>
          <p:cNvSpPr txBox="1"/>
          <p:nvPr/>
        </p:nvSpPr>
        <p:spPr>
          <a:xfrm>
            <a:off x="3337649" y="2125980"/>
            <a:ext cx="241179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entitás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3"/>
          <p:cNvSpPr txBox="1"/>
          <p:nvPr/>
        </p:nvSpPr>
        <p:spPr>
          <a:xfrm>
            <a:off x="3337649" y="2366010"/>
            <a:ext cx="2411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top entitások többségénél szignifikánsan eltér a hangnem a két blokk között.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19" name="Google Shape;619;p43"/>
          <p:cNvSpPr/>
          <p:nvPr/>
        </p:nvSpPr>
        <p:spPr>
          <a:xfrm>
            <a:off x="5989479" y="1062990"/>
            <a:ext cx="2754703" cy="205740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3"/>
          <p:cNvSpPr/>
          <p:nvPr/>
        </p:nvSpPr>
        <p:spPr>
          <a:xfrm>
            <a:off x="5989479" y="1062990"/>
            <a:ext cx="2754703" cy="685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3"/>
          <p:cNvSpPr txBox="1"/>
          <p:nvPr/>
        </p:nvSpPr>
        <p:spPr>
          <a:xfrm>
            <a:off x="6160933" y="1200150"/>
            <a:ext cx="241179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(B)  </a:t>
            </a: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VIZUÁLIS ELTÉRÉS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3"/>
          <p:cNvSpPr txBox="1"/>
          <p:nvPr/>
        </p:nvSpPr>
        <p:spPr>
          <a:xfrm>
            <a:off x="6160933" y="1543050"/>
            <a:ext cx="241179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GB" sz="3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3"/>
          <p:cNvSpPr txBox="1"/>
          <p:nvPr/>
        </p:nvSpPr>
        <p:spPr>
          <a:xfrm>
            <a:off x="6160933" y="2125980"/>
            <a:ext cx="241179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entitás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3"/>
          <p:cNvSpPr txBox="1"/>
          <p:nvPr/>
        </p:nvSpPr>
        <p:spPr>
          <a:xfrm>
            <a:off x="6160933" y="2366010"/>
            <a:ext cx="2411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top entitások szinte mindegyikénél eltér a főoldali hangsúly is.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25" name="Google Shape;625;p43"/>
          <p:cNvSpPr/>
          <p:nvPr/>
        </p:nvSpPr>
        <p:spPr>
          <a:xfrm>
            <a:off x="342909" y="3257550"/>
            <a:ext cx="8469856" cy="925830"/>
          </a:xfrm>
          <a:prstGeom prst="roundRect">
            <a:avLst>
              <a:gd fmla="val 5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3"/>
          <p:cNvSpPr txBox="1"/>
          <p:nvPr/>
        </p:nvSpPr>
        <p:spPr>
          <a:xfrm>
            <a:off x="548655" y="3346704"/>
            <a:ext cx="809265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ÖSSZESÍTETT KÖVETKEZTETÉS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3"/>
          <p:cNvSpPr txBox="1"/>
          <p:nvPr/>
        </p:nvSpPr>
        <p:spPr>
          <a:xfrm>
            <a:off x="548655" y="3566160"/>
            <a:ext cx="809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napirend és a framing is </a:t>
            </a:r>
            <a:r>
              <a:rPr b="1" lang="en-GB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blokk logikát</a:t>
            </a: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követ — a kormányközeli portálok koordináltabbak, a közös entitások kezelése portálspecifikus.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3"/>
          <p:cNvSpPr/>
          <p:nvPr/>
        </p:nvSpPr>
        <p:spPr>
          <a:xfrm>
            <a:off x="342909" y="4286250"/>
            <a:ext cx="8469856" cy="582930"/>
          </a:xfrm>
          <a:prstGeom prst="roundRect">
            <a:avLst>
              <a:gd fmla="val 5000" name="adj"/>
            </a:avLst>
          </a:prstGeom>
          <a:solidFill>
            <a:srgbClr val="EAEEF9"/>
          </a:solidFill>
          <a:ln cap="flat" cmpd="sng" w="9525">
            <a:solidFill>
              <a:srgbClr val="D6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3"/>
          <p:cNvSpPr txBox="1"/>
          <p:nvPr/>
        </p:nvSpPr>
        <p:spPr>
          <a:xfrm>
            <a:off x="514364" y="4354830"/>
            <a:ext cx="1028727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KORLÁTOK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3"/>
          <p:cNvSpPr txBox="1"/>
          <p:nvPr/>
        </p:nvSpPr>
        <p:spPr>
          <a:xfrm>
            <a:off x="1508800" y="4469704"/>
            <a:ext cx="72012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en-GB" sz="1000" u="none" cap="none" strike="noStrike">
                <a:solidFill>
                  <a:srgbClr val="1A1D2B"/>
                </a:solidFill>
                <a:latin typeface="Ubuntu"/>
                <a:ea typeface="Ubuntu"/>
                <a:cs typeface="Ubuntu"/>
                <a:sym typeface="Ubuntu"/>
              </a:rPr>
              <a:t>A Δr-különbség heurisztikus; a sok teszt miatt többszörös összehasonlítási korrekció is indokolt lehet.</a:t>
            </a:r>
            <a:endParaRPr i="0" sz="1200" u="none" cap="none" strike="noStrike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31" name="Google Shape;631;p43"/>
          <p:cNvSpPr txBox="1"/>
          <p:nvPr/>
        </p:nvSpPr>
        <p:spPr>
          <a:xfrm>
            <a:off x="342909" y="4903470"/>
            <a:ext cx="8435565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GB" sz="700" u="none" cap="none" strike="noStrike">
                <a:solidFill>
                  <a:srgbClr val="646B7E"/>
                </a:solidFill>
                <a:latin typeface="Calibri"/>
                <a:ea typeface="Calibri"/>
                <a:cs typeface="Calibri"/>
                <a:sym typeface="Calibri"/>
              </a:rPr>
              <a:t>Médiapolarizáció · H3 · Verdikt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